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jpg" ContentType="image/jp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Default Extension="png" ContentType="image/png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</p:sldIdLst>
  <p:sldSz cx="12192000" cy="6858000"/>
  <p:notesSz cx="12192000" cy="6858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700" b="1" i="0" u="heavy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Times New Roman"/>
                <a:cs typeface="Times New Roman"/>
              </a:defRPr>
            </a:lvl1pPr>
          </a:lstStyle>
          <a:p>
            <a:pPr marL="50800">
              <a:lnSpc>
                <a:spcPts val="1410"/>
              </a:lnSpc>
            </a:pPr>
            <a:r>
              <a:rPr dirty="0"/>
              <a:t>Batch</a:t>
            </a:r>
            <a:r>
              <a:rPr dirty="0" spc="-15"/>
              <a:t> </a:t>
            </a:r>
            <a:r>
              <a:rPr dirty="0"/>
              <a:t>No.</a:t>
            </a:r>
            <a:r>
              <a:rPr dirty="0" spc="-15"/>
              <a:t> </a:t>
            </a:r>
            <a:r>
              <a:rPr dirty="0" spc="-25"/>
              <a:t>DB4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Times New Roman"/>
                <a:cs typeface="Times New Roman"/>
              </a:defRPr>
            </a:lvl1pPr>
          </a:lstStyle>
          <a:p>
            <a:pPr marL="98425">
              <a:lnSpc>
                <a:spcPts val="1410"/>
              </a:lnSpc>
            </a:pPr>
            <a:r>
              <a:rPr dirty="0" spc="-10"/>
              <a:t>Department</a:t>
            </a:r>
            <a:r>
              <a:rPr dirty="0" spc="-15"/>
              <a:t> </a:t>
            </a:r>
            <a:r>
              <a:rPr dirty="0"/>
              <a:t>of</a:t>
            </a:r>
            <a:r>
              <a:rPr dirty="0" spc="-5"/>
              <a:t> </a:t>
            </a:r>
            <a:r>
              <a:rPr dirty="0" spc="-25"/>
              <a:t>CSE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Times New Roman"/>
                <a:cs typeface="Times New Roman"/>
              </a:defRPr>
            </a:lvl1pPr>
          </a:lstStyle>
          <a:p>
            <a:pPr marL="116205">
              <a:lnSpc>
                <a:spcPts val="1410"/>
              </a:lnSpc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700" b="1" i="0" u="heavy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Times New Roman"/>
                <a:cs typeface="Times New Roman"/>
              </a:defRPr>
            </a:lvl1pPr>
          </a:lstStyle>
          <a:p>
            <a:pPr marL="50800">
              <a:lnSpc>
                <a:spcPts val="1410"/>
              </a:lnSpc>
            </a:pPr>
            <a:r>
              <a:rPr dirty="0"/>
              <a:t>Batch</a:t>
            </a:r>
            <a:r>
              <a:rPr dirty="0" spc="-15"/>
              <a:t> </a:t>
            </a:r>
            <a:r>
              <a:rPr dirty="0"/>
              <a:t>No.</a:t>
            </a:r>
            <a:r>
              <a:rPr dirty="0" spc="-15"/>
              <a:t> </a:t>
            </a:r>
            <a:r>
              <a:rPr dirty="0" spc="-25"/>
              <a:t>DB4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Times New Roman"/>
                <a:cs typeface="Times New Roman"/>
              </a:defRPr>
            </a:lvl1pPr>
          </a:lstStyle>
          <a:p>
            <a:pPr marL="98425">
              <a:lnSpc>
                <a:spcPts val="1410"/>
              </a:lnSpc>
            </a:pPr>
            <a:r>
              <a:rPr dirty="0" spc="-10"/>
              <a:t>Department</a:t>
            </a:r>
            <a:r>
              <a:rPr dirty="0" spc="-15"/>
              <a:t> </a:t>
            </a:r>
            <a:r>
              <a:rPr dirty="0"/>
              <a:t>of</a:t>
            </a:r>
            <a:r>
              <a:rPr dirty="0" spc="-5"/>
              <a:t> </a:t>
            </a:r>
            <a:r>
              <a:rPr dirty="0" spc="-25"/>
              <a:t>CSE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Times New Roman"/>
                <a:cs typeface="Times New Roman"/>
              </a:defRPr>
            </a:lvl1pPr>
          </a:lstStyle>
          <a:p>
            <a:pPr marL="116205">
              <a:lnSpc>
                <a:spcPts val="1410"/>
              </a:lnSpc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Times New Roman"/>
                <a:cs typeface="Times New Roman"/>
              </a:defRPr>
            </a:lvl1pPr>
          </a:lstStyle>
          <a:p>
            <a:pPr marL="50800">
              <a:lnSpc>
                <a:spcPts val="1410"/>
              </a:lnSpc>
            </a:pPr>
            <a:r>
              <a:rPr dirty="0"/>
              <a:t>Batch</a:t>
            </a:r>
            <a:r>
              <a:rPr dirty="0" spc="-15"/>
              <a:t> </a:t>
            </a:r>
            <a:r>
              <a:rPr dirty="0"/>
              <a:t>No.</a:t>
            </a:r>
            <a:r>
              <a:rPr dirty="0" spc="-15"/>
              <a:t> </a:t>
            </a:r>
            <a:r>
              <a:rPr dirty="0" spc="-25"/>
              <a:t>DB4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Times New Roman"/>
                <a:cs typeface="Times New Roman"/>
              </a:defRPr>
            </a:lvl1pPr>
          </a:lstStyle>
          <a:p>
            <a:pPr marL="98425">
              <a:lnSpc>
                <a:spcPts val="1410"/>
              </a:lnSpc>
            </a:pPr>
            <a:r>
              <a:rPr dirty="0" spc="-10"/>
              <a:t>Department</a:t>
            </a:r>
            <a:r>
              <a:rPr dirty="0" spc="-15"/>
              <a:t> </a:t>
            </a:r>
            <a:r>
              <a:rPr dirty="0"/>
              <a:t>of</a:t>
            </a:r>
            <a:r>
              <a:rPr dirty="0" spc="-5"/>
              <a:t> </a:t>
            </a:r>
            <a:r>
              <a:rPr dirty="0" spc="-25"/>
              <a:t>CSE</a:t>
            </a:r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Times New Roman"/>
                <a:cs typeface="Times New Roman"/>
              </a:defRPr>
            </a:lvl1pPr>
          </a:lstStyle>
          <a:p>
            <a:pPr marL="116205">
              <a:lnSpc>
                <a:spcPts val="1410"/>
              </a:lnSpc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Times New Roman"/>
                <a:cs typeface="Times New Roman"/>
              </a:defRPr>
            </a:lvl1pPr>
          </a:lstStyle>
          <a:p>
            <a:pPr marL="50800">
              <a:lnSpc>
                <a:spcPts val="1410"/>
              </a:lnSpc>
            </a:pPr>
            <a:r>
              <a:rPr dirty="0"/>
              <a:t>Batch</a:t>
            </a:r>
            <a:r>
              <a:rPr dirty="0" spc="-15"/>
              <a:t> </a:t>
            </a:r>
            <a:r>
              <a:rPr dirty="0"/>
              <a:t>No.</a:t>
            </a:r>
            <a:r>
              <a:rPr dirty="0" spc="-15"/>
              <a:t> </a:t>
            </a:r>
            <a:r>
              <a:rPr dirty="0" spc="-25"/>
              <a:t>DB4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Times New Roman"/>
                <a:cs typeface="Times New Roman"/>
              </a:defRPr>
            </a:lvl1pPr>
          </a:lstStyle>
          <a:p>
            <a:pPr marL="98425">
              <a:lnSpc>
                <a:spcPts val="1410"/>
              </a:lnSpc>
            </a:pPr>
            <a:r>
              <a:rPr dirty="0" spc="-10"/>
              <a:t>Department</a:t>
            </a:r>
            <a:r>
              <a:rPr dirty="0" spc="-15"/>
              <a:t> </a:t>
            </a:r>
            <a:r>
              <a:rPr dirty="0"/>
              <a:t>of</a:t>
            </a:r>
            <a:r>
              <a:rPr dirty="0" spc="-5"/>
              <a:t> </a:t>
            </a:r>
            <a:r>
              <a:rPr dirty="0" spc="-25"/>
              <a:t>CSE</a:t>
            </a:r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Times New Roman"/>
                <a:cs typeface="Times New Roman"/>
              </a:defRPr>
            </a:lvl1pPr>
          </a:lstStyle>
          <a:p>
            <a:pPr marL="116205">
              <a:lnSpc>
                <a:spcPts val="1410"/>
              </a:lnSpc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Times New Roman"/>
                <a:cs typeface="Times New Roman"/>
              </a:defRPr>
            </a:lvl1pPr>
          </a:lstStyle>
          <a:p>
            <a:pPr marL="50800">
              <a:lnSpc>
                <a:spcPts val="1410"/>
              </a:lnSpc>
            </a:pPr>
            <a:r>
              <a:rPr dirty="0"/>
              <a:t>Batch</a:t>
            </a:r>
            <a:r>
              <a:rPr dirty="0" spc="-15"/>
              <a:t> </a:t>
            </a:r>
            <a:r>
              <a:rPr dirty="0"/>
              <a:t>No.</a:t>
            </a:r>
            <a:r>
              <a:rPr dirty="0" spc="-15"/>
              <a:t> </a:t>
            </a:r>
            <a:r>
              <a:rPr dirty="0" spc="-25"/>
              <a:t>DB4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Times New Roman"/>
                <a:cs typeface="Times New Roman"/>
              </a:defRPr>
            </a:lvl1pPr>
          </a:lstStyle>
          <a:p>
            <a:pPr marL="98425">
              <a:lnSpc>
                <a:spcPts val="1410"/>
              </a:lnSpc>
            </a:pPr>
            <a:r>
              <a:rPr dirty="0" spc="-10"/>
              <a:t>Department</a:t>
            </a:r>
            <a:r>
              <a:rPr dirty="0" spc="-15"/>
              <a:t> </a:t>
            </a:r>
            <a:r>
              <a:rPr dirty="0"/>
              <a:t>of</a:t>
            </a:r>
            <a:r>
              <a:rPr dirty="0" spc="-5"/>
              <a:t> </a:t>
            </a:r>
            <a:r>
              <a:rPr dirty="0" spc="-25"/>
              <a:t>CSE</a:t>
            </a:r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Times New Roman"/>
                <a:cs typeface="Times New Roman"/>
              </a:defRPr>
            </a:lvl1pPr>
          </a:lstStyle>
          <a:p>
            <a:pPr marL="116205">
              <a:lnSpc>
                <a:spcPts val="1410"/>
              </a:lnSpc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jpg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3820058" cy="619211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638605" y="483855"/>
            <a:ext cx="5857240" cy="39115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95325" y="1121499"/>
            <a:ext cx="8261984" cy="38836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700" b="1" i="0" u="heavy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5336066" y="6445258"/>
            <a:ext cx="1083945" cy="3308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888888"/>
                </a:solidFill>
                <a:latin typeface="Times New Roman"/>
                <a:cs typeface="Times New Roman"/>
              </a:defRPr>
            </a:lvl1pPr>
          </a:lstStyle>
          <a:p>
            <a:pPr marL="50800">
              <a:lnSpc>
                <a:spcPts val="1410"/>
              </a:lnSpc>
            </a:pPr>
            <a:r>
              <a:rPr dirty="0"/>
              <a:t>Batch</a:t>
            </a:r>
            <a:r>
              <a:rPr dirty="0" spc="-15"/>
              <a:t> </a:t>
            </a:r>
            <a:r>
              <a:rPr dirty="0"/>
              <a:t>No.</a:t>
            </a:r>
            <a:r>
              <a:rPr dirty="0" spc="-15"/>
              <a:t> </a:t>
            </a:r>
            <a:r>
              <a:rPr dirty="0" spc="-25"/>
              <a:t>DB4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6650890" y="6445258"/>
            <a:ext cx="1312503" cy="3308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888888"/>
                </a:solidFill>
                <a:latin typeface="Times New Roman"/>
                <a:cs typeface="Times New Roman"/>
              </a:defRPr>
            </a:lvl1pPr>
          </a:lstStyle>
          <a:p>
            <a:pPr marL="98425">
              <a:lnSpc>
                <a:spcPts val="1410"/>
              </a:lnSpc>
            </a:pPr>
            <a:r>
              <a:rPr dirty="0" spc="-10"/>
              <a:t>Department</a:t>
            </a:r>
            <a:r>
              <a:rPr dirty="0" spc="-15"/>
              <a:t> </a:t>
            </a:r>
            <a:r>
              <a:rPr dirty="0"/>
              <a:t>of</a:t>
            </a:r>
            <a:r>
              <a:rPr dirty="0" spc="-5"/>
              <a:t> </a:t>
            </a:r>
            <a:r>
              <a:rPr dirty="0" spc="-25"/>
              <a:t>CSE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1075491" y="6445270"/>
            <a:ext cx="243383" cy="19992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888888"/>
                </a:solidFill>
                <a:latin typeface="Times New Roman"/>
                <a:cs typeface="Times New Roman"/>
              </a:defRPr>
            </a:lvl1pPr>
          </a:lstStyle>
          <a:p>
            <a:pPr marL="116205">
              <a:lnSpc>
                <a:spcPts val="1410"/>
              </a:lnSpc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jpg"/></Relationships>
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.jpg"/><Relationship Id="rId3" Type="http://schemas.openxmlformats.org/officeDocument/2006/relationships/image" Target="../media/image7.jpg"/><Relationship Id="rId4" Type="http://schemas.openxmlformats.org/officeDocument/2006/relationships/image" Target="../media/image8.jpg"/><Relationship Id="rId5" Type="http://schemas.openxmlformats.org/officeDocument/2006/relationships/image" Target="../media/image9.jpg"/></Relationships>
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0.jpg"/><Relationship Id="rId3" Type="http://schemas.openxmlformats.org/officeDocument/2006/relationships/image" Target="../media/image11.jpg"/></Relationships>
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2.jpg"/><Relationship Id="rId3" Type="http://schemas.openxmlformats.org/officeDocument/2006/relationships/image" Target="../media/image13.jpg"/><Relationship Id="rId4" Type="http://schemas.openxmlformats.org/officeDocument/2006/relationships/image" Target="../media/image14.jpg"/></Relationships>

</file>

<file path=ppt/slides/_rels/slide2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5.jpg"/><Relationship Id="rId3" Type="http://schemas.openxmlformats.org/officeDocument/2006/relationships/image" Target="../media/image16.jpg"/><Relationship Id="rId4" Type="http://schemas.openxmlformats.org/officeDocument/2006/relationships/image" Target="../media/image17.jpg"/></Relationships>

</file>

<file path=ppt/slides/_rels/slide2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8.jpg"/><Relationship Id="rId3" Type="http://schemas.openxmlformats.org/officeDocument/2006/relationships/image" Target="../media/image19.jpg"/></Relationships>

</file>

<file path=ppt/slides/_rels/slide2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3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0.jp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00452" y="696644"/>
            <a:ext cx="7816215" cy="1132840"/>
          </a:xfrm>
          <a:prstGeom prst="rect"/>
        </p:spPr>
        <p:txBody>
          <a:bodyPr wrap="square" lIns="0" tIns="55880" rIns="0" bIns="0" rtlCol="0" vert="horz">
            <a:spAutoFit/>
          </a:bodyPr>
          <a:lstStyle/>
          <a:p>
            <a:pPr algn="ctr" marL="3175">
              <a:lnSpc>
                <a:spcPct val="100000"/>
              </a:lnSpc>
              <a:spcBef>
                <a:spcPts val="440"/>
              </a:spcBef>
            </a:pPr>
            <a:r>
              <a:rPr dirty="0" sz="1800"/>
              <a:t>Department</a:t>
            </a:r>
            <a:r>
              <a:rPr dirty="0" sz="1800" spc="-50"/>
              <a:t> </a:t>
            </a:r>
            <a:r>
              <a:rPr dirty="0" sz="1800"/>
              <a:t>of</a:t>
            </a:r>
            <a:r>
              <a:rPr dirty="0" sz="1800" spc="-50"/>
              <a:t> </a:t>
            </a:r>
            <a:r>
              <a:rPr dirty="0" sz="1800" spc="-10"/>
              <a:t>Computer</a:t>
            </a:r>
            <a:r>
              <a:rPr dirty="0" sz="1800" spc="-80"/>
              <a:t> </a:t>
            </a:r>
            <a:r>
              <a:rPr dirty="0" sz="1800"/>
              <a:t>Science</a:t>
            </a:r>
            <a:r>
              <a:rPr dirty="0" sz="1800" spc="-55"/>
              <a:t> </a:t>
            </a:r>
            <a:r>
              <a:rPr dirty="0" sz="1800"/>
              <a:t>and</a:t>
            </a:r>
            <a:r>
              <a:rPr dirty="0" sz="1800" spc="-50"/>
              <a:t> </a:t>
            </a:r>
            <a:r>
              <a:rPr dirty="0" sz="1800" spc="-10"/>
              <a:t>Engineering</a:t>
            </a:r>
            <a:endParaRPr sz="1800"/>
          </a:p>
          <a:p>
            <a:pPr algn="ctr" marL="12700" marR="5080">
              <a:lnSpc>
                <a:spcPct val="100000"/>
              </a:lnSpc>
              <a:spcBef>
                <a:spcPts val="455"/>
              </a:spcBef>
            </a:pPr>
            <a:r>
              <a:rPr dirty="0" spc="-20">
                <a:solidFill>
                  <a:srgbClr val="FF0000"/>
                </a:solidFill>
              </a:rPr>
              <a:t>A</a:t>
            </a:r>
            <a:r>
              <a:rPr dirty="0" spc="-135">
                <a:solidFill>
                  <a:srgbClr val="FF0000"/>
                </a:solidFill>
              </a:rPr>
              <a:t> </a:t>
            </a:r>
            <a:r>
              <a:rPr dirty="0">
                <a:solidFill>
                  <a:srgbClr val="FF0000"/>
                </a:solidFill>
              </a:rPr>
              <a:t>Comparative</a:t>
            </a:r>
            <a:r>
              <a:rPr dirty="0" spc="-85">
                <a:solidFill>
                  <a:srgbClr val="FF0000"/>
                </a:solidFill>
              </a:rPr>
              <a:t> </a:t>
            </a:r>
            <a:r>
              <a:rPr dirty="0">
                <a:solidFill>
                  <a:srgbClr val="FF0000"/>
                </a:solidFill>
              </a:rPr>
              <a:t>Study</a:t>
            </a:r>
            <a:r>
              <a:rPr dirty="0" spc="-30">
                <a:solidFill>
                  <a:srgbClr val="FF0000"/>
                </a:solidFill>
              </a:rPr>
              <a:t> </a:t>
            </a:r>
            <a:r>
              <a:rPr dirty="0">
                <a:solidFill>
                  <a:srgbClr val="FF0000"/>
                </a:solidFill>
              </a:rPr>
              <a:t>of</a:t>
            </a:r>
            <a:r>
              <a:rPr dirty="0" spc="-30">
                <a:solidFill>
                  <a:srgbClr val="FF0000"/>
                </a:solidFill>
              </a:rPr>
              <a:t> </a:t>
            </a:r>
            <a:r>
              <a:rPr dirty="0" spc="-25">
                <a:solidFill>
                  <a:srgbClr val="FF0000"/>
                </a:solidFill>
              </a:rPr>
              <a:t>CNN</a:t>
            </a:r>
            <a:r>
              <a:rPr dirty="0" spc="-135">
                <a:solidFill>
                  <a:srgbClr val="FF0000"/>
                </a:solidFill>
              </a:rPr>
              <a:t> </a:t>
            </a:r>
            <a:r>
              <a:rPr dirty="0" spc="-10">
                <a:solidFill>
                  <a:srgbClr val="FF0000"/>
                </a:solidFill>
              </a:rPr>
              <a:t>Architectures</a:t>
            </a:r>
            <a:r>
              <a:rPr dirty="0" spc="-35">
                <a:solidFill>
                  <a:srgbClr val="FF0000"/>
                </a:solidFill>
              </a:rPr>
              <a:t> </a:t>
            </a:r>
            <a:r>
              <a:rPr dirty="0">
                <a:solidFill>
                  <a:srgbClr val="FF0000"/>
                </a:solidFill>
              </a:rPr>
              <a:t>for</a:t>
            </a:r>
            <a:r>
              <a:rPr dirty="0" spc="-75">
                <a:solidFill>
                  <a:srgbClr val="FF0000"/>
                </a:solidFill>
              </a:rPr>
              <a:t> </a:t>
            </a:r>
            <a:r>
              <a:rPr dirty="0" spc="-10">
                <a:solidFill>
                  <a:srgbClr val="FF0000"/>
                </a:solidFill>
              </a:rPr>
              <a:t>Monkeypox Detection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5459675" y="1946287"/>
            <a:ext cx="1510030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>
                <a:latin typeface="Times New Roman"/>
                <a:cs typeface="Times New Roman"/>
              </a:rPr>
              <a:t>PRESENTED</a:t>
            </a:r>
            <a:r>
              <a:rPr dirty="0" sz="1600" spc="-45">
                <a:latin typeface="Times New Roman"/>
                <a:cs typeface="Times New Roman"/>
              </a:rPr>
              <a:t> </a:t>
            </a:r>
            <a:r>
              <a:rPr dirty="0" sz="1600" spc="-25">
                <a:latin typeface="Times New Roman"/>
                <a:cs typeface="Times New Roman"/>
              </a:rPr>
              <a:t>BY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4189675" y="2190127"/>
            <a:ext cx="1582420" cy="6699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32100"/>
              </a:lnSpc>
              <a:spcBef>
                <a:spcPts val="100"/>
              </a:spcBef>
            </a:pPr>
            <a:r>
              <a:rPr dirty="0" sz="1600">
                <a:latin typeface="Times New Roman"/>
                <a:cs typeface="Times New Roman"/>
              </a:rPr>
              <a:t>Shaik</a:t>
            </a:r>
            <a:r>
              <a:rPr dirty="0" sz="1600" spc="-40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Subhani </a:t>
            </a:r>
            <a:r>
              <a:rPr dirty="0" sz="1600">
                <a:latin typeface="Times New Roman"/>
                <a:cs typeface="Times New Roman"/>
              </a:rPr>
              <a:t>Kotte</a:t>
            </a:r>
            <a:r>
              <a:rPr dirty="0" sz="1600" spc="-6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Naresh</a:t>
            </a:r>
            <a:r>
              <a:rPr dirty="0" sz="1600" spc="-50">
                <a:latin typeface="Times New Roman"/>
                <a:cs typeface="Times New Roman"/>
              </a:rPr>
              <a:t> </a:t>
            </a:r>
            <a:r>
              <a:rPr dirty="0" sz="1600" spc="-20">
                <a:latin typeface="Times New Roman"/>
                <a:cs typeface="Times New Roman"/>
              </a:rPr>
              <a:t>Babu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6069275" y="2190127"/>
            <a:ext cx="1222375" cy="6699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32100"/>
              </a:lnSpc>
              <a:spcBef>
                <a:spcPts val="100"/>
              </a:spcBef>
            </a:pPr>
            <a:r>
              <a:rPr dirty="0" sz="1600" spc="-10">
                <a:latin typeface="Times New Roman"/>
                <a:cs typeface="Times New Roman"/>
              </a:rPr>
              <a:t>(23475A0503) (23475A0505)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4073802" y="3587713"/>
            <a:ext cx="4274185" cy="21272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006600"/>
                </a:solidFill>
                <a:latin typeface="Times New Roman"/>
                <a:cs typeface="Times New Roman"/>
              </a:rPr>
              <a:t>Under</a:t>
            </a:r>
            <a:r>
              <a:rPr dirty="0" sz="1800" spc="-65">
                <a:solidFill>
                  <a:srgbClr val="006600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006600"/>
                </a:solidFill>
                <a:latin typeface="Times New Roman"/>
                <a:cs typeface="Times New Roman"/>
              </a:rPr>
              <a:t>the</a:t>
            </a:r>
            <a:r>
              <a:rPr dirty="0" sz="1800" spc="-65">
                <a:solidFill>
                  <a:srgbClr val="006600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006600"/>
                </a:solidFill>
                <a:latin typeface="Times New Roman"/>
                <a:cs typeface="Times New Roman"/>
              </a:rPr>
              <a:t>Guidance</a:t>
            </a:r>
            <a:r>
              <a:rPr dirty="0" sz="1800" spc="-65">
                <a:solidFill>
                  <a:srgbClr val="006600"/>
                </a:solidFill>
                <a:latin typeface="Times New Roman"/>
                <a:cs typeface="Times New Roman"/>
              </a:rPr>
              <a:t> </a:t>
            </a:r>
            <a:r>
              <a:rPr dirty="0" sz="1800" spc="-25">
                <a:solidFill>
                  <a:srgbClr val="006600"/>
                </a:solidFill>
                <a:latin typeface="Times New Roman"/>
                <a:cs typeface="Times New Roman"/>
              </a:rPr>
              <a:t>of,</a:t>
            </a:r>
            <a:endParaRPr sz="1800">
              <a:latin typeface="Times New Roman"/>
              <a:cs typeface="Times New Roman"/>
            </a:endParaRPr>
          </a:p>
          <a:p>
            <a:pPr algn="ctr" marL="13970">
              <a:lnSpc>
                <a:spcPct val="100000"/>
              </a:lnSpc>
              <a:spcBef>
                <a:spcPts val="1585"/>
              </a:spcBef>
            </a:pPr>
            <a:r>
              <a:rPr dirty="0" sz="1600" b="1">
                <a:latin typeface="Times New Roman"/>
                <a:cs typeface="Times New Roman"/>
              </a:rPr>
              <a:t>Mothe</a:t>
            </a:r>
            <a:r>
              <a:rPr dirty="0" sz="1600" spc="-45" b="1">
                <a:latin typeface="Times New Roman"/>
                <a:cs typeface="Times New Roman"/>
              </a:rPr>
              <a:t> </a:t>
            </a:r>
            <a:r>
              <a:rPr dirty="0" sz="1600" b="1">
                <a:latin typeface="Times New Roman"/>
                <a:cs typeface="Times New Roman"/>
              </a:rPr>
              <a:t>Sathyam</a:t>
            </a:r>
            <a:r>
              <a:rPr dirty="0" sz="1600" spc="-35" b="1">
                <a:latin typeface="Times New Roman"/>
                <a:cs typeface="Times New Roman"/>
              </a:rPr>
              <a:t> </a:t>
            </a:r>
            <a:r>
              <a:rPr dirty="0" sz="1600" b="1">
                <a:latin typeface="Times New Roman"/>
                <a:cs typeface="Times New Roman"/>
              </a:rPr>
              <a:t>Reddy</a:t>
            </a:r>
            <a:r>
              <a:rPr dirty="0" sz="1600" spc="-35" b="1">
                <a:latin typeface="Times New Roman"/>
                <a:cs typeface="Times New Roman"/>
              </a:rPr>
              <a:t> </a:t>
            </a:r>
            <a:r>
              <a:rPr dirty="0" baseline="-31746" sz="1575" spc="-15" b="1">
                <a:latin typeface="Times New Roman"/>
                <a:cs typeface="Times New Roman"/>
              </a:rPr>
              <a:t>B.Tech,</a:t>
            </a:r>
            <a:r>
              <a:rPr dirty="0" baseline="-31746" sz="1575" spc="-37" b="1">
                <a:latin typeface="Times New Roman"/>
                <a:cs typeface="Times New Roman"/>
              </a:rPr>
              <a:t> </a:t>
            </a:r>
            <a:r>
              <a:rPr dirty="0" baseline="-31746" sz="1575" spc="-15" b="1">
                <a:latin typeface="Times New Roman"/>
                <a:cs typeface="Times New Roman"/>
              </a:rPr>
              <a:t>M.Tech</a:t>
            </a:r>
            <a:endParaRPr baseline="-31746" sz="1575">
              <a:latin typeface="Times New Roman"/>
              <a:cs typeface="Times New Roman"/>
            </a:endParaRPr>
          </a:p>
          <a:p>
            <a:pPr algn="ctr" marL="1270">
              <a:lnSpc>
                <a:spcPct val="100000"/>
              </a:lnSpc>
              <a:spcBef>
                <a:spcPts val="320"/>
              </a:spcBef>
            </a:pPr>
            <a:r>
              <a:rPr dirty="0" sz="1600" spc="-10">
                <a:latin typeface="Times New Roman"/>
                <a:cs typeface="Times New Roman"/>
              </a:rPr>
              <a:t>Assistant</a:t>
            </a:r>
            <a:r>
              <a:rPr dirty="0" sz="1600" spc="-15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Professor,</a:t>
            </a:r>
            <a:endParaRPr sz="16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320"/>
              </a:spcBef>
            </a:pPr>
            <a:r>
              <a:rPr dirty="0" sz="1600" spc="-10">
                <a:latin typeface="Times New Roman"/>
                <a:cs typeface="Times New Roman"/>
              </a:rPr>
              <a:t>Department</a:t>
            </a:r>
            <a:r>
              <a:rPr dirty="0" sz="1600" spc="-4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of</a:t>
            </a:r>
            <a:r>
              <a:rPr dirty="0" sz="1600" spc="-4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Computer</a:t>
            </a:r>
            <a:r>
              <a:rPr dirty="0" sz="1600" spc="-4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Science</a:t>
            </a:r>
            <a:r>
              <a:rPr dirty="0" sz="1600" spc="-4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and</a:t>
            </a:r>
            <a:r>
              <a:rPr dirty="0" sz="1600" spc="-40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Engineering,</a:t>
            </a:r>
            <a:endParaRPr sz="1600">
              <a:latin typeface="Times New Roman"/>
              <a:cs typeface="Times New Roman"/>
            </a:endParaRPr>
          </a:p>
          <a:p>
            <a:pPr algn="ctr" marL="50800" marR="43180">
              <a:lnSpc>
                <a:spcPct val="166700"/>
              </a:lnSpc>
            </a:pPr>
            <a:r>
              <a:rPr dirty="0" sz="1600" spc="-10">
                <a:latin typeface="Times New Roman"/>
                <a:cs typeface="Times New Roman"/>
              </a:rPr>
              <a:t>Narasaraopeta</a:t>
            </a:r>
            <a:r>
              <a:rPr dirty="0" sz="1600" spc="-6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Engineering</a:t>
            </a:r>
            <a:r>
              <a:rPr dirty="0" sz="1600" spc="-6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College</a:t>
            </a:r>
            <a:r>
              <a:rPr dirty="0" sz="1600" spc="-60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(Autonomous), </a:t>
            </a:r>
            <a:r>
              <a:rPr dirty="0" sz="1600">
                <a:latin typeface="Times New Roman"/>
                <a:cs typeface="Times New Roman"/>
              </a:rPr>
              <a:t>Narasaraopet-</a:t>
            </a:r>
            <a:r>
              <a:rPr dirty="0" sz="1600" spc="-90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522601.</a:t>
            </a:r>
            <a:endParaRPr sz="1600">
              <a:latin typeface="Times New Roman"/>
              <a:cs typeface="Times New Roman"/>
            </a:endParaRPr>
          </a:p>
        </p:txBody>
      </p:sp>
      <p:pic>
        <p:nvPicPr>
          <p:cNvPr id="7" name="object 7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90674"/>
            <a:ext cx="3762899" cy="579026"/>
          </a:xfrm>
          <a:prstGeom prst="rect">
            <a:avLst/>
          </a:prstGeom>
        </p:spPr>
      </p:pic>
      <p:sp>
        <p:nvSpPr>
          <p:cNvPr id="8" name="object 8" descr=""/>
          <p:cNvSpPr txBox="1"/>
          <p:nvPr/>
        </p:nvSpPr>
        <p:spPr>
          <a:xfrm>
            <a:off x="911225" y="6428676"/>
            <a:ext cx="70866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solidFill>
                  <a:srgbClr val="888888"/>
                </a:solidFill>
                <a:latin typeface="Times New Roman"/>
                <a:cs typeface="Times New Roman"/>
              </a:rPr>
              <a:t>11/11/2025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4265327" y="6428676"/>
            <a:ext cx="829944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888888"/>
                </a:solidFill>
                <a:latin typeface="Times New Roman"/>
                <a:cs typeface="Times New Roman"/>
              </a:rPr>
              <a:t>Review</a:t>
            </a:r>
            <a:r>
              <a:rPr dirty="0" sz="1200" spc="-7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dirty="0" sz="1200" spc="-20">
                <a:solidFill>
                  <a:srgbClr val="888888"/>
                </a:solidFill>
                <a:latin typeface="Times New Roman"/>
                <a:cs typeface="Times New Roman"/>
              </a:rPr>
              <a:t>No.1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5412266" y="6428676"/>
            <a:ext cx="931544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888888"/>
                </a:solidFill>
                <a:latin typeface="Times New Roman"/>
                <a:cs typeface="Times New Roman"/>
              </a:rPr>
              <a:t>Batch</a:t>
            </a:r>
            <a:r>
              <a:rPr dirty="0" sz="1200" spc="-3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dirty="0" sz="1200" spc="-10">
                <a:solidFill>
                  <a:srgbClr val="888888"/>
                </a:solidFill>
                <a:latin typeface="Times New Roman"/>
                <a:cs typeface="Times New Roman"/>
              </a:rPr>
              <a:t>No.DB4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6699108" y="6428676"/>
            <a:ext cx="122618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solidFill>
                  <a:srgbClr val="888888"/>
                </a:solidFill>
                <a:latin typeface="Times New Roman"/>
                <a:cs typeface="Times New Roman"/>
              </a:rPr>
              <a:t>Department</a:t>
            </a:r>
            <a:r>
              <a:rPr dirty="0" sz="1200" spc="-15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888888"/>
                </a:solidFill>
                <a:latin typeface="Times New Roman"/>
                <a:cs typeface="Times New Roman"/>
              </a:rPr>
              <a:t>of</a:t>
            </a:r>
            <a:r>
              <a:rPr dirty="0" sz="1200" spc="-5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dirty="0" sz="1200" spc="-25">
                <a:solidFill>
                  <a:srgbClr val="888888"/>
                </a:solidFill>
                <a:latin typeface="Times New Roman"/>
                <a:cs typeface="Times New Roman"/>
              </a:rPr>
              <a:t>CSE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11179175" y="6428676"/>
            <a:ext cx="10160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0">
                <a:solidFill>
                  <a:srgbClr val="888888"/>
                </a:solidFill>
                <a:latin typeface="Times New Roman"/>
                <a:cs typeface="Times New Roman"/>
              </a:rPr>
              <a:t>1</a:t>
            </a:r>
            <a:endParaRPr sz="1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551594" y="710384"/>
            <a:ext cx="1429385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OUTLINE</a:t>
            </a:r>
          </a:p>
        </p:txBody>
      </p:sp>
      <p:sp>
        <p:nvSpPr>
          <p:cNvPr id="4" name="object 4" descr=""/>
          <p:cNvSpPr txBox="1"/>
          <p:nvPr/>
        </p:nvSpPr>
        <p:spPr>
          <a:xfrm>
            <a:off x="4227227" y="6445270"/>
            <a:ext cx="868044" cy="19431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 sz="1200">
                <a:solidFill>
                  <a:srgbClr val="888888"/>
                </a:solidFill>
                <a:latin typeface="Times New Roman"/>
                <a:cs typeface="Times New Roman"/>
              </a:rPr>
              <a:t>Review</a:t>
            </a:r>
            <a:r>
              <a:rPr dirty="0" sz="1200" spc="-4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888888"/>
                </a:solidFill>
                <a:latin typeface="Times New Roman"/>
                <a:cs typeface="Times New Roman"/>
              </a:rPr>
              <a:t>No.</a:t>
            </a:r>
            <a:r>
              <a:rPr dirty="0" sz="1200" spc="-3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dirty="0" sz="1200" spc="-50">
                <a:solidFill>
                  <a:srgbClr val="888888"/>
                </a:solidFill>
                <a:latin typeface="Times New Roman"/>
                <a:cs typeface="Times New Roman"/>
              </a:rPr>
              <a:t>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5" name="object 5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50800">
              <a:lnSpc>
                <a:spcPts val="1410"/>
              </a:lnSpc>
            </a:pPr>
            <a:r>
              <a:rPr dirty="0"/>
              <a:t>Batch</a:t>
            </a:r>
            <a:r>
              <a:rPr dirty="0" spc="-15"/>
              <a:t> </a:t>
            </a:r>
            <a:r>
              <a:rPr dirty="0"/>
              <a:t>No.</a:t>
            </a:r>
            <a:r>
              <a:rPr dirty="0" spc="-15"/>
              <a:t> </a:t>
            </a:r>
            <a:r>
              <a:rPr dirty="0" spc="-25"/>
              <a:t>DB4</a:t>
            </a:r>
          </a:p>
        </p:txBody>
      </p:sp>
      <p:sp>
        <p:nvSpPr>
          <p:cNvPr id="6" name="object 6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98425">
              <a:lnSpc>
                <a:spcPts val="1410"/>
              </a:lnSpc>
            </a:pPr>
            <a:r>
              <a:rPr dirty="0" spc="-10"/>
              <a:t>Department</a:t>
            </a:r>
            <a:r>
              <a:rPr dirty="0" spc="-15"/>
              <a:t> </a:t>
            </a:r>
            <a:r>
              <a:rPr dirty="0"/>
              <a:t>of</a:t>
            </a:r>
            <a:r>
              <a:rPr dirty="0" spc="-5"/>
              <a:t> </a:t>
            </a:r>
            <a:r>
              <a:rPr dirty="0" spc="-25"/>
              <a:t>CSE</a:t>
            </a:r>
          </a:p>
        </p:txBody>
      </p:sp>
      <p:sp>
        <p:nvSpPr>
          <p:cNvPr id="7" name="object 7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16205">
              <a:lnSpc>
                <a:spcPts val="1410"/>
              </a:lnSpc>
            </a:pPr>
            <a:fld id="{81D60167-4931-47E6-BA6A-407CBD079E47}" type="slidenum">
              <a:rPr dirty="0" spc="-50"/>
              <a:t>2</a:t>
            </a:fld>
          </a:p>
        </p:txBody>
      </p:sp>
      <p:sp>
        <p:nvSpPr>
          <p:cNvPr id="3" name="object 3" descr=""/>
          <p:cNvSpPr txBox="1"/>
          <p:nvPr/>
        </p:nvSpPr>
        <p:spPr>
          <a:xfrm>
            <a:off x="800149" y="1179704"/>
            <a:ext cx="3475354" cy="4417060"/>
          </a:xfrm>
          <a:prstGeom prst="rect">
            <a:avLst/>
          </a:prstGeom>
        </p:spPr>
        <p:txBody>
          <a:bodyPr wrap="square" lIns="0" tIns="59690" rIns="0" bIns="0" rtlCol="0" vert="horz">
            <a:spAutoFit/>
          </a:bodyPr>
          <a:lstStyle/>
          <a:p>
            <a:pPr marL="637540" indent="-624840">
              <a:lnSpc>
                <a:spcPct val="100000"/>
              </a:lnSpc>
              <a:spcBef>
                <a:spcPts val="470"/>
              </a:spcBef>
              <a:buFont typeface="MS PGothic"/>
              <a:buChar char="➢"/>
              <a:tabLst>
                <a:tab pos="637540" algn="l"/>
              </a:tabLst>
            </a:pPr>
            <a:r>
              <a:rPr dirty="0" sz="1750" spc="-10">
                <a:latin typeface="Times New Roman"/>
                <a:cs typeface="Times New Roman"/>
              </a:rPr>
              <a:t>Abstract</a:t>
            </a:r>
            <a:endParaRPr sz="1750">
              <a:latin typeface="Times New Roman"/>
              <a:cs typeface="Times New Roman"/>
            </a:endParaRPr>
          </a:p>
          <a:p>
            <a:pPr marL="637540" indent="-624840">
              <a:lnSpc>
                <a:spcPct val="100000"/>
              </a:lnSpc>
              <a:spcBef>
                <a:spcPts val="370"/>
              </a:spcBef>
              <a:buFont typeface="MS PGothic"/>
              <a:buChar char="➢"/>
              <a:tabLst>
                <a:tab pos="637540" algn="l"/>
              </a:tabLst>
            </a:pPr>
            <a:r>
              <a:rPr dirty="0" sz="1750" spc="-10">
                <a:latin typeface="Times New Roman"/>
                <a:cs typeface="Times New Roman"/>
              </a:rPr>
              <a:t>Introduction</a:t>
            </a:r>
            <a:endParaRPr sz="1750">
              <a:latin typeface="Times New Roman"/>
              <a:cs typeface="Times New Roman"/>
            </a:endParaRPr>
          </a:p>
          <a:p>
            <a:pPr marL="637540" indent="-624840">
              <a:lnSpc>
                <a:spcPct val="100000"/>
              </a:lnSpc>
              <a:spcBef>
                <a:spcPts val="370"/>
              </a:spcBef>
              <a:buFont typeface="MS PGothic"/>
              <a:buChar char="➢"/>
              <a:tabLst>
                <a:tab pos="637540" algn="l"/>
              </a:tabLst>
            </a:pPr>
            <a:r>
              <a:rPr dirty="0" sz="1750" spc="-10">
                <a:latin typeface="Times New Roman"/>
                <a:cs typeface="Times New Roman"/>
              </a:rPr>
              <a:t>Literature</a:t>
            </a:r>
            <a:r>
              <a:rPr dirty="0" sz="1750" spc="-20">
                <a:latin typeface="Times New Roman"/>
                <a:cs typeface="Times New Roman"/>
              </a:rPr>
              <a:t> </a:t>
            </a:r>
            <a:r>
              <a:rPr dirty="0" sz="1750" spc="-10">
                <a:latin typeface="Times New Roman"/>
                <a:cs typeface="Times New Roman"/>
              </a:rPr>
              <a:t>Survey</a:t>
            </a:r>
            <a:endParaRPr sz="1750">
              <a:latin typeface="Times New Roman"/>
              <a:cs typeface="Times New Roman"/>
            </a:endParaRPr>
          </a:p>
          <a:p>
            <a:pPr marL="637540" indent="-624840">
              <a:lnSpc>
                <a:spcPct val="100000"/>
              </a:lnSpc>
              <a:spcBef>
                <a:spcPts val="370"/>
              </a:spcBef>
              <a:buFont typeface="MS PGothic"/>
              <a:buChar char="➢"/>
              <a:tabLst>
                <a:tab pos="637540" algn="l"/>
              </a:tabLst>
            </a:pPr>
            <a:r>
              <a:rPr dirty="0" sz="1750">
                <a:latin typeface="Times New Roman"/>
                <a:cs typeface="Times New Roman"/>
              </a:rPr>
              <a:t>Research </a:t>
            </a:r>
            <a:r>
              <a:rPr dirty="0" sz="1750" spc="-20">
                <a:latin typeface="Times New Roman"/>
                <a:cs typeface="Times New Roman"/>
              </a:rPr>
              <a:t>Gaps</a:t>
            </a:r>
            <a:endParaRPr sz="1750">
              <a:latin typeface="Times New Roman"/>
              <a:cs typeface="Times New Roman"/>
            </a:endParaRPr>
          </a:p>
          <a:p>
            <a:pPr marL="637540" indent="-624840">
              <a:lnSpc>
                <a:spcPct val="100000"/>
              </a:lnSpc>
              <a:spcBef>
                <a:spcPts val="370"/>
              </a:spcBef>
              <a:buFont typeface="MS PGothic"/>
              <a:buChar char="➢"/>
              <a:tabLst>
                <a:tab pos="637540" algn="l"/>
              </a:tabLst>
            </a:pPr>
            <a:r>
              <a:rPr dirty="0" sz="1750">
                <a:latin typeface="Times New Roman"/>
                <a:cs typeface="Times New Roman"/>
              </a:rPr>
              <a:t>Problem</a:t>
            </a:r>
            <a:r>
              <a:rPr dirty="0" sz="1750" spc="-95">
                <a:latin typeface="Times New Roman"/>
                <a:cs typeface="Times New Roman"/>
              </a:rPr>
              <a:t> </a:t>
            </a:r>
            <a:r>
              <a:rPr dirty="0" sz="1750" spc="-10">
                <a:latin typeface="Times New Roman"/>
                <a:cs typeface="Times New Roman"/>
              </a:rPr>
              <a:t>Statement</a:t>
            </a:r>
            <a:endParaRPr sz="1750">
              <a:latin typeface="Times New Roman"/>
              <a:cs typeface="Times New Roman"/>
            </a:endParaRPr>
          </a:p>
          <a:p>
            <a:pPr marL="637540" indent="-624840">
              <a:lnSpc>
                <a:spcPct val="100000"/>
              </a:lnSpc>
              <a:spcBef>
                <a:spcPts val="370"/>
              </a:spcBef>
              <a:buFont typeface="MS PGothic"/>
              <a:buChar char="➢"/>
              <a:tabLst>
                <a:tab pos="637540" algn="l"/>
              </a:tabLst>
            </a:pPr>
            <a:r>
              <a:rPr dirty="0" sz="1750" spc="-10">
                <a:latin typeface="Times New Roman"/>
                <a:cs typeface="Times New Roman"/>
              </a:rPr>
              <a:t>Objectives</a:t>
            </a:r>
            <a:endParaRPr sz="1750">
              <a:latin typeface="Times New Roman"/>
              <a:cs typeface="Times New Roman"/>
            </a:endParaRPr>
          </a:p>
          <a:p>
            <a:pPr marL="637540" indent="-624840">
              <a:lnSpc>
                <a:spcPct val="100000"/>
              </a:lnSpc>
              <a:spcBef>
                <a:spcPts val="370"/>
              </a:spcBef>
              <a:buFont typeface="MS PGothic"/>
              <a:buChar char="➢"/>
              <a:tabLst>
                <a:tab pos="637540" algn="l"/>
              </a:tabLst>
            </a:pPr>
            <a:r>
              <a:rPr dirty="0" sz="1750">
                <a:latin typeface="Times New Roman"/>
                <a:cs typeface="Times New Roman"/>
              </a:rPr>
              <a:t>Block</a:t>
            </a:r>
            <a:r>
              <a:rPr dirty="0" sz="1750" spc="-40">
                <a:latin typeface="Times New Roman"/>
                <a:cs typeface="Times New Roman"/>
              </a:rPr>
              <a:t> </a:t>
            </a:r>
            <a:r>
              <a:rPr dirty="0" sz="1750">
                <a:latin typeface="Times New Roman"/>
                <a:cs typeface="Times New Roman"/>
              </a:rPr>
              <a:t>Diagram</a:t>
            </a:r>
            <a:r>
              <a:rPr dirty="0" sz="1750" spc="-40">
                <a:latin typeface="Times New Roman"/>
                <a:cs typeface="Times New Roman"/>
              </a:rPr>
              <a:t> </a:t>
            </a:r>
            <a:r>
              <a:rPr dirty="0" sz="1750">
                <a:latin typeface="Times New Roman"/>
                <a:cs typeface="Times New Roman"/>
              </a:rPr>
              <a:t>/</a:t>
            </a:r>
            <a:r>
              <a:rPr dirty="0" sz="1750" spc="-45">
                <a:latin typeface="Times New Roman"/>
                <a:cs typeface="Times New Roman"/>
              </a:rPr>
              <a:t> </a:t>
            </a:r>
            <a:r>
              <a:rPr dirty="0" sz="1750">
                <a:latin typeface="Times New Roman"/>
                <a:cs typeface="Times New Roman"/>
              </a:rPr>
              <a:t>Flow</a:t>
            </a:r>
            <a:r>
              <a:rPr dirty="0" sz="1750" spc="-40">
                <a:latin typeface="Times New Roman"/>
                <a:cs typeface="Times New Roman"/>
              </a:rPr>
              <a:t> </a:t>
            </a:r>
            <a:r>
              <a:rPr dirty="0" sz="1750" spc="-10">
                <a:latin typeface="Times New Roman"/>
                <a:cs typeface="Times New Roman"/>
              </a:rPr>
              <a:t>Diagram</a:t>
            </a:r>
            <a:endParaRPr sz="1750">
              <a:latin typeface="Times New Roman"/>
              <a:cs typeface="Times New Roman"/>
            </a:endParaRPr>
          </a:p>
          <a:p>
            <a:pPr marL="637540" indent="-624840">
              <a:lnSpc>
                <a:spcPct val="100000"/>
              </a:lnSpc>
              <a:spcBef>
                <a:spcPts val="370"/>
              </a:spcBef>
              <a:buFont typeface="MS PGothic"/>
              <a:buChar char="➢"/>
              <a:tabLst>
                <a:tab pos="637540" algn="l"/>
              </a:tabLst>
            </a:pPr>
            <a:r>
              <a:rPr dirty="0" sz="1750" spc="-10">
                <a:latin typeface="Times New Roman"/>
                <a:cs typeface="Times New Roman"/>
              </a:rPr>
              <a:t>Methodology</a:t>
            </a:r>
            <a:endParaRPr sz="1750">
              <a:latin typeface="Times New Roman"/>
              <a:cs typeface="Times New Roman"/>
            </a:endParaRPr>
          </a:p>
          <a:p>
            <a:pPr marL="637540" indent="-624840">
              <a:lnSpc>
                <a:spcPct val="100000"/>
              </a:lnSpc>
              <a:spcBef>
                <a:spcPts val="370"/>
              </a:spcBef>
              <a:buFont typeface="MS PGothic"/>
              <a:buChar char="➢"/>
              <a:tabLst>
                <a:tab pos="637540" algn="l"/>
              </a:tabLst>
            </a:pPr>
            <a:r>
              <a:rPr dirty="0" sz="1750" spc="-10">
                <a:latin typeface="Times New Roman"/>
                <a:cs typeface="Times New Roman"/>
              </a:rPr>
              <a:t>Implementation</a:t>
            </a:r>
            <a:endParaRPr sz="1750">
              <a:latin typeface="Times New Roman"/>
              <a:cs typeface="Times New Roman"/>
            </a:endParaRPr>
          </a:p>
          <a:p>
            <a:pPr marL="637540" indent="-624840">
              <a:lnSpc>
                <a:spcPct val="100000"/>
              </a:lnSpc>
              <a:spcBef>
                <a:spcPts val="370"/>
              </a:spcBef>
              <a:buFont typeface="MS PGothic"/>
              <a:buChar char="➢"/>
              <a:tabLst>
                <a:tab pos="637540" algn="l"/>
              </a:tabLst>
            </a:pPr>
            <a:r>
              <a:rPr dirty="0" sz="1750">
                <a:latin typeface="Times New Roman"/>
                <a:cs typeface="Times New Roman"/>
              </a:rPr>
              <a:t>Results</a:t>
            </a:r>
            <a:r>
              <a:rPr dirty="0" sz="1750" spc="-30">
                <a:latin typeface="Times New Roman"/>
                <a:cs typeface="Times New Roman"/>
              </a:rPr>
              <a:t> </a:t>
            </a:r>
            <a:r>
              <a:rPr dirty="0" sz="1750">
                <a:latin typeface="Times New Roman"/>
                <a:cs typeface="Times New Roman"/>
              </a:rPr>
              <a:t>and</a:t>
            </a:r>
            <a:r>
              <a:rPr dirty="0" sz="1750" spc="-105">
                <a:latin typeface="Times New Roman"/>
                <a:cs typeface="Times New Roman"/>
              </a:rPr>
              <a:t> </a:t>
            </a:r>
            <a:r>
              <a:rPr dirty="0" sz="1750" spc="-10">
                <a:latin typeface="Times New Roman"/>
                <a:cs typeface="Times New Roman"/>
              </a:rPr>
              <a:t>Analysis</a:t>
            </a:r>
            <a:endParaRPr sz="1750">
              <a:latin typeface="Times New Roman"/>
              <a:cs typeface="Times New Roman"/>
            </a:endParaRPr>
          </a:p>
          <a:p>
            <a:pPr marL="637540" indent="-624840">
              <a:lnSpc>
                <a:spcPct val="100000"/>
              </a:lnSpc>
              <a:spcBef>
                <a:spcPts val="370"/>
              </a:spcBef>
              <a:buFont typeface="MS PGothic"/>
              <a:buChar char="➢"/>
              <a:tabLst>
                <a:tab pos="637540" algn="l"/>
              </a:tabLst>
            </a:pPr>
            <a:r>
              <a:rPr dirty="0" sz="1750">
                <a:latin typeface="Times New Roman"/>
                <a:cs typeface="Times New Roman"/>
              </a:rPr>
              <a:t>Conclusion</a:t>
            </a:r>
            <a:r>
              <a:rPr dirty="0" sz="1750" spc="-30">
                <a:latin typeface="Times New Roman"/>
                <a:cs typeface="Times New Roman"/>
              </a:rPr>
              <a:t> </a:t>
            </a:r>
            <a:r>
              <a:rPr dirty="0" sz="1750">
                <a:latin typeface="Times New Roman"/>
                <a:cs typeface="Times New Roman"/>
              </a:rPr>
              <a:t>&amp;</a:t>
            </a:r>
            <a:r>
              <a:rPr dirty="0" sz="1750" spc="-35">
                <a:latin typeface="Times New Roman"/>
                <a:cs typeface="Times New Roman"/>
              </a:rPr>
              <a:t> </a:t>
            </a:r>
            <a:r>
              <a:rPr dirty="0" sz="1750">
                <a:latin typeface="Times New Roman"/>
                <a:cs typeface="Times New Roman"/>
              </a:rPr>
              <a:t>Future</a:t>
            </a:r>
            <a:r>
              <a:rPr dirty="0" sz="1750" spc="-30">
                <a:latin typeface="Times New Roman"/>
                <a:cs typeface="Times New Roman"/>
              </a:rPr>
              <a:t> </a:t>
            </a:r>
            <a:r>
              <a:rPr dirty="0" sz="1750" spc="-10">
                <a:latin typeface="Times New Roman"/>
                <a:cs typeface="Times New Roman"/>
              </a:rPr>
              <a:t>Scope</a:t>
            </a:r>
            <a:endParaRPr sz="1750">
              <a:latin typeface="Times New Roman"/>
              <a:cs typeface="Times New Roman"/>
            </a:endParaRPr>
          </a:p>
          <a:p>
            <a:pPr marL="637540" indent="-624840">
              <a:lnSpc>
                <a:spcPct val="100000"/>
              </a:lnSpc>
              <a:spcBef>
                <a:spcPts val="370"/>
              </a:spcBef>
              <a:buFont typeface="MS PGothic"/>
              <a:buChar char="➢"/>
              <a:tabLst>
                <a:tab pos="637540" algn="l"/>
              </a:tabLst>
            </a:pPr>
            <a:r>
              <a:rPr dirty="0" sz="1750" spc="-10">
                <a:latin typeface="Times New Roman"/>
                <a:cs typeface="Times New Roman"/>
              </a:rPr>
              <a:t>References</a:t>
            </a:r>
            <a:endParaRPr sz="1750">
              <a:latin typeface="Times New Roman"/>
              <a:cs typeface="Times New Roman"/>
            </a:endParaRPr>
          </a:p>
          <a:p>
            <a:pPr marL="637540" indent="-624840">
              <a:lnSpc>
                <a:spcPct val="100000"/>
              </a:lnSpc>
              <a:spcBef>
                <a:spcPts val="370"/>
              </a:spcBef>
              <a:buFont typeface="MS PGothic"/>
              <a:buChar char="➢"/>
              <a:tabLst>
                <a:tab pos="637540" algn="l"/>
              </a:tabLst>
            </a:pPr>
            <a:r>
              <a:rPr dirty="0" sz="1750">
                <a:latin typeface="Times New Roman"/>
                <a:cs typeface="Times New Roman"/>
              </a:rPr>
              <a:t>Question and</a:t>
            </a:r>
            <a:r>
              <a:rPr dirty="0" sz="1750" spc="-100">
                <a:latin typeface="Times New Roman"/>
                <a:cs typeface="Times New Roman"/>
              </a:rPr>
              <a:t> </a:t>
            </a:r>
            <a:r>
              <a:rPr dirty="0" sz="1750" spc="-10">
                <a:latin typeface="Times New Roman"/>
                <a:cs typeface="Times New Roman"/>
              </a:rPr>
              <a:t>Answers</a:t>
            </a:r>
            <a:endParaRPr sz="1750">
              <a:latin typeface="Times New Roman"/>
              <a:cs typeface="Times New Roman"/>
            </a:endParaRPr>
          </a:p>
          <a:p>
            <a:pPr marL="637540" indent="-624840">
              <a:lnSpc>
                <a:spcPct val="100000"/>
              </a:lnSpc>
              <a:spcBef>
                <a:spcPts val="370"/>
              </a:spcBef>
              <a:buFont typeface="MS PGothic"/>
              <a:buChar char="➢"/>
              <a:tabLst>
                <a:tab pos="637540" algn="l"/>
              </a:tabLst>
            </a:pPr>
            <a:r>
              <a:rPr dirty="0" sz="1750" spc="-10">
                <a:latin typeface="Times New Roman"/>
                <a:cs typeface="Times New Roman"/>
              </a:rPr>
              <a:t>Acknowledgements</a:t>
            </a:r>
            <a:endParaRPr sz="17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424569" y="710384"/>
            <a:ext cx="1683385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ABSTRACT</a:t>
            </a:r>
          </a:p>
        </p:txBody>
      </p:sp>
      <p:sp>
        <p:nvSpPr>
          <p:cNvPr id="4" name="object 4" descr=""/>
          <p:cNvSpPr txBox="1"/>
          <p:nvPr/>
        </p:nvSpPr>
        <p:spPr>
          <a:xfrm>
            <a:off x="4227227" y="6445270"/>
            <a:ext cx="868044" cy="19431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 sz="1200">
                <a:solidFill>
                  <a:srgbClr val="888888"/>
                </a:solidFill>
                <a:latin typeface="Times New Roman"/>
                <a:cs typeface="Times New Roman"/>
              </a:rPr>
              <a:t>Review</a:t>
            </a:r>
            <a:r>
              <a:rPr dirty="0" sz="1200" spc="-4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888888"/>
                </a:solidFill>
                <a:latin typeface="Times New Roman"/>
                <a:cs typeface="Times New Roman"/>
              </a:rPr>
              <a:t>No.</a:t>
            </a:r>
            <a:r>
              <a:rPr dirty="0" sz="1200" spc="-3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dirty="0" sz="1200" spc="-50">
                <a:solidFill>
                  <a:srgbClr val="888888"/>
                </a:solidFill>
                <a:latin typeface="Times New Roman"/>
                <a:cs typeface="Times New Roman"/>
              </a:rPr>
              <a:t>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5" name="object 5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50800">
              <a:lnSpc>
                <a:spcPts val="1410"/>
              </a:lnSpc>
            </a:pPr>
            <a:r>
              <a:rPr dirty="0"/>
              <a:t>Batch</a:t>
            </a:r>
            <a:r>
              <a:rPr dirty="0" spc="-15"/>
              <a:t> </a:t>
            </a:r>
            <a:r>
              <a:rPr dirty="0"/>
              <a:t>No.</a:t>
            </a:r>
            <a:r>
              <a:rPr dirty="0" spc="-15"/>
              <a:t> </a:t>
            </a:r>
            <a:r>
              <a:rPr dirty="0" spc="-25"/>
              <a:t>DB4</a:t>
            </a:r>
          </a:p>
        </p:txBody>
      </p:sp>
      <p:sp>
        <p:nvSpPr>
          <p:cNvPr id="6" name="object 6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98425">
              <a:lnSpc>
                <a:spcPts val="1410"/>
              </a:lnSpc>
            </a:pPr>
            <a:r>
              <a:rPr dirty="0" spc="-10"/>
              <a:t>Department</a:t>
            </a:r>
            <a:r>
              <a:rPr dirty="0" spc="-15"/>
              <a:t> </a:t>
            </a:r>
            <a:r>
              <a:rPr dirty="0"/>
              <a:t>of</a:t>
            </a:r>
            <a:r>
              <a:rPr dirty="0" spc="-5"/>
              <a:t> </a:t>
            </a:r>
            <a:r>
              <a:rPr dirty="0" spc="-25"/>
              <a:t>CSE</a:t>
            </a:r>
          </a:p>
        </p:txBody>
      </p:sp>
      <p:sp>
        <p:nvSpPr>
          <p:cNvPr id="7" name="object 7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16205">
              <a:lnSpc>
                <a:spcPts val="1410"/>
              </a:lnSpc>
            </a:pPr>
            <a:fld id="{81D60167-4931-47E6-BA6A-407CBD079E47}" type="slidenum">
              <a:rPr dirty="0" spc="-50"/>
              <a:t>2</a:t>
            </a:fld>
          </a:p>
        </p:txBody>
      </p:sp>
      <p:sp>
        <p:nvSpPr>
          <p:cNvPr id="3" name="object 3" descr=""/>
          <p:cNvSpPr txBox="1"/>
          <p:nvPr/>
        </p:nvSpPr>
        <p:spPr>
          <a:xfrm>
            <a:off x="1122075" y="1408577"/>
            <a:ext cx="9910445" cy="428879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just" marL="12700" marR="5080">
              <a:lnSpc>
                <a:spcPct val="141300"/>
              </a:lnSpc>
              <a:spcBef>
                <a:spcPts val="95"/>
              </a:spcBef>
            </a:pPr>
            <a:r>
              <a:rPr dirty="0" sz="1650">
                <a:latin typeface="Times New Roman"/>
                <a:cs typeface="Times New Roman"/>
              </a:rPr>
              <a:t>With</a:t>
            </a:r>
            <a:r>
              <a:rPr dirty="0" sz="1650" spc="425">
                <a:latin typeface="Times New Roman"/>
                <a:cs typeface="Times New Roman"/>
              </a:rPr>
              <a:t> </a:t>
            </a:r>
            <a:r>
              <a:rPr dirty="0" sz="1650">
                <a:latin typeface="Times New Roman"/>
                <a:cs typeface="Times New Roman"/>
              </a:rPr>
              <a:t>Monkeypox</a:t>
            </a:r>
            <a:r>
              <a:rPr dirty="0" sz="1650" spc="430">
                <a:latin typeface="Times New Roman"/>
                <a:cs typeface="Times New Roman"/>
              </a:rPr>
              <a:t> </a:t>
            </a:r>
            <a:r>
              <a:rPr dirty="0" sz="1650">
                <a:latin typeface="Times New Roman"/>
                <a:cs typeface="Times New Roman"/>
              </a:rPr>
              <a:t>increasingly</a:t>
            </a:r>
            <a:r>
              <a:rPr dirty="0" sz="1650" spc="425">
                <a:latin typeface="Times New Roman"/>
                <a:cs typeface="Times New Roman"/>
              </a:rPr>
              <a:t> </a:t>
            </a:r>
            <a:r>
              <a:rPr dirty="0" sz="1650">
                <a:latin typeface="Times New Roman"/>
                <a:cs typeface="Times New Roman"/>
              </a:rPr>
              <a:t>becoming</a:t>
            </a:r>
            <a:r>
              <a:rPr dirty="0" sz="1650" spc="430">
                <a:latin typeface="Times New Roman"/>
                <a:cs typeface="Times New Roman"/>
              </a:rPr>
              <a:t> </a:t>
            </a:r>
            <a:r>
              <a:rPr dirty="0" sz="1650">
                <a:latin typeface="Times New Roman"/>
                <a:cs typeface="Times New Roman"/>
              </a:rPr>
              <a:t>a</a:t>
            </a:r>
            <a:r>
              <a:rPr dirty="0" sz="1650" spc="420">
                <a:latin typeface="Times New Roman"/>
                <a:cs typeface="Times New Roman"/>
              </a:rPr>
              <a:t> </a:t>
            </a:r>
            <a:r>
              <a:rPr dirty="0" sz="1650">
                <a:latin typeface="Times New Roman"/>
                <a:cs typeface="Times New Roman"/>
              </a:rPr>
              <a:t>rising</a:t>
            </a:r>
            <a:r>
              <a:rPr dirty="0" sz="1650" spc="430">
                <a:latin typeface="Times New Roman"/>
                <a:cs typeface="Times New Roman"/>
              </a:rPr>
              <a:t> </a:t>
            </a:r>
            <a:r>
              <a:rPr dirty="0" sz="1650">
                <a:latin typeface="Times New Roman"/>
                <a:cs typeface="Times New Roman"/>
              </a:rPr>
              <a:t>public</a:t>
            </a:r>
            <a:r>
              <a:rPr dirty="0" sz="1650" spc="420">
                <a:latin typeface="Times New Roman"/>
                <a:cs typeface="Times New Roman"/>
              </a:rPr>
              <a:t> </a:t>
            </a:r>
            <a:r>
              <a:rPr dirty="0" sz="1650">
                <a:latin typeface="Times New Roman"/>
                <a:cs typeface="Times New Roman"/>
              </a:rPr>
              <a:t>health</a:t>
            </a:r>
            <a:r>
              <a:rPr dirty="0" sz="1650" spc="430">
                <a:latin typeface="Times New Roman"/>
                <a:cs typeface="Times New Roman"/>
              </a:rPr>
              <a:t> </a:t>
            </a:r>
            <a:r>
              <a:rPr dirty="0" sz="1650">
                <a:latin typeface="Times New Roman"/>
                <a:cs typeface="Times New Roman"/>
              </a:rPr>
              <a:t>concern,</a:t>
            </a:r>
            <a:r>
              <a:rPr dirty="0" sz="1650" spc="425">
                <a:latin typeface="Times New Roman"/>
                <a:cs typeface="Times New Roman"/>
              </a:rPr>
              <a:t> </a:t>
            </a:r>
            <a:r>
              <a:rPr dirty="0" sz="1650">
                <a:latin typeface="Times New Roman"/>
                <a:cs typeface="Times New Roman"/>
              </a:rPr>
              <a:t>the</a:t>
            </a:r>
            <a:r>
              <a:rPr dirty="0" sz="1650" spc="425">
                <a:latin typeface="Times New Roman"/>
                <a:cs typeface="Times New Roman"/>
              </a:rPr>
              <a:t> </a:t>
            </a:r>
            <a:r>
              <a:rPr dirty="0" sz="1650">
                <a:latin typeface="Times New Roman"/>
                <a:cs typeface="Times New Roman"/>
              </a:rPr>
              <a:t>demand</a:t>
            </a:r>
            <a:r>
              <a:rPr dirty="0" sz="1650" spc="425">
                <a:latin typeface="Times New Roman"/>
                <a:cs typeface="Times New Roman"/>
              </a:rPr>
              <a:t> </a:t>
            </a:r>
            <a:r>
              <a:rPr dirty="0" sz="1650">
                <a:latin typeface="Times New Roman"/>
                <a:cs typeface="Times New Roman"/>
              </a:rPr>
              <a:t>for</a:t>
            </a:r>
            <a:r>
              <a:rPr dirty="0" sz="1650" spc="430">
                <a:latin typeface="Times New Roman"/>
                <a:cs typeface="Times New Roman"/>
              </a:rPr>
              <a:t> </a:t>
            </a:r>
            <a:r>
              <a:rPr dirty="0" sz="1650">
                <a:latin typeface="Times New Roman"/>
                <a:cs typeface="Times New Roman"/>
              </a:rPr>
              <a:t>rapid,</a:t>
            </a:r>
            <a:r>
              <a:rPr dirty="0" sz="1650" spc="425">
                <a:latin typeface="Times New Roman"/>
                <a:cs typeface="Times New Roman"/>
              </a:rPr>
              <a:t> </a:t>
            </a:r>
            <a:r>
              <a:rPr dirty="0" sz="1650">
                <a:latin typeface="Times New Roman"/>
                <a:cs typeface="Times New Roman"/>
              </a:rPr>
              <a:t>accurate,</a:t>
            </a:r>
            <a:r>
              <a:rPr dirty="0" sz="1650" spc="430">
                <a:latin typeface="Times New Roman"/>
                <a:cs typeface="Times New Roman"/>
              </a:rPr>
              <a:t> </a:t>
            </a:r>
            <a:r>
              <a:rPr dirty="0" sz="1650" spc="-25">
                <a:latin typeface="Times New Roman"/>
                <a:cs typeface="Times New Roman"/>
              </a:rPr>
              <a:t>and </a:t>
            </a:r>
            <a:r>
              <a:rPr dirty="0" sz="1650">
                <a:latin typeface="Times New Roman"/>
                <a:cs typeface="Times New Roman"/>
              </a:rPr>
              <a:t>convenient</a:t>
            </a:r>
            <a:r>
              <a:rPr dirty="0" sz="1650" spc="375">
                <a:latin typeface="Times New Roman"/>
                <a:cs typeface="Times New Roman"/>
              </a:rPr>
              <a:t> </a:t>
            </a:r>
            <a:r>
              <a:rPr dirty="0" sz="1650">
                <a:latin typeface="Times New Roman"/>
                <a:cs typeface="Times New Roman"/>
              </a:rPr>
              <a:t>diagnostic</a:t>
            </a:r>
            <a:r>
              <a:rPr dirty="0" sz="1650" spc="375">
                <a:latin typeface="Times New Roman"/>
                <a:cs typeface="Times New Roman"/>
              </a:rPr>
              <a:t> </a:t>
            </a:r>
            <a:r>
              <a:rPr dirty="0" sz="1650">
                <a:latin typeface="Times New Roman"/>
                <a:cs typeface="Times New Roman"/>
              </a:rPr>
              <a:t>tools</a:t>
            </a:r>
            <a:r>
              <a:rPr dirty="0" sz="1650" spc="375">
                <a:latin typeface="Times New Roman"/>
                <a:cs typeface="Times New Roman"/>
              </a:rPr>
              <a:t> </a:t>
            </a:r>
            <a:r>
              <a:rPr dirty="0" sz="1650">
                <a:latin typeface="Times New Roman"/>
                <a:cs typeface="Times New Roman"/>
              </a:rPr>
              <a:t>is</a:t>
            </a:r>
            <a:r>
              <a:rPr dirty="0" sz="1650" spc="375">
                <a:latin typeface="Times New Roman"/>
                <a:cs typeface="Times New Roman"/>
              </a:rPr>
              <a:t> </a:t>
            </a:r>
            <a:r>
              <a:rPr dirty="0" sz="1650">
                <a:latin typeface="Times New Roman"/>
                <a:cs typeface="Times New Roman"/>
              </a:rPr>
              <a:t>greater</a:t>
            </a:r>
            <a:r>
              <a:rPr dirty="0" sz="1650" spc="375">
                <a:latin typeface="Times New Roman"/>
                <a:cs typeface="Times New Roman"/>
              </a:rPr>
              <a:t> </a:t>
            </a:r>
            <a:r>
              <a:rPr dirty="0" sz="1650">
                <a:latin typeface="Times New Roman"/>
                <a:cs typeface="Times New Roman"/>
              </a:rPr>
              <a:t>than</a:t>
            </a:r>
            <a:r>
              <a:rPr dirty="0" sz="1650" spc="380">
                <a:latin typeface="Times New Roman"/>
                <a:cs typeface="Times New Roman"/>
              </a:rPr>
              <a:t> </a:t>
            </a:r>
            <a:r>
              <a:rPr dirty="0" sz="1650">
                <a:latin typeface="Times New Roman"/>
                <a:cs typeface="Times New Roman"/>
              </a:rPr>
              <a:t>ever.</a:t>
            </a:r>
            <a:r>
              <a:rPr dirty="0" sz="1650" spc="345">
                <a:latin typeface="Times New Roman"/>
                <a:cs typeface="Times New Roman"/>
              </a:rPr>
              <a:t> </a:t>
            </a:r>
            <a:r>
              <a:rPr dirty="0" sz="1650">
                <a:latin typeface="Times New Roman"/>
                <a:cs typeface="Times New Roman"/>
              </a:rPr>
              <a:t>This</a:t>
            </a:r>
            <a:r>
              <a:rPr dirty="0" sz="1650" spc="375">
                <a:latin typeface="Times New Roman"/>
                <a:cs typeface="Times New Roman"/>
              </a:rPr>
              <a:t> </a:t>
            </a:r>
            <a:r>
              <a:rPr dirty="0" sz="1650">
                <a:latin typeface="Times New Roman"/>
                <a:cs typeface="Times New Roman"/>
              </a:rPr>
              <a:t>paper</a:t>
            </a:r>
            <a:r>
              <a:rPr dirty="0" sz="1650" spc="375">
                <a:latin typeface="Times New Roman"/>
                <a:cs typeface="Times New Roman"/>
              </a:rPr>
              <a:t> </a:t>
            </a:r>
            <a:r>
              <a:rPr dirty="0" sz="1650">
                <a:latin typeface="Times New Roman"/>
                <a:cs typeface="Times New Roman"/>
              </a:rPr>
              <a:t>evaluates</a:t>
            </a:r>
            <a:r>
              <a:rPr dirty="0" sz="1650" spc="375">
                <a:latin typeface="Times New Roman"/>
                <a:cs typeface="Times New Roman"/>
              </a:rPr>
              <a:t> </a:t>
            </a:r>
            <a:r>
              <a:rPr dirty="0" sz="1650">
                <a:latin typeface="Times New Roman"/>
                <a:cs typeface="Times New Roman"/>
              </a:rPr>
              <a:t>the</a:t>
            </a:r>
            <a:r>
              <a:rPr dirty="0" sz="1650" spc="380">
                <a:latin typeface="Times New Roman"/>
                <a:cs typeface="Times New Roman"/>
              </a:rPr>
              <a:t> </a:t>
            </a:r>
            <a:r>
              <a:rPr dirty="0" sz="1650">
                <a:latin typeface="Times New Roman"/>
                <a:cs typeface="Times New Roman"/>
              </a:rPr>
              <a:t>deep</a:t>
            </a:r>
            <a:r>
              <a:rPr dirty="0" sz="1650" spc="375">
                <a:latin typeface="Times New Roman"/>
                <a:cs typeface="Times New Roman"/>
              </a:rPr>
              <a:t> </a:t>
            </a:r>
            <a:r>
              <a:rPr dirty="0" sz="1650">
                <a:latin typeface="Times New Roman"/>
                <a:cs typeface="Times New Roman"/>
              </a:rPr>
              <a:t>learning</a:t>
            </a:r>
            <a:r>
              <a:rPr dirty="0" sz="1650" spc="375">
                <a:latin typeface="Times New Roman"/>
                <a:cs typeface="Times New Roman"/>
              </a:rPr>
              <a:t> </a:t>
            </a:r>
            <a:r>
              <a:rPr dirty="0" sz="1650">
                <a:latin typeface="Times New Roman"/>
                <a:cs typeface="Times New Roman"/>
              </a:rPr>
              <a:t>methods</a:t>
            </a:r>
            <a:r>
              <a:rPr dirty="0" sz="1650" spc="375">
                <a:latin typeface="Times New Roman"/>
                <a:cs typeface="Times New Roman"/>
              </a:rPr>
              <a:t> </a:t>
            </a:r>
            <a:r>
              <a:rPr dirty="0" sz="1650">
                <a:latin typeface="Times New Roman"/>
                <a:cs typeface="Times New Roman"/>
              </a:rPr>
              <a:t>can</a:t>
            </a:r>
            <a:r>
              <a:rPr dirty="0" sz="1650" spc="375">
                <a:latin typeface="Times New Roman"/>
                <a:cs typeface="Times New Roman"/>
              </a:rPr>
              <a:t> </a:t>
            </a:r>
            <a:r>
              <a:rPr dirty="0" sz="1650">
                <a:latin typeface="Times New Roman"/>
                <a:cs typeface="Times New Roman"/>
              </a:rPr>
              <a:t>play</a:t>
            </a:r>
            <a:r>
              <a:rPr dirty="0" sz="1650" spc="380">
                <a:latin typeface="Times New Roman"/>
                <a:cs typeface="Times New Roman"/>
              </a:rPr>
              <a:t> </a:t>
            </a:r>
            <a:r>
              <a:rPr dirty="0" sz="1650" spc="-25">
                <a:latin typeface="Times New Roman"/>
                <a:cs typeface="Times New Roman"/>
              </a:rPr>
              <a:t>in </a:t>
            </a:r>
            <a:r>
              <a:rPr dirty="0" sz="1650">
                <a:latin typeface="Times New Roman"/>
                <a:cs typeface="Times New Roman"/>
              </a:rPr>
              <a:t>facilitating</a:t>
            </a:r>
            <a:r>
              <a:rPr dirty="0" sz="1650" spc="55">
                <a:latin typeface="Times New Roman"/>
                <a:cs typeface="Times New Roman"/>
              </a:rPr>
              <a:t>  </a:t>
            </a:r>
            <a:r>
              <a:rPr dirty="0" sz="1650">
                <a:latin typeface="Times New Roman"/>
                <a:cs typeface="Times New Roman"/>
              </a:rPr>
              <a:t>the</a:t>
            </a:r>
            <a:r>
              <a:rPr dirty="0" sz="1650" spc="50">
                <a:latin typeface="Times New Roman"/>
                <a:cs typeface="Times New Roman"/>
              </a:rPr>
              <a:t>  </a:t>
            </a:r>
            <a:r>
              <a:rPr dirty="0" sz="1650">
                <a:latin typeface="Times New Roman"/>
                <a:cs typeface="Times New Roman"/>
              </a:rPr>
              <a:t>early</a:t>
            </a:r>
            <a:r>
              <a:rPr dirty="0" sz="1650" spc="55">
                <a:latin typeface="Times New Roman"/>
                <a:cs typeface="Times New Roman"/>
              </a:rPr>
              <a:t>  </a:t>
            </a:r>
            <a:r>
              <a:rPr dirty="0" sz="1650">
                <a:latin typeface="Times New Roman"/>
                <a:cs typeface="Times New Roman"/>
              </a:rPr>
              <a:t>diagnosis</a:t>
            </a:r>
            <a:r>
              <a:rPr dirty="0" sz="1650" spc="55">
                <a:latin typeface="Times New Roman"/>
                <a:cs typeface="Times New Roman"/>
              </a:rPr>
              <a:t>  </a:t>
            </a:r>
            <a:r>
              <a:rPr dirty="0" sz="1650">
                <a:latin typeface="Times New Roman"/>
                <a:cs typeface="Times New Roman"/>
              </a:rPr>
              <a:t>of</a:t>
            </a:r>
            <a:r>
              <a:rPr dirty="0" sz="1650" spc="55">
                <a:latin typeface="Times New Roman"/>
                <a:cs typeface="Times New Roman"/>
              </a:rPr>
              <a:t>  </a:t>
            </a:r>
            <a:r>
              <a:rPr dirty="0" sz="1650">
                <a:latin typeface="Times New Roman"/>
                <a:cs typeface="Times New Roman"/>
              </a:rPr>
              <a:t>Monkeypox</a:t>
            </a:r>
            <a:r>
              <a:rPr dirty="0" sz="1650" spc="55">
                <a:latin typeface="Times New Roman"/>
                <a:cs typeface="Times New Roman"/>
              </a:rPr>
              <a:t>  </a:t>
            </a:r>
            <a:r>
              <a:rPr dirty="0" sz="1650">
                <a:latin typeface="Times New Roman"/>
                <a:cs typeface="Times New Roman"/>
              </a:rPr>
              <a:t>via</a:t>
            </a:r>
            <a:r>
              <a:rPr dirty="0" sz="1650" spc="55">
                <a:latin typeface="Times New Roman"/>
                <a:cs typeface="Times New Roman"/>
              </a:rPr>
              <a:t>  </a:t>
            </a:r>
            <a:r>
              <a:rPr dirty="0" sz="1650">
                <a:latin typeface="Times New Roman"/>
                <a:cs typeface="Times New Roman"/>
              </a:rPr>
              <a:t>skin</a:t>
            </a:r>
            <a:r>
              <a:rPr dirty="0" sz="1650" spc="55">
                <a:latin typeface="Times New Roman"/>
                <a:cs typeface="Times New Roman"/>
              </a:rPr>
              <a:t>  </a:t>
            </a:r>
            <a:r>
              <a:rPr dirty="0" sz="1650">
                <a:latin typeface="Times New Roman"/>
                <a:cs typeface="Times New Roman"/>
              </a:rPr>
              <a:t>lesion</a:t>
            </a:r>
            <a:r>
              <a:rPr dirty="0" sz="1650" spc="55">
                <a:latin typeface="Times New Roman"/>
                <a:cs typeface="Times New Roman"/>
              </a:rPr>
              <a:t>  </a:t>
            </a:r>
            <a:r>
              <a:rPr dirty="0" sz="1650">
                <a:latin typeface="Times New Roman"/>
                <a:cs typeface="Times New Roman"/>
              </a:rPr>
              <a:t>image</a:t>
            </a:r>
            <a:r>
              <a:rPr dirty="0" sz="1650" spc="55">
                <a:latin typeface="Times New Roman"/>
                <a:cs typeface="Times New Roman"/>
              </a:rPr>
              <a:t>  </a:t>
            </a:r>
            <a:r>
              <a:rPr dirty="0" sz="1650">
                <a:latin typeface="Times New Roman"/>
                <a:cs typeface="Times New Roman"/>
              </a:rPr>
              <a:t>analysis.</a:t>
            </a:r>
            <a:r>
              <a:rPr dirty="0" sz="1650" spc="495">
                <a:latin typeface="Times New Roman"/>
                <a:cs typeface="Times New Roman"/>
              </a:rPr>
              <a:t> </a:t>
            </a:r>
            <a:r>
              <a:rPr dirty="0" sz="1650">
                <a:latin typeface="Times New Roman"/>
                <a:cs typeface="Times New Roman"/>
              </a:rPr>
              <a:t>We</a:t>
            </a:r>
            <a:r>
              <a:rPr dirty="0" sz="1650" spc="50">
                <a:latin typeface="Times New Roman"/>
                <a:cs typeface="Times New Roman"/>
              </a:rPr>
              <a:t>  </a:t>
            </a:r>
            <a:r>
              <a:rPr dirty="0" sz="1650">
                <a:latin typeface="Times New Roman"/>
                <a:cs typeface="Times New Roman"/>
              </a:rPr>
              <a:t>fine-tuned</a:t>
            </a:r>
            <a:r>
              <a:rPr dirty="0" sz="1650" spc="55">
                <a:latin typeface="Times New Roman"/>
                <a:cs typeface="Times New Roman"/>
              </a:rPr>
              <a:t>  </a:t>
            </a:r>
            <a:r>
              <a:rPr dirty="0" sz="1650">
                <a:latin typeface="Times New Roman"/>
                <a:cs typeface="Times New Roman"/>
              </a:rPr>
              <a:t>three</a:t>
            </a:r>
            <a:r>
              <a:rPr dirty="0" sz="1650" spc="55">
                <a:latin typeface="Times New Roman"/>
                <a:cs typeface="Times New Roman"/>
              </a:rPr>
              <a:t>  </a:t>
            </a:r>
            <a:r>
              <a:rPr dirty="0" sz="1650" spc="-10">
                <a:latin typeface="Times New Roman"/>
                <a:cs typeface="Times New Roman"/>
              </a:rPr>
              <a:t>popular </a:t>
            </a:r>
            <a:r>
              <a:rPr dirty="0" sz="1650">
                <a:latin typeface="Times New Roman"/>
                <a:cs typeface="Times New Roman"/>
              </a:rPr>
              <a:t>convolutional</a:t>
            </a:r>
            <a:r>
              <a:rPr dirty="0" sz="1650" spc="400">
                <a:latin typeface="Times New Roman"/>
                <a:cs typeface="Times New Roman"/>
              </a:rPr>
              <a:t> </a:t>
            </a:r>
            <a:r>
              <a:rPr dirty="0" sz="1650">
                <a:latin typeface="Times New Roman"/>
                <a:cs typeface="Times New Roman"/>
              </a:rPr>
              <a:t>neural</a:t>
            </a:r>
            <a:r>
              <a:rPr dirty="0" sz="1650" spc="405">
                <a:latin typeface="Times New Roman"/>
                <a:cs typeface="Times New Roman"/>
              </a:rPr>
              <a:t> </a:t>
            </a:r>
            <a:r>
              <a:rPr dirty="0" sz="1650">
                <a:latin typeface="Times New Roman"/>
                <a:cs typeface="Times New Roman"/>
              </a:rPr>
              <a:t>network</a:t>
            </a:r>
            <a:r>
              <a:rPr dirty="0" sz="1650" spc="405">
                <a:latin typeface="Times New Roman"/>
                <a:cs typeface="Times New Roman"/>
              </a:rPr>
              <a:t> </a:t>
            </a:r>
            <a:r>
              <a:rPr dirty="0" sz="1650">
                <a:latin typeface="Times New Roman"/>
                <a:cs typeface="Times New Roman"/>
              </a:rPr>
              <a:t>(CNN)</a:t>
            </a:r>
            <a:r>
              <a:rPr dirty="0" sz="1650" spc="405">
                <a:latin typeface="Times New Roman"/>
                <a:cs typeface="Times New Roman"/>
              </a:rPr>
              <a:t> </a:t>
            </a:r>
            <a:r>
              <a:rPr dirty="0" sz="1650">
                <a:latin typeface="Times New Roman"/>
                <a:cs typeface="Times New Roman"/>
              </a:rPr>
              <a:t>models—</a:t>
            </a:r>
            <a:r>
              <a:rPr dirty="0" sz="1650" spc="-10">
                <a:latin typeface="Times New Roman"/>
                <a:cs typeface="Times New Roman"/>
              </a:rPr>
              <a:t>EfficientNetV2-</a:t>
            </a:r>
            <a:r>
              <a:rPr dirty="0" sz="1650">
                <a:latin typeface="Times New Roman"/>
                <a:cs typeface="Times New Roman"/>
              </a:rPr>
              <a:t>S,</a:t>
            </a:r>
            <a:r>
              <a:rPr dirty="0" sz="1650" spc="400">
                <a:latin typeface="Times New Roman"/>
                <a:cs typeface="Times New Roman"/>
              </a:rPr>
              <a:t> </a:t>
            </a:r>
            <a:r>
              <a:rPr dirty="0" sz="1650">
                <a:latin typeface="Times New Roman"/>
                <a:cs typeface="Times New Roman"/>
              </a:rPr>
              <a:t>DenseNet121,</a:t>
            </a:r>
            <a:r>
              <a:rPr dirty="0" sz="1650" spc="405">
                <a:latin typeface="Times New Roman"/>
                <a:cs typeface="Times New Roman"/>
              </a:rPr>
              <a:t> </a:t>
            </a:r>
            <a:r>
              <a:rPr dirty="0" sz="1650">
                <a:latin typeface="Times New Roman"/>
                <a:cs typeface="Times New Roman"/>
              </a:rPr>
              <a:t>and</a:t>
            </a:r>
            <a:r>
              <a:rPr dirty="0" sz="1650" spc="405">
                <a:latin typeface="Times New Roman"/>
                <a:cs typeface="Times New Roman"/>
              </a:rPr>
              <a:t> </a:t>
            </a:r>
            <a:r>
              <a:rPr dirty="0" sz="1650">
                <a:latin typeface="Times New Roman"/>
                <a:cs typeface="Times New Roman"/>
              </a:rPr>
              <a:t>InceptionV3—on</a:t>
            </a:r>
            <a:r>
              <a:rPr dirty="0" sz="1650" spc="405">
                <a:latin typeface="Times New Roman"/>
                <a:cs typeface="Times New Roman"/>
              </a:rPr>
              <a:t> </a:t>
            </a:r>
            <a:r>
              <a:rPr dirty="0" sz="1650">
                <a:latin typeface="Times New Roman"/>
                <a:cs typeface="Times New Roman"/>
              </a:rPr>
              <a:t>a</a:t>
            </a:r>
            <a:r>
              <a:rPr dirty="0" sz="1650" spc="405">
                <a:latin typeface="Times New Roman"/>
                <a:cs typeface="Times New Roman"/>
              </a:rPr>
              <a:t> </a:t>
            </a:r>
            <a:r>
              <a:rPr dirty="0" sz="1650" spc="-10">
                <a:latin typeface="Times New Roman"/>
                <a:cs typeface="Times New Roman"/>
              </a:rPr>
              <a:t>binary </a:t>
            </a:r>
            <a:r>
              <a:rPr dirty="0" sz="1650">
                <a:latin typeface="Times New Roman"/>
                <a:cs typeface="Times New Roman"/>
              </a:rPr>
              <a:t>classification</a:t>
            </a:r>
            <a:r>
              <a:rPr dirty="0" sz="1650" spc="65">
                <a:latin typeface="Times New Roman"/>
                <a:cs typeface="Times New Roman"/>
              </a:rPr>
              <a:t> </a:t>
            </a:r>
            <a:r>
              <a:rPr dirty="0" sz="1650">
                <a:latin typeface="Times New Roman"/>
                <a:cs typeface="Times New Roman"/>
              </a:rPr>
              <a:t>dataset</a:t>
            </a:r>
            <a:r>
              <a:rPr dirty="0" sz="1650" spc="65">
                <a:latin typeface="Times New Roman"/>
                <a:cs typeface="Times New Roman"/>
              </a:rPr>
              <a:t> </a:t>
            </a:r>
            <a:r>
              <a:rPr dirty="0" sz="1650">
                <a:latin typeface="Times New Roman"/>
                <a:cs typeface="Times New Roman"/>
              </a:rPr>
              <a:t>of</a:t>
            </a:r>
            <a:r>
              <a:rPr dirty="0" sz="1650" spc="65">
                <a:latin typeface="Times New Roman"/>
                <a:cs typeface="Times New Roman"/>
              </a:rPr>
              <a:t> </a:t>
            </a:r>
            <a:r>
              <a:rPr dirty="0" sz="1650">
                <a:latin typeface="Times New Roman"/>
                <a:cs typeface="Times New Roman"/>
              </a:rPr>
              <a:t>Monkeypox</a:t>
            </a:r>
            <a:r>
              <a:rPr dirty="0" sz="1650" spc="65">
                <a:latin typeface="Times New Roman"/>
                <a:cs typeface="Times New Roman"/>
              </a:rPr>
              <a:t> </a:t>
            </a:r>
            <a:r>
              <a:rPr dirty="0" sz="1650">
                <a:latin typeface="Times New Roman"/>
                <a:cs typeface="Times New Roman"/>
              </a:rPr>
              <a:t>and</a:t>
            </a:r>
            <a:r>
              <a:rPr dirty="0" sz="1650" spc="65">
                <a:latin typeface="Times New Roman"/>
                <a:cs typeface="Times New Roman"/>
              </a:rPr>
              <a:t> </a:t>
            </a:r>
            <a:r>
              <a:rPr dirty="0" sz="1650">
                <a:latin typeface="Times New Roman"/>
                <a:cs typeface="Times New Roman"/>
              </a:rPr>
              <a:t>normal</a:t>
            </a:r>
            <a:r>
              <a:rPr dirty="0" sz="1650" spc="70">
                <a:latin typeface="Times New Roman"/>
                <a:cs typeface="Times New Roman"/>
              </a:rPr>
              <a:t> </a:t>
            </a:r>
            <a:r>
              <a:rPr dirty="0" sz="1650">
                <a:latin typeface="Times New Roman"/>
                <a:cs typeface="Times New Roman"/>
              </a:rPr>
              <a:t>skin</a:t>
            </a:r>
            <a:r>
              <a:rPr dirty="0" sz="1650" spc="65">
                <a:latin typeface="Times New Roman"/>
                <a:cs typeface="Times New Roman"/>
              </a:rPr>
              <a:t> </a:t>
            </a:r>
            <a:r>
              <a:rPr dirty="0" sz="1650">
                <a:latin typeface="Times New Roman"/>
                <a:cs typeface="Times New Roman"/>
              </a:rPr>
              <a:t>images.</a:t>
            </a:r>
            <a:r>
              <a:rPr dirty="0" sz="1650" spc="35">
                <a:latin typeface="Times New Roman"/>
                <a:cs typeface="Times New Roman"/>
              </a:rPr>
              <a:t> </a:t>
            </a:r>
            <a:r>
              <a:rPr dirty="0" sz="1650">
                <a:latin typeface="Times New Roman"/>
                <a:cs typeface="Times New Roman"/>
              </a:rPr>
              <a:t>To</a:t>
            </a:r>
            <a:r>
              <a:rPr dirty="0" sz="1650" spc="65">
                <a:latin typeface="Times New Roman"/>
                <a:cs typeface="Times New Roman"/>
              </a:rPr>
              <a:t> </a:t>
            </a:r>
            <a:r>
              <a:rPr dirty="0" sz="1650">
                <a:latin typeface="Times New Roman"/>
                <a:cs typeface="Times New Roman"/>
              </a:rPr>
              <a:t>enhance</a:t>
            </a:r>
            <a:r>
              <a:rPr dirty="0" sz="1650" spc="70">
                <a:latin typeface="Times New Roman"/>
                <a:cs typeface="Times New Roman"/>
              </a:rPr>
              <a:t> </a:t>
            </a:r>
            <a:r>
              <a:rPr dirty="0" sz="1650">
                <a:latin typeface="Times New Roman"/>
                <a:cs typeface="Times New Roman"/>
              </a:rPr>
              <a:t>generalization</a:t>
            </a:r>
            <a:r>
              <a:rPr dirty="0" sz="1650" spc="65">
                <a:latin typeface="Times New Roman"/>
                <a:cs typeface="Times New Roman"/>
              </a:rPr>
              <a:t> </a:t>
            </a:r>
            <a:r>
              <a:rPr dirty="0" sz="1650">
                <a:latin typeface="Times New Roman"/>
                <a:cs typeface="Times New Roman"/>
              </a:rPr>
              <a:t>of</a:t>
            </a:r>
            <a:r>
              <a:rPr dirty="0" sz="1650" spc="65">
                <a:latin typeface="Times New Roman"/>
                <a:cs typeface="Times New Roman"/>
              </a:rPr>
              <a:t> </a:t>
            </a:r>
            <a:r>
              <a:rPr dirty="0" sz="1650">
                <a:latin typeface="Times New Roman"/>
                <a:cs typeface="Times New Roman"/>
              </a:rPr>
              <a:t>models,</a:t>
            </a:r>
            <a:r>
              <a:rPr dirty="0" sz="1650" spc="65">
                <a:latin typeface="Times New Roman"/>
                <a:cs typeface="Times New Roman"/>
              </a:rPr>
              <a:t> </a:t>
            </a:r>
            <a:r>
              <a:rPr dirty="0" sz="1650">
                <a:latin typeface="Times New Roman"/>
                <a:cs typeface="Times New Roman"/>
              </a:rPr>
              <a:t>we</a:t>
            </a:r>
            <a:r>
              <a:rPr dirty="0" sz="1650" spc="65">
                <a:latin typeface="Times New Roman"/>
                <a:cs typeface="Times New Roman"/>
              </a:rPr>
              <a:t> </a:t>
            </a:r>
            <a:r>
              <a:rPr dirty="0" sz="1650">
                <a:latin typeface="Times New Roman"/>
                <a:cs typeface="Times New Roman"/>
              </a:rPr>
              <a:t>employed</a:t>
            </a:r>
            <a:r>
              <a:rPr dirty="0" sz="1650" spc="70">
                <a:latin typeface="Times New Roman"/>
                <a:cs typeface="Times New Roman"/>
              </a:rPr>
              <a:t> </a:t>
            </a:r>
            <a:r>
              <a:rPr dirty="0" sz="1650" spc="-50">
                <a:latin typeface="Times New Roman"/>
                <a:cs typeface="Times New Roman"/>
              </a:rPr>
              <a:t>a </a:t>
            </a:r>
            <a:r>
              <a:rPr dirty="0" sz="1650">
                <a:latin typeface="Times New Roman"/>
                <a:cs typeface="Times New Roman"/>
              </a:rPr>
              <a:t>variety</a:t>
            </a:r>
            <a:r>
              <a:rPr dirty="0" sz="1650" spc="-25">
                <a:latin typeface="Times New Roman"/>
                <a:cs typeface="Times New Roman"/>
              </a:rPr>
              <a:t> </a:t>
            </a:r>
            <a:r>
              <a:rPr dirty="0" sz="1650">
                <a:latin typeface="Times New Roman"/>
                <a:cs typeface="Times New Roman"/>
              </a:rPr>
              <a:t>of</a:t>
            </a:r>
            <a:r>
              <a:rPr dirty="0" sz="1650" spc="-10">
                <a:latin typeface="Times New Roman"/>
                <a:cs typeface="Times New Roman"/>
              </a:rPr>
              <a:t> </a:t>
            </a:r>
            <a:r>
              <a:rPr dirty="0" sz="1650">
                <a:latin typeface="Times New Roman"/>
                <a:cs typeface="Times New Roman"/>
              </a:rPr>
              <a:t>data</a:t>
            </a:r>
            <a:r>
              <a:rPr dirty="0" sz="1650" spc="-15">
                <a:latin typeface="Times New Roman"/>
                <a:cs typeface="Times New Roman"/>
              </a:rPr>
              <a:t> </a:t>
            </a:r>
            <a:r>
              <a:rPr dirty="0" sz="1650">
                <a:latin typeface="Times New Roman"/>
                <a:cs typeface="Times New Roman"/>
              </a:rPr>
              <a:t>augmentation</a:t>
            </a:r>
            <a:r>
              <a:rPr dirty="0" sz="1650" spc="-10">
                <a:latin typeface="Times New Roman"/>
                <a:cs typeface="Times New Roman"/>
              </a:rPr>
              <a:t> </a:t>
            </a:r>
            <a:r>
              <a:rPr dirty="0" sz="1650">
                <a:latin typeface="Times New Roman"/>
                <a:cs typeface="Times New Roman"/>
              </a:rPr>
              <a:t>techniques</a:t>
            </a:r>
            <a:r>
              <a:rPr dirty="0" sz="1650" spc="-15">
                <a:latin typeface="Times New Roman"/>
                <a:cs typeface="Times New Roman"/>
              </a:rPr>
              <a:t> </a:t>
            </a:r>
            <a:r>
              <a:rPr dirty="0" sz="1650">
                <a:latin typeface="Times New Roman"/>
                <a:cs typeface="Times New Roman"/>
              </a:rPr>
              <a:t>while</a:t>
            </a:r>
            <a:r>
              <a:rPr dirty="0" sz="1650" spc="-10">
                <a:latin typeface="Times New Roman"/>
                <a:cs typeface="Times New Roman"/>
              </a:rPr>
              <a:t> </a:t>
            </a:r>
            <a:r>
              <a:rPr dirty="0" sz="1650">
                <a:latin typeface="Times New Roman"/>
                <a:cs typeface="Times New Roman"/>
              </a:rPr>
              <a:t>training.</a:t>
            </a:r>
            <a:r>
              <a:rPr dirty="0" sz="1650" spc="-15">
                <a:latin typeface="Times New Roman"/>
                <a:cs typeface="Times New Roman"/>
              </a:rPr>
              <a:t> </a:t>
            </a:r>
            <a:r>
              <a:rPr dirty="0" sz="1650">
                <a:latin typeface="Times New Roman"/>
                <a:cs typeface="Times New Roman"/>
              </a:rPr>
              <a:t>Further,</a:t>
            </a:r>
            <a:r>
              <a:rPr dirty="0" sz="1650" spc="-10">
                <a:latin typeface="Times New Roman"/>
                <a:cs typeface="Times New Roman"/>
              </a:rPr>
              <a:t> </a:t>
            </a:r>
            <a:r>
              <a:rPr dirty="0" sz="1650">
                <a:latin typeface="Times New Roman"/>
                <a:cs typeface="Times New Roman"/>
              </a:rPr>
              <a:t>to</a:t>
            </a:r>
            <a:r>
              <a:rPr dirty="0" sz="1650" spc="-15">
                <a:latin typeface="Times New Roman"/>
                <a:cs typeface="Times New Roman"/>
              </a:rPr>
              <a:t> </a:t>
            </a:r>
            <a:r>
              <a:rPr dirty="0" sz="1650">
                <a:latin typeface="Times New Roman"/>
                <a:cs typeface="Times New Roman"/>
              </a:rPr>
              <a:t>provide</a:t>
            </a:r>
            <a:r>
              <a:rPr dirty="0" sz="1650" spc="-10">
                <a:latin typeface="Times New Roman"/>
                <a:cs typeface="Times New Roman"/>
              </a:rPr>
              <a:t> </a:t>
            </a:r>
            <a:r>
              <a:rPr dirty="0" sz="1650">
                <a:latin typeface="Times New Roman"/>
                <a:cs typeface="Times New Roman"/>
              </a:rPr>
              <a:t>insight</a:t>
            </a:r>
            <a:r>
              <a:rPr dirty="0" sz="1650" spc="-15">
                <a:latin typeface="Times New Roman"/>
                <a:cs typeface="Times New Roman"/>
              </a:rPr>
              <a:t> </a:t>
            </a:r>
            <a:r>
              <a:rPr dirty="0" sz="1650">
                <a:latin typeface="Times New Roman"/>
                <a:cs typeface="Times New Roman"/>
              </a:rPr>
              <a:t>into</a:t>
            </a:r>
            <a:r>
              <a:rPr dirty="0" sz="1650" spc="-10">
                <a:latin typeface="Times New Roman"/>
                <a:cs typeface="Times New Roman"/>
              </a:rPr>
              <a:t> </a:t>
            </a:r>
            <a:r>
              <a:rPr dirty="0" sz="1650">
                <a:latin typeface="Times New Roman"/>
                <a:cs typeface="Times New Roman"/>
              </a:rPr>
              <a:t>the</a:t>
            </a:r>
            <a:r>
              <a:rPr dirty="0" sz="1650" spc="-15">
                <a:latin typeface="Times New Roman"/>
                <a:cs typeface="Times New Roman"/>
              </a:rPr>
              <a:t> </a:t>
            </a:r>
            <a:r>
              <a:rPr dirty="0" sz="1650">
                <a:latin typeface="Times New Roman"/>
                <a:cs typeface="Times New Roman"/>
              </a:rPr>
              <a:t>predictions</a:t>
            </a:r>
            <a:r>
              <a:rPr dirty="0" sz="1650" spc="-10">
                <a:latin typeface="Times New Roman"/>
                <a:cs typeface="Times New Roman"/>
              </a:rPr>
              <a:t> </a:t>
            </a:r>
            <a:r>
              <a:rPr dirty="0" sz="1650">
                <a:latin typeface="Times New Roman"/>
                <a:cs typeface="Times New Roman"/>
              </a:rPr>
              <a:t>of</a:t>
            </a:r>
            <a:r>
              <a:rPr dirty="0" sz="1650" spc="-15">
                <a:latin typeface="Times New Roman"/>
                <a:cs typeface="Times New Roman"/>
              </a:rPr>
              <a:t> </a:t>
            </a:r>
            <a:r>
              <a:rPr dirty="0" sz="1650">
                <a:latin typeface="Times New Roman"/>
                <a:cs typeface="Times New Roman"/>
              </a:rPr>
              <a:t>the</a:t>
            </a:r>
            <a:r>
              <a:rPr dirty="0" sz="1650" spc="-10">
                <a:latin typeface="Times New Roman"/>
                <a:cs typeface="Times New Roman"/>
              </a:rPr>
              <a:t> models, </a:t>
            </a:r>
            <a:r>
              <a:rPr dirty="0" sz="1650">
                <a:latin typeface="Times New Roman"/>
                <a:cs typeface="Times New Roman"/>
              </a:rPr>
              <a:t>we</a:t>
            </a:r>
            <a:r>
              <a:rPr dirty="0" sz="1650" spc="290">
                <a:latin typeface="Times New Roman"/>
                <a:cs typeface="Times New Roman"/>
              </a:rPr>
              <a:t> </a:t>
            </a:r>
            <a:r>
              <a:rPr dirty="0" sz="1650">
                <a:latin typeface="Times New Roman"/>
                <a:cs typeface="Times New Roman"/>
              </a:rPr>
              <a:t>employed</a:t>
            </a:r>
            <a:r>
              <a:rPr dirty="0" sz="1650" spc="290">
                <a:latin typeface="Times New Roman"/>
                <a:cs typeface="Times New Roman"/>
              </a:rPr>
              <a:t> </a:t>
            </a:r>
            <a:r>
              <a:rPr dirty="0" sz="1650">
                <a:latin typeface="Times New Roman"/>
                <a:cs typeface="Times New Roman"/>
              </a:rPr>
              <a:t>LIME</a:t>
            </a:r>
            <a:r>
              <a:rPr dirty="0" sz="1650" spc="290">
                <a:latin typeface="Times New Roman"/>
                <a:cs typeface="Times New Roman"/>
              </a:rPr>
              <a:t> </a:t>
            </a:r>
            <a:r>
              <a:rPr dirty="0" sz="1650">
                <a:latin typeface="Times New Roman"/>
                <a:cs typeface="Times New Roman"/>
              </a:rPr>
              <a:t>to</a:t>
            </a:r>
            <a:r>
              <a:rPr dirty="0" sz="1650" spc="295">
                <a:latin typeface="Times New Roman"/>
                <a:cs typeface="Times New Roman"/>
              </a:rPr>
              <a:t> </a:t>
            </a:r>
            <a:r>
              <a:rPr dirty="0" sz="1650">
                <a:latin typeface="Times New Roman"/>
                <a:cs typeface="Times New Roman"/>
              </a:rPr>
              <a:t>plot</a:t>
            </a:r>
            <a:r>
              <a:rPr dirty="0" sz="1650" spc="290">
                <a:latin typeface="Times New Roman"/>
                <a:cs typeface="Times New Roman"/>
              </a:rPr>
              <a:t> </a:t>
            </a:r>
            <a:r>
              <a:rPr dirty="0" sz="1650">
                <a:latin typeface="Times New Roman"/>
                <a:cs typeface="Times New Roman"/>
              </a:rPr>
              <a:t>the</a:t>
            </a:r>
            <a:r>
              <a:rPr dirty="0" sz="1650" spc="290">
                <a:latin typeface="Times New Roman"/>
                <a:cs typeface="Times New Roman"/>
              </a:rPr>
              <a:t> </a:t>
            </a:r>
            <a:r>
              <a:rPr dirty="0" sz="1650">
                <a:latin typeface="Times New Roman"/>
                <a:cs typeface="Times New Roman"/>
              </a:rPr>
              <a:t>most</a:t>
            </a:r>
            <a:r>
              <a:rPr dirty="0" sz="1650" spc="295">
                <a:latin typeface="Times New Roman"/>
                <a:cs typeface="Times New Roman"/>
              </a:rPr>
              <a:t> </a:t>
            </a:r>
            <a:r>
              <a:rPr dirty="0" sz="1650">
                <a:latin typeface="Times New Roman"/>
                <a:cs typeface="Times New Roman"/>
              </a:rPr>
              <a:t>mandatory</a:t>
            </a:r>
            <a:r>
              <a:rPr dirty="0" sz="1650" spc="290">
                <a:latin typeface="Times New Roman"/>
                <a:cs typeface="Times New Roman"/>
              </a:rPr>
              <a:t> </a:t>
            </a:r>
            <a:r>
              <a:rPr dirty="0" sz="1650">
                <a:latin typeface="Times New Roman"/>
                <a:cs typeface="Times New Roman"/>
              </a:rPr>
              <a:t>regions</a:t>
            </a:r>
            <a:r>
              <a:rPr dirty="0" sz="1650" spc="290">
                <a:latin typeface="Times New Roman"/>
                <a:cs typeface="Times New Roman"/>
              </a:rPr>
              <a:t> </a:t>
            </a:r>
            <a:r>
              <a:rPr dirty="0" sz="1650">
                <a:latin typeface="Times New Roman"/>
                <a:cs typeface="Times New Roman"/>
              </a:rPr>
              <a:t>of</a:t>
            </a:r>
            <a:r>
              <a:rPr dirty="0" sz="1650" spc="295">
                <a:latin typeface="Times New Roman"/>
                <a:cs typeface="Times New Roman"/>
              </a:rPr>
              <a:t> </a:t>
            </a:r>
            <a:r>
              <a:rPr dirty="0" sz="1650">
                <a:latin typeface="Times New Roman"/>
                <a:cs typeface="Times New Roman"/>
              </a:rPr>
              <a:t>the</a:t>
            </a:r>
            <a:r>
              <a:rPr dirty="0" sz="1650" spc="290">
                <a:latin typeface="Times New Roman"/>
                <a:cs typeface="Times New Roman"/>
              </a:rPr>
              <a:t> </a:t>
            </a:r>
            <a:r>
              <a:rPr dirty="0" sz="1650">
                <a:latin typeface="Times New Roman"/>
                <a:cs typeface="Times New Roman"/>
              </a:rPr>
              <a:t>images</a:t>
            </a:r>
            <a:r>
              <a:rPr dirty="0" sz="1650" spc="290">
                <a:latin typeface="Times New Roman"/>
                <a:cs typeface="Times New Roman"/>
              </a:rPr>
              <a:t> </a:t>
            </a:r>
            <a:r>
              <a:rPr dirty="0" sz="1650">
                <a:latin typeface="Times New Roman"/>
                <a:cs typeface="Times New Roman"/>
              </a:rPr>
              <a:t>that</a:t>
            </a:r>
            <a:r>
              <a:rPr dirty="0" sz="1650" spc="290">
                <a:latin typeface="Times New Roman"/>
                <a:cs typeface="Times New Roman"/>
              </a:rPr>
              <a:t> </a:t>
            </a:r>
            <a:r>
              <a:rPr dirty="0" sz="1650">
                <a:latin typeface="Times New Roman"/>
                <a:cs typeface="Times New Roman"/>
              </a:rPr>
              <a:t>can</a:t>
            </a:r>
            <a:r>
              <a:rPr dirty="0" sz="1650" spc="295">
                <a:latin typeface="Times New Roman"/>
                <a:cs typeface="Times New Roman"/>
              </a:rPr>
              <a:t> </a:t>
            </a:r>
            <a:r>
              <a:rPr dirty="0" sz="1650">
                <a:latin typeface="Times New Roman"/>
                <a:cs typeface="Times New Roman"/>
              </a:rPr>
              <a:t>be</a:t>
            </a:r>
            <a:r>
              <a:rPr dirty="0" sz="1650" spc="290">
                <a:latin typeface="Times New Roman"/>
                <a:cs typeface="Times New Roman"/>
              </a:rPr>
              <a:t> </a:t>
            </a:r>
            <a:r>
              <a:rPr dirty="0" sz="1650">
                <a:latin typeface="Times New Roman"/>
                <a:cs typeface="Times New Roman"/>
              </a:rPr>
              <a:t>used</a:t>
            </a:r>
            <a:r>
              <a:rPr dirty="0" sz="1650" spc="290">
                <a:latin typeface="Times New Roman"/>
                <a:cs typeface="Times New Roman"/>
              </a:rPr>
              <a:t> </a:t>
            </a:r>
            <a:r>
              <a:rPr dirty="0" sz="1650">
                <a:latin typeface="Times New Roman"/>
                <a:cs typeface="Times New Roman"/>
              </a:rPr>
              <a:t>to</a:t>
            </a:r>
            <a:r>
              <a:rPr dirty="0" sz="1650" spc="295">
                <a:latin typeface="Times New Roman"/>
                <a:cs typeface="Times New Roman"/>
              </a:rPr>
              <a:t> </a:t>
            </a:r>
            <a:r>
              <a:rPr dirty="0" sz="1650">
                <a:latin typeface="Times New Roman"/>
                <a:cs typeface="Times New Roman"/>
              </a:rPr>
              <a:t>give</a:t>
            </a:r>
            <a:r>
              <a:rPr dirty="0" sz="1650" spc="290">
                <a:latin typeface="Times New Roman"/>
                <a:cs typeface="Times New Roman"/>
              </a:rPr>
              <a:t> </a:t>
            </a:r>
            <a:r>
              <a:rPr dirty="0" sz="1650">
                <a:latin typeface="Times New Roman"/>
                <a:cs typeface="Times New Roman"/>
              </a:rPr>
              <a:t>to</a:t>
            </a:r>
            <a:r>
              <a:rPr dirty="0" sz="1650" spc="290">
                <a:latin typeface="Times New Roman"/>
                <a:cs typeface="Times New Roman"/>
              </a:rPr>
              <a:t> </a:t>
            </a:r>
            <a:r>
              <a:rPr dirty="0" sz="1650">
                <a:latin typeface="Times New Roman"/>
                <a:cs typeface="Times New Roman"/>
              </a:rPr>
              <a:t>the</a:t>
            </a:r>
            <a:r>
              <a:rPr dirty="0" sz="1650" spc="295">
                <a:latin typeface="Times New Roman"/>
                <a:cs typeface="Times New Roman"/>
              </a:rPr>
              <a:t> </a:t>
            </a:r>
            <a:r>
              <a:rPr dirty="0" sz="1650" spc="-10">
                <a:latin typeface="Times New Roman"/>
                <a:cs typeface="Times New Roman"/>
              </a:rPr>
              <a:t>output. </a:t>
            </a:r>
            <a:r>
              <a:rPr dirty="0" sz="1650">
                <a:latin typeface="Times New Roman"/>
                <a:cs typeface="Times New Roman"/>
              </a:rPr>
              <a:t>InceptionV3</a:t>
            </a:r>
            <a:r>
              <a:rPr dirty="0" sz="1650" spc="40">
                <a:latin typeface="Times New Roman"/>
                <a:cs typeface="Times New Roman"/>
              </a:rPr>
              <a:t> </a:t>
            </a:r>
            <a:r>
              <a:rPr dirty="0" sz="1650">
                <a:latin typeface="Times New Roman"/>
                <a:cs typeface="Times New Roman"/>
              </a:rPr>
              <a:t>showed</a:t>
            </a:r>
            <a:r>
              <a:rPr dirty="0" sz="1650" spc="40">
                <a:latin typeface="Times New Roman"/>
                <a:cs typeface="Times New Roman"/>
              </a:rPr>
              <a:t> </a:t>
            </a:r>
            <a:r>
              <a:rPr dirty="0" sz="1650">
                <a:latin typeface="Times New Roman"/>
                <a:cs typeface="Times New Roman"/>
              </a:rPr>
              <a:t>the</a:t>
            </a:r>
            <a:r>
              <a:rPr dirty="0" sz="1650" spc="45">
                <a:latin typeface="Times New Roman"/>
                <a:cs typeface="Times New Roman"/>
              </a:rPr>
              <a:t> </a:t>
            </a:r>
            <a:r>
              <a:rPr dirty="0" sz="1650">
                <a:latin typeface="Times New Roman"/>
                <a:cs typeface="Times New Roman"/>
              </a:rPr>
              <a:t>best</a:t>
            </a:r>
            <a:r>
              <a:rPr dirty="0" sz="1650" spc="40">
                <a:latin typeface="Times New Roman"/>
                <a:cs typeface="Times New Roman"/>
              </a:rPr>
              <a:t> </a:t>
            </a:r>
            <a:r>
              <a:rPr dirty="0" sz="1650">
                <a:latin typeface="Times New Roman"/>
                <a:cs typeface="Times New Roman"/>
              </a:rPr>
              <a:t>accuracy</a:t>
            </a:r>
            <a:r>
              <a:rPr dirty="0" sz="1650" spc="45">
                <a:latin typeface="Times New Roman"/>
                <a:cs typeface="Times New Roman"/>
              </a:rPr>
              <a:t> </a:t>
            </a:r>
            <a:r>
              <a:rPr dirty="0" sz="1650">
                <a:latin typeface="Times New Roman"/>
                <a:cs typeface="Times New Roman"/>
              </a:rPr>
              <a:t>and</a:t>
            </a:r>
            <a:r>
              <a:rPr dirty="0" sz="1650" spc="40">
                <a:latin typeface="Times New Roman"/>
                <a:cs typeface="Times New Roman"/>
              </a:rPr>
              <a:t> </a:t>
            </a:r>
            <a:r>
              <a:rPr dirty="0" sz="1650" spc="-10">
                <a:latin typeface="Times New Roman"/>
                <a:cs typeface="Times New Roman"/>
              </a:rPr>
              <a:t>F1-</a:t>
            </a:r>
            <a:r>
              <a:rPr dirty="0" sz="1650">
                <a:latin typeface="Times New Roman"/>
                <a:cs typeface="Times New Roman"/>
              </a:rPr>
              <a:t>score</a:t>
            </a:r>
            <a:r>
              <a:rPr dirty="0" sz="1650" spc="45">
                <a:latin typeface="Times New Roman"/>
                <a:cs typeface="Times New Roman"/>
              </a:rPr>
              <a:t> </a:t>
            </a:r>
            <a:r>
              <a:rPr dirty="0" sz="1650">
                <a:latin typeface="Times New Roman"/>
                <a:cs typeface="Times New Roman"/>
              </a:rPr>
              <a:t>among</a:t>
            </a:r>
            <a:r>
              <a:rPr dirty="0" sz="1650" spc="40">
                <a:latin typeface="Times New Roman"/>
                <a:cs typeface="Times New Roman"/>
              </a:rPr>
              <a:t> </a:t>
            </a:r>
            <a:r>
              <a:rPr dirty="0" sz="1650">
                <a:latin typeface="Times New Roman"/>
                <a:cs typeface="Times New Roman"/>
              </a:rPr>
              <a:t>the</a:t>
            </a:r>
            <a:r>
              <a:rPr dirty="0" sz="1650" spc="40">
                <a:latin typeface="Times New Roman"/>
                <a:cs typeface="Times New Roman"/>
              </a:rPr>
              <a:t> </a:t>
            </a:r>
            <a:r>
              <a:rPr dirty="0" sz="1650">
                <a:latin typeface="Times New Roman"/>
                <a:cs typeface="Times New Roman"/>
              </a:rPr>
              <a:t>models</a:t>
            </a:r>
            <a:r>
              <a:rPr dirty="0" sz="1650" spc="45">
                <a:latin typeface="Times New Roman"/>
                <a:cs typeface="Times New Roman"/>
              </a:rPr>
              <a:t> </a:t>
            </a:r>
            <a:r>
              <a:rPr dirty="0" sz="1650">
                <a:latin typeface="Times New Roman"/>
                <a:cs typeface="Times New Roman"/>
              </a:rPr>
              <a:t>examined,</a:t>
            </a:r>
            <a:r>
              <a:rPr dirty="0" sz="1650" spc="40">
                <a:latin typeface="Times New Roman"/>
                <a:cs typeface="Times New Roman"/>
              </a:rPr>
              <a:t> </a:t>
            </a:r>
            <a:r>
              <a:rPr dirty="0" sz="1650">
                <a:latin typeface="Times New Roman"/>
                <a:cs typeface="Times New Roman"/>
              </a:rPr>
              <a:t>with</a:t>
            </a:r>
            <a:r>
              <a:rPr dirty="0" sz="1650" spc="45">
                <a:latin typeface="Times New Roman"/>
                <a:cs typeface="Times New Roman"/>
              </a:rPr>
              <a:t> </a:t>
            </a:r>
            <a:r>
              <a:rPr dirty="0" sz="1650">
                <a:latin typeface="Times New Roman"/>
                <a:cs typeface="Times New Roman"/>
              </a:rPr>
              <a:t>good</a:t>
            </a:r>
            <a:r>
              <a:rPr dirty="0" sz="1650" spc="40">
                <a:latin typeface="Times New Roman"/>
                <a:cs typeface="Times New Roman"/>
              </a:rPr>
              <a:t> </a:t>
            </a:r>
            <a:r>
              <a:rPr dirty="0" sz="1650">
                <a:latin typeface="Times New Roman"/>
                <a:cs typeface="Times New Roman"/>
              </a:rPr>
              <a:t>performance</a:t>
            </a:r>
            <a:r>
              <a:rPr dirty="0" sz="1650" spc="45">
                <a:latin typeface="Times New Roman"/>
                <a:cs typeface="Times New Roman"/>
              </a:rPr>
              <a:t> </a:t>
            </a:r>
            <a:r>
              <a:rPr dirty="0" sz="1650">
                <a:latin typeface="Times New Roman"/>
                <a:cs typeface="Times New Roman"/>
              </a:rPr>
              <a:t>in</a:t>
            </a:r>
            <a:r>
              <a:rPr dirty="0" sz="1650" spc="40">
                <a:latin typeface="Times New Roman"/>
                <a:cs typeface="Times New Roman"/>
              </a:rPr>
              <a:t> </a:t>
            </a:r>
            <a:r>
              <a:rPr dirty="0" sz="1650">
                <a:latin typeface="Times New Roman"/>
                <a:cs typeface="Times New Roman"/>
              </a:rPr>
              <a:t>the</a:t>
            </a:r>
            <a:r>
              <a:rPr dirty="0" sz="1650" spc="45">
                <a:latin typeface="Times New Roman"/>
                <a:cs typeface="Times New Roman"/>
              </a:rPr>
              <a:t> </a:t>
            </a:r>
            <a:r>
              <a:rPr dirty="0" sz="1650" spc="-25">
                <a:latin typeface="Times New Roman"/>
                <a:cs typeface="Times New Roman"/>
              </a:rPr>
              <a:t>dif </a:t>
            </a:r>
            <a:r>
              <a:rPr dirty="0" sz="1650">
                <a:latin typeface="Times New Roman"/>
                <a:cs typeface="Times New Roman"/>
              </a:rPr>
              <a:t>ferentiation</a:t>
            </a:r>
            <a:r>
              <a:rPr dirty="0" sz="1650" spc="135">
                <a:latin typeface="Times New Roman"/>
                <a:cs typeface="Times New Roman"/>
              </a:rPr>
              <a:t> </a:t>
            </a:r>
            <a:r>
              <a:rPr dirty="0" sz="1650">
                <a:latin typeface="Times New Roman"/>
                <a:cs typeface="Times New Roman"/>
              </a:rPr>
              <a:t>of</a:t>
            </a:r>
            <a:r>
              <a:rPr dirty="0" sz="1650" spc="140">
                <a:latin typeface="Times New Roman"/>
                <a:cs typeface="Times New Roman"/>
              </a:rPr>
              <a:t> </a:t>
            </a:r>
            <a:r>
              <a:rPr dirty="0" sz="1650">
                <a:latin typeface="Times New Roman"/>
                <a:cs typeface="Times New Roman"/>
              </a:rPr>
              <a:t>Monkeypox-infected</a:t>
            </a:r>
            <a:r>
              <a:rPr dirty="0" sz="1650" spc="140">
                <a:latin typeface="Times New Roman"/>
                <a:cs typeface="Times New Roman"/>
              </a:rPr>
              <a:t> </a:t>
            </a:r>
            <a:r>
              <a:rPr dirty="0" sz="1650">
                <a:latin typeface="Times New Roman"/>
                <a:cs typeface="Times New Roman"/>
              </a:rPr>
              <a:t>lesions.</a:t>
            </a:r>
            <a:r>
              <a:rPr dirty="0" sz="1650" spc="105">
                <a:latin typeface="Times New Roman"/>
                <a:cs typeface="Times New Roman"/>
              </a:rPr>
              <a:t> </a:t>
            </a:r>
            <a:r>
              <a:rPr dirty="0" sz="1650">
                <a:latin typeface="Times New Roman"/>
                <a:cs typeface="Times New Roman"/>
              </a:rPr>
              <a:t>The</a:t>
            </a:r>
            <a:r>
              <a:rPr dirty="0" sz="1650" spc="135">
                <a:latin typeface="Times New Roman"/>
                <a:cs typeface="Times New Roman"/>
              </a:rPr>
              <a:t> </a:t>
            </a:r>
            <a:r>
              <a:rPr dirty="0" sz="1650">
                <a:latin typeface="Times New Roman"/>
                <a:cs typeface="Times New Roman"/>
              </a:rPr>
              <a:t>dataset</a:t>
            </a:r>
            <a:r>
              <a:rPr dirty="0" sz="1650" spc="135">
                <a:latin typeface="Times New Roman"/>
                <a:cs typeface="Times New Roman"/>
              </a:rPr>
              <a:t> </a:t>
            </a:r>
            <a:r>
              <a:rPr dirty="0" sz="1650">
                <a:latin typeface="Times New Roman"/>
                <a:cs typeface="Times New Roman"/>
              </a:rPr>
              <a:t>utilized</a:t>
            </a:r>
            <a:r>
              <a:rPr dirty="0" sz="1650" spc="140">
                <a:latin typeface="Times New Roman"/>
                <a:cs typeface="Times New Roman"/>
              </a:rPr>
              <a:t> </a:t>
            </a:r>
            <a:r>
              <a:rPr dirty="0" sz="1650">
                <a:latin typeface="Times New Roman"/>
                <a:cs typeface="Times New Roman"/>
              </a:rPr>
              <a:t>within</a:t>
            </a:r>
            <a:r>
              <a:rPr dirty="0" sz="1650" spc="135">
                <a:latin typeface="Times New Roman"/>
                <a:cs typeface="Times New Roman"/>
              </a:rPr>
              <a:t> </a:t>
            </a:r>
            <a:r>
              <a:rPr dirty="0" sz="1650">
                <a:latin typeface="Times New Roman"/>
                <a:cs typeface="Times New Roman"/>
              </a:rPr>
              <a:t>this</a:t>
            </a:r>
            <a:r>
              <a:rPr dirty="0" sz="1650" spc="140">
                <a:latin typeface="Times New Roman"/>
                <a:cs typeface="Times New Roman"/>
              </a:rPr>
              <a:t> </a:t>
            </a:r>
            <a:r>
              <a:rPr dirty="0" sz="1650">
                <a:latin typeface="Times New Roman"/>
                <a:cs typeface="Times New Roman"/>
              </a:rPr>
              <a:t>work</a:t>
            </a:r>
            <a:r>
              <a:rPr dirty="0" sz="1650" spc="140">
                <a:latin typeface="Times New Roman"/>
                <a:cs typeface="Times New Roman"/>
              </a:rPr>
              <a:t> </a:t>
            </a:r>
            <a:r>
              <a:rPr dirty="0" sz="1650">
                <a:latin typeface="Times New Roman"/>
                <a:cs typeface="Times New Roman"/>
              </a:rPr>
              <a:t>was</a:t>
            </a:r>
            <a:r>
              <a:rPr dirty="0" sz="1650" spc="140">
                <a:latin typeface="Times New Roman"/>
                <a:cs typeface="Times New Roman"/>
              </a:rPr>
              <a:t> </a:t>
            </a:r>
            <a:r>
              <a:rPr dirty="0" sz="1650">
                <a:latin typeface="Times New Roman"/>
                <a:cs typeface="Times New Roman"/>
              </a:rPr>
              <a:t>selected</a:t>
            </a:r>
            <a:r>
              <a:rPr dirty="0" sz="1650" spc="135">
                <a:latin typeface="Times New Roman"/>
                <a:cs typeface="Times New Roman"/>
              </a:rPr>
              <a:t> </a:t>
            </a:r>
            <a:r>
              <a:rPr dirty="0" sz="1650">
                <a:latin typeface="Times New Roman"/>
                <a:cs typeface="Times New Roman"/>
              </a:rPr>
              <a:t>with</a:t>
            </a:r>
            <a:r>
              <a:rPr dirty="0" sz="1650" spc="140">
                <a:latin typeface="Times New Roman"/>
                <a:cs typeface="Times New Roman"/>
              </a:rPr>
              <a:t> </a:t>
            </a:r>
            <a:r>
              <a:rPr dirty="0" sz="1650">
                <a:latin typeface="Times New Roman"/>
                <a:cs typeface="Times New Roman"/>
              </a:rPr>
              <a:t>care</a:t>
            </a:r>
            <a:r>
              <a:rPr dirty="0" sz="1650" spc="135">
                <a:latin typeface="Times New Roman"/>
                <a:cs typeface="Times New Roman"/>
              </a:rPr>
              <a:t> </a:t>
            </a:r>
            <a:r>
              <a:rPr dirty="0" sz="1650">
                <a:latin typeface="Times New Roman"/>
                <a:cs typeface="Times New Roman"/>
              </a:rPr>
              <a:t>to</a:t>
            </a:r>
            <a:r>
              <a:rPr dirty="0" sz="1650" spc="135">
                <a:latin typeface="Times New Roman"/>
                <a:cs typeface="Times New Roman"/>
              </a:rPr>
              <a:t> </a:t>
            </a:r>
            <a:r>
              <a:rPr dirty="0" sz="1650" spc="-10">
                <a:latin typeface="Times New Roman"/>
                <a:cs typeface="Times New Roman"/>
              </a:rPr>
              <a:t>mimic </a:t>
            </a:r>
            <a:r>
              <a:rPr dirty="0" sz="1650">
                <a:latin typeface="Times New Roman"/>
                <a:cs typeface="Times New Roman"/>
              </a:rPr>
              <a:t>real-world</a:t>
            </a:r>
            <a:r>
              <a:rPr dirty="0" sz="1650" spc="110">
                <a:latin typeface="Times New Roman"/>
                <a:cs typeface="Times New Roman"/>
              </a:rPr>
              <a:t> </a:t>
            </a:r>
            <a:r>
              <a:rPr dirty="0" sz="1650">
                <a:latin typeface="Times New Roman"/>
                <a:cs typeface="Times New Roman"/>
              </a:rPr>
              <a:t>clinical</a:t>
            </a:r>
            <a:r>
              <a:rPr dirty="0" sz="1650" spc="114">
                <a:latin typeface="Times New Roman"/>
                <a:cs typeface="Times New Roman"/>
              </a:rPr>
              <a:t> </a:t>
            </a:r>
            <a:r>
              <a:rPr dirty="0" sz="1650">
                <a:latin typeface="Times New Roman"/>
                <a:cs typeface="Times New Roman"/>
              </a:rPr>
              <a:t>conditions</a:t>
            </a:r>
            <a:r>
              <a:rPr dirty="0" sz="1650" spc="114">
                <a:latin typeface="Times New Roman"/>
                <a:cs typeface="Times New Roman"/>
              </a:rPr>
              <a:t> </a:t>
            </a:r>
            <a:r>
              <a:rPr dirty="0" sz="1650">
                <a:latin typeface="Times New Roman"/>
                <a:cs typeface="Times New Roman"/>
              </a:rPr>
              <a:t>such</a:t>
            </a:r>
            <a:r>
              <a:rPr dirty="0" sz="1650" spc="114">
                <a:latin typeface="Times New Roman"/>
                <a:cs typeface="Times New Roman"/>
              </a:rPr>
              <a:t> </a:t>
            </a:r>
            <a:r>
              <a:rPr dirty="0" sz="1650">
                <a:latin typeface="Times New Roman"/>
                <a:cs typeface="Times New Roman"/>
              </a:rPr>
              <a:t>that</a:t>
            </a:r>
            <a:r>
              <a:rPr dirty="0" sz="1650" spc="114">
                <a:latin typeface="Times New Roman"/>
                <a:cs typeface="Times New Roman"/>
              </a:rPr>
              <a:t> </a:t>
            </a:r>
            <a:r>
              <a:rPr dirty="0" sz="1650">
                <a:latin typeface="Times New Roman"/>
                <a:cs typeface="Times New Roman"/>
              </a:rPr>
              <a:t>the</a:t>
            </a:r>
            <a:r>
              <a:rPr dirty="0" sz="1650" spc="110">
                <a:latin typeface="Times New Roman"/>
                <a:cs typeface="Times New Roman"/>
              </a:rPr>
              <a:t> </a:t>
            </a:r>
            <a:r>
              <a:rPr dirty="0" sz="1650">
                <a:latin typeface="Times New Roman"/>
                <a:cs typeface="Times New Roman"/>
              </a:rPr>
              <a:t>models</a:t>
            </a:r>
            <a:r>
              <a:rPr dirty="0" sz="1650" spc="114">
                <a:latin typeface="Times New Roman"/>
                <a:cs typeface="Times New Roman"/>
              </a:rPr>
              <a:t> </a:t>
            </a:r>
            <a:r>
              <a:rPr dirty="0" sz="1650">
                <a:latin typeface="Times New Roman"/>
                <a:cs typeface="Times New Roman"/>
              </a:rPr>
              <a:t>could</a:t>
            </a:r>
            <a:r>
              <a:rPr dirty="0" sz="1650" spc="114">
                <a:latin typeface="Times New Roman"/>
                <a:cs typeface="Times New Roman"/>
              </a:rPr>
              <a:t> </a:t>
            </a:r>
            <a:r>
              <a:rPr dirty="0" sz="1650">
                <a:latin typeface="Times New Roman"/>
                <a:cs typeface="Times New Roman"/>
              </a:rPr>
              <a:t>learn</a:t>
            </a:r>
            <a:r>
              <a:rPr dirty="0" sz="1650" spc="114">
                <a:latin typeface="Times New Roman"/>
                <a:cs typeface="Times New Roman"/>
              </a:rPr>
              <a:t> </a:t>
            </a:r>
            <a:r>
              <a:rPr dirty="0" sz="1650">
                <a:latin typeface="Times New Roman"/>
                <a:cs typeface="Times New Roman"/>
              </a:rPr>
              <a:t>from</a:t>
            </a:r>
            <a:r>
              <a:rPr dirty="0" sz="1650" spc="114">
                <a:latin typeface="Times New Roman"/>
                <a:cs typeface="Times New Roman"/>
              </a:rPr>
              <a:t> </a:t>
            </a:r>
            <a:r>
              <a:rPr dirty="0" sz="1650">
                <a:latin typeface="Times New Roman"/>
                <a:cs typeface="Times New Roman"/>
              </a:rPr>
              <a:t>varied</a:t>
            </a:r>
            <a:r>
              <a:rPr dirty="0" sz="1650" spc="110">
                <a:latin typeface="Times New Roman"/>
                <a:cs typeface="Times New Roman"/>
              </a:rPr>
              <a:t> </a:t>
            </a:r>
            <a:r>
              <a:rPr dirty="0" sz="1650">
                <a:latin typeface="Times New Roman"/>
                <a:cs typeface="Times New Roman"/>
              </a:rPr>
              <a:t>visual</a:t>
            </a:r>
            <a:r>
              <a:rPr dirty="0" sz="1650" spc="114">
                <a:latin typeface="Times New Roman"/>
                <a:cs typeface="Times New Roman"/>
              </a:rPr>
              <a:t> </a:t>
            </a:r>
            <a:r>
              <a:rPr dirty="0" sz="1650">
                <a:latin typeface="Times New Roman"/>
                <a:cs typeface="Times New Roman"/>
              </a:rPr>
              <a:t>patterns.</a:t>
            </a:r>
            <a:r>
              <a:rPr dirty="0" sz="1650" spc="114">
                <a:latin typeface="Times New Roman"/>
                <a:cs typeface="Times New Roman"/>
              </a:rPr>
              <a:t> </a:t>
            </a:r>
            <a:r>
              <a:rPr dirty="0" sz="1650">
                <a:latin typeface="Times New Roman"/>
                <a:cs typeface="Times New Roman"/>
              </a:rPr>
              <a:t>Explainability</a:t>
            </a:r>
            <a:r>
              <a:rPr dirty="0" sz="1650" spc="114">
                <a:latin typeface="Times New Roman"/>
                <a:cs typeface="Times New Roman"/>
              </a:rPr>
              <a:t> </a:t>
            </a:r>
            <a:r>
              <a:rPr dirty="0" sz="1650">
                <a:latin typeface="Times New Roman"/>
                <a:cs typeface="Times New Roman"/>
              </a:rPr>
              <a:t>is</a:t>
            </a:r>
            <a:r>
              <a:rPr dirty="0" sz="1650" spc="114">
                <a:latin typeface="Times New Roman"/>
                <a:cs typeface="Times New Roman"/>
              </a:rPr>
              <a:t> </a:t>
            </a:r>
            <a:r>
              <a:rPr dirty="0" sz="1650">
                <a:latin typeface="Times New Roman"/>
                <a:cs typeface="Times New Roman"/>
              </a:rPr>
              <a:t>also</a:t>
            </a:r>
            <a:r>
              <a:rPr dirty="0" sz="1650" spc="114">
                <a:latin typeface="Times New Roman"/>
                <a:cs typeface="Times New Roman"/>
              </a:rPr>
              <a:t> </a:t>
            </a:r>
            <a:r>
              <a:rPr dirty="0" sz="1650" spc="-50">
                <a:latin typeface="Times New Roman"/>
                <a:cs typeface="Times New Roman"/>
              </a:rPr>
              <a:t>a </a:t>
            </a:r>
            <a:r>
              <a:rPr dirty="0" sz="1650">
                <a:latin typeface="Times New Roman"/>
                <a:cs typeface="Times New Roman"/>
              </a:rPr>
              <a:t>focus</a:t>
            </a:r>
            <a:r>
              <a:rPr dirty="0" sz="1650" spc="175">
                <a:latin typeface="Times New Roman"/>
                <a:cs typeface="Times New Roman"/>
              </a:rPr>
              <a:t> </a:t>
            </a:r>
            <a:r>
              <a:rPr dirty="0" sz="1650">
                <a:latin typeface="Times New Roman"/>
                <a:cs typeface="Times New Roman"/>
              </a:rPr>
              <a:t>of</a:t>
            </a:r>
            <a:r>
              <a:rPr dirty="0" sz="1650" spc="175">
                <a:latin typeface="Times New Roman"/>
                <a:cs typeface="Times New Roman"/>
              </a:rPr>
              <a:t> </a:t>
            </a:r>
            <a:r>
              <a:rPr dirty="0" sz="1650">
                <a:latin typeface="Times New Roman"/>
                <a:cs typeface="Times New Roman"/>
              </a:rPr>
              <a:t>our</a:t>
            </a:r>
            <a:r>
              <a:rPr dirty="0" sz="1650" spc="175">
                <a:latin typeface="Times New Roman"/>
                <a:cs typeface="Times New Roman"/>
              </a:rPr>
              <a:t> </a:t>
            </a:r>
            <a:r>
              <a:rPr dirty="0" sz="1650">
                <a:latin typeface="Times New Roman"/>
                <a:cs typeface="Times New Roman"/>
              </a:rPr>
              <a:t>approach,</a:t>
            </a:r>
            <a:r>
              <a:rPr dirty="0" sz="1650" spc="175">
                <a:latin typeface="Times New Roman"/>
                <a:cs typeface="Times New Roman"/>
              </a:rPr>
              <a:t> </a:t>
            </a:r>
            <a:r>
              <a:rPr dirty="0" sz="1650">
                <a:latin typeface="Times New Roman"/>
                <a:cs typeface="Times New Roman"/>
              </a:rPr>
              <a:t>which</a:t>
            </a:r>
            <a:r>
              <a:rPr dirty="0" sz="1650" spc="175">
                <a:latin typeface="Times New Roman"/>
                <a:cs typeface="Times New Roman"/>
              </a:rPr>
              <a:t> </a:t>
            </a:r>
            <a:r>
              <a:rPr dirty="0" sz="1650">
                <a:latin typeface="Times New Roman"/>
                <a:cs typeface="Times New Roman"/>
              </a:rPr>
              <a:t>is</a:t>
            </a:r>
            <a:r>
              <a:rPr dirty="0" sz="1650" spc="175">
                <a:latin typeface="Times New Roman"/>
                <a:cs typeface="Times New Roman"/>
              </a:rPr>
              <a:t> </a:t>
            </a:r>
            <a:r>
              <a:rPr dirty="0" sz="1650">
                <a:latin typeface="Times New Roman"/>
                <a:cs typeface="Times New Roman"/>
              </a:rPr>
              <a:t>essential</a:t>
            </a:r>
            <a:r>
              <a:rPr dirty="0" sz="1650" spc="175">
                <a:latin typeface="Times New Roman"/>
                <a:cs typeface="Times New Roman"/>
              </a:rPr>
              <a:t> </a:t>
            </a:r>
            <a:r>
              <a:rPr dirty="0" sz="1650">
                <a:latin typeface="Times New Roman"/>
                <a:cs typeface="Times New Roman"/>
              </a:rPr>
              <a:t>in</a:t>
            </a:r>
            <a:r>
              <a:rPr dirty="0" sz="1650" spc="175">
                <a:latin typeface="Times New Roman"/>
                <a:cs typeface="Times New Roman"/>
              </a:rPr>
              <a:t> </a:t>
            </a:r>
            <a:r>
              <a:rPr dirty="0" sz="1650">
                <a:latin typeface="Times New Roman"/>
                <a:cs typeface="Times New Roman"/>
              </a:rPr>
              <a:t>developing</a:t>
            </a:r>
            <a:r>
              <a:rPr dirty="0" sz="1650" spc="175">
                <a:latin typeface="Times New Roman"/>
                <a:cs typeface="Times New Roman"/>
              </a:rPr>
              <a:t> </a:t>
            </a:r>
            <a:r>
              <a:rPr dirty="0" sz="1650">
                <a:latin typeface="Times New Roman"/>
                <a:cs typeface="Times New Roman"/>
              </a:rPr>
              <a:t>trust</a:t>
            </a:r>
            <a:r>
              <a:rPr dirty="0" sz="1650" spc="175">
                <a:latin typeface="Times New Roman"/>
                <a:cs typeface="Times New Roman"/>
              </a:rPr>
              <a:t> </a:t>
            </a:r>
            <a:r>
              <a:rPr dirty="0" sz="1650">
                <a:latin typeface="Times New Roman"/>
                <a:cs typeface="Times New Roman"/>
              </a:rPr>
              <a:t>in</a:t>
            </a:r>
            <a:r>
              <a:rPr dirty="0" sz="1650" spc="90">
                <a:latin typeface="Times New Roman"/>
                <a:cs typeface="Times New Roman"/>
              </a:rPr>
              <a:t> </a:t>
            </a:r>
            <a:r>
              <a:rPr dirty="0" sz="1650">
                <a:latin typeface="Times New Roman"/>
                <a:cs typeface="Times New Roman"/>
              </a:rPr>
              <a:t>AI-influenced</a:t>
            </a:r>
            <a:r>
              <a:rPr dirty="0" sz="1650" spc="175">
                <a:latin typeface="Times New Roman"/>
                <a:cs typeface="Times New Roman"/>
              </a:rPr>
              <a:t> </a:t>
            </a:r>
            <a:r>
              <a:rPr dirty="0" sz="1650">
                <a:latin typeface="Times New Roman"/>
                <a:cs typeface="Times New Roman"/>
              </a:rPr>
              <a:t>medical</a:t>
            </a:r>
            <a:r>
              <a:rPr dirty="0" sz="1650" spc="175">
                <a:latin typeface="Times New Roman"/>
                <a:cs typeface="Times New Roman"/>
              </a:rPr>
              <a:t> </a:t>
            </a:r>
            <a:r>
              <a:rPr dirty="0" sz="1650">
                <a:latin typeface="Times New Roman"/>
                <a:cs typeface="Times New Roman"/>
              </a:rPr>
              <a:t>aids.</a:t>
            </a:r>
            <a:r>
              <a:rPr dirty="0" sz="1650" spc="145">
                <a:latin typeface="Times New Roman"/>
                <a:cs typeface="Times New Roman"/>
              </a:rPr>
              <a:t> </a:t>
            </a:r>
            <a:r>
              <a:rPr dirty="0" sz="1650">
                <a:latin typeface="Times New Roman"/>
                <a:cs typeface="Times New Roman"/>
              </a:rPr>
              <a:t>The</a:t>
            </a:r>
            <a:r>
              <a:rPr dirty="0" sz="1650" spc="175">
                <a:latin typeface="Times New Roman"/>
                <a:cs typeface="Times New Roman"/>
              </a:rPr>
              <a:t> </a:t>
            </a:r>
            <a:r>
              <a:rPr dirty="0" sz="1650">
                <a:latin typeface="Times New Roman"/>
                <a:cs typeface="Times New Roman"/>
              </a:rPr>
              <a:t>models</a:t>
            </a:r>
            <a:r>
              <a:rPr dirty="0" sz="1650" spc="175">
                <a:latin typeface="Times New Roman"/>
                <a:cs typeface="Times New Roman"/>
              </a:rPr>
              <a:t> </a:t>
            </a:r>
            <a:r>
              <a:rPr dirty="0" sz="1650">
                <a:latin typeface="Times New Roman"/>
                <a:cs typeface="Times New Roman"/>
              </a:rPr>
              <a:t>are</a:t>
            </a:r>
            <a:r>
              <a:rPr dirty="0" sz="1650" spc="180">
                <a:latin typeface="Times New Roman"/>
                <a:cs typeface="Times New Roman"/>
              </a:rPr>
              <a:t> </a:t>
            </a:r>
            <a:r>
              <a:rPr dirty="0" sz="1650" spc="-20">
                <a:latin typeface="Times New Roman"/>
                <a:cs typeface="Times New Roman"/>
              </a:rPr>
              <a:t>only </a:t>
            </a:r>
            <a:r>
              <a:rPr dirty="0" sz="1650">
                <a:latin typeface="Times New Roman"/>
                <a:cs typeface="Times New Roman"/>
              </a:rPr>
              <a:t>need</a:t>
            </a:r>
            <a:r>
              <a:rPr dirty="0" sz="1650" spc="-25">
                <a:latin typeface="Times New Roman"/>
                <a:cs typeface="Times New Roman"/>
              </a:rPr>
              <a:t> </a:t>
            </a:r>
            <a:r>
              <a:rPr dirty="0" sz="1650">
                <a:latin typeface="Times New Roman"/>
                <a:cs typeface="Times New Roman"/>
              </a:rPr>
              <a:t>image</a:t>
            </a:r>
            <a:r>
              <a:rPr dirty="0" sz="1650" spc="-15">
                <a:latin typeface="Times New Roman"/>
                <a:cs typeface="Times New Roman"/>
              </a:rPr>
              <a:t> </a:t>
            </a:r>
            <a:r>
              <a:rPr dirty="0" sz="1650">
                <a:latin typeface="Times New Roman"/>
                <a:cs typeface="Times New Roman"/>
              </a:rPr>
              <a:t>inputs,</a:t>
            </a:r>
            <a:r>
              <a:rPr dirty="0" sz="1650" spc="-15">
                <a:latin typeface="Times New Roman"/>
                <a:cs typeface="Times New Roman"/>
              </a:rPr>
              <a:t> </a:t>
            </a:r>
            <a:r>
              <a:rPr dirty="0" sz="1650">
                <a:latin typeface="Times New Roman"/>
                <a:cs typeface="Times New Roman"/>
              </a:rPr>
              <a:t>and</a:t>
            </a:r>
            <a:r>
              <a:rPr dirty="0" sz="1650" spc="-15">
                <a:latin typeface="Times New Roman"/>
                <a:cs typeface="Times New Roman"/>
              </a:rPr>
              <a:t> </a:t>
            </a:r>
            <a:r>
              <a:rPr dirty="0" sz="1650">
                <a:latin typeface="Times New Roman"/>
                <a:cs typeface="Times New Roman"/>
              </a:rPr>
              <a:t>thus</a:t>
            </a:r>
            <a:r>
              <a:rPr dirty="0" sz="1650" spc="-15">
                <a:latin typeface="Times New Roman"/>
                <a:cs typeface="Times New Roman"/>
              </a:rPr>
              <a:t> </a:t>
            </a:r>
            <a:r>
              <a:rPr dirty="0" sz="1650">
                <a:latin typeface="Times New Roman"/>
                <a:cs typeface="Times New Roman"/>
              </a:rPr>
              <a:t>they</a:t>
            </a:r>
            <a:r>
              <a:rPr dirty="0" sz="1650" spc="-15">
                <a:latin typeface="Times New Roman"/>
                <a:cs typeface="Times New Roman"/>
              </a:rPr>
              <a:t> </a:t>
            </a:r>
            <a:r>
              <a:rPr dirty="0" sz="1650">
                <a:latin typeface="Times New Roman"/>
                <a:cs typeface="Times New Roman"/>
              </a:rPr>
              <a:t>are</a:t>
            </a:r>
            <a:r>
              <a:rPr dirty="0" sz="1650" spc="-10">
                <a:latin typeface="Times New Roman"/>
                <a:cs typeface="Times New Roman"/>
              </a:rPr>
              <a:t> </a:t>
            </a:r>
            <a:r>
              <a:rPr dirty="0" sz="1650">
                <a:latin typeface="Times New Roman"/>
                <a:cs typeface="Times New Roman"/>
              </a:rPr>
              <a:t>deployable</a:t>
            </a:r>
            <a:r>
              <a:rPr dirty="0" sz="1650" spc="-15">
                <a:latin typeface="Times New Roman"/>
                <a:cs typeface="Times New Roman"/>
              </a:rPr>
              <a:t> </a:t>
            </a:r>
            <a:r>
              <a:rPr dirty="0" sz="1650">
                <a:latin typeface="Times New Roman"/>
                <a:cs typeface="Times New Roman"/>
              </a:rPr>
              <a:t>for</a:t>
            </a:r>
            <a:r>
              <a:rPr dirty="0" sz="1650" spc="-15">
                <a:latin typeface="Times New Roman"/>
                <a:cs typeface="Times New Roman"/>
              </a:rPr>
              <a:t> </a:t>
            </a:r>
            <a:r>
              <a:rPr dirty="0" sz="1650">
                <a:latin typeface="Times New Roman"/>
                <a:cs typeface="Times New Roman"/>
              </a:rPr>
              <a:t>mobile</a:t>
            </a:r>
            <a:r>
              <a:rPr dirty="0" sz="1650" spc="-15">
                <a:latin typeface="Times New Roman"/>
                <a:cs typeface="Times New Roman"/>
              </a:rPr>
              <a:t> </a:t>
            </a:r>
            <a:r>
              <a:rPr dirty="0" sz="1650">
                <a:latin typeface="Times New Roman"/>
                <a:cs typeface="Times New Roman"/>
              </a:rPr>
              <a:t>or</a:t>
            </a:r>
            <a:r>
              <a:rPr dirty="0" sz="1650" spc="-15">
                <a:latin typeface="Times New Roman"/>
                <a:cs typeface="Times New Roman"/>
              </a:rPr>
              <a:t> </a:t>
            </a:r>
            <a:r>
              <a:rPr dirty="0" sz="1650">
                <a:latin typeface="Times New Roman"/>
                <a:cs typeface="Times New Roman"/>
              </a:rPr>
              <a:t>remote</a:t>
            </a:r>
            <a:r>
              <a:rPr dirty="0" sz="1650" spc="-15">
                <a:latin typeface="Times New Roman"/>
                <a:cs typeface="Times New Roman"/>
              </a:rPr>
              <a:t> </a:t>
            </a:r>
            <a:r>
              <a:rPr dirty="0" sz="1650">
                <a:latin typeface="Times New Roman"/>
                <a:cs typeface="Times New Roman"/>
              </a:rPr>
              <a:t>healthcare</a:t>
            </a:r>
            <a:r>
              <a:rPr dirty="0" sz="1650" spc="-10">
                <a:latin typeface="Times New Roman"/>
                <a:cs typeface="Times New Roman"/>
              </a:rPr>
              <a:t> </a:t>
            </a:r>
            <a:r>
              <a:rPr dirty="0" sz="1650" spc="-20">
                <a:latin typeface="Times New Roman"/>
                <a:cs typeface="Times New Roman"/>
              </a:rPr>
              <a:t>use.</a:t>
            </a:r>
            <a:endParaRPr sz="16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035101" y="127955"/>
            <a:ext cx="2463800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INTRODUCTION</a:t>
            </a:r>
          </a:p>
        </p:txBody>
      </p:sp>
      <p:sp>
        <p:nvSpPr>
          <p:cNvPr id="4" name="object 4" descr=""/>
          <p:cNvSpPr txBox="1"/>
          <p:nvPr/>
        </p:nvSpPr>
        <p:spPr>
          <a:xfrm>
            <a:off x="4284377" y="6581783"/>
            <a:ext cx="868044" cy="19431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 sz="1200">
                <a:solidFill>
                  <a:srgbClr val="888888"/>
                </a:solidFill>
                <a:latin typeface="Times New Roman"/>
                <a:cs typeface="Times New Roman"/>
              </a:rPr>
              <a:t>Review</a:t>
            </a:r>
            <a:r>
              <a:rPr dirty="0" sz="1200" spc="-4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888888"/>
                </a:solidFill>
                <a:latin typeface="Times New Roman"/>
                <a:cs typeface="Times New Roman"/>
              </a:rPr>
              <a:t>No.</a:t>
            </a:r>
            <a:r>
              <a:rPr dirty="0" sz="1200" spc="-3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dirty="0" sz="1200" spc="-50">
                <a:solidFill>
                  <a:srgbClr val="888888"/>
                </a:solidFill>
                <a:latin typeface="Times New Roman"/>
                <a:cs typeface="Times New Roman"/>
              </a:rPr>
              <a:t>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5" name="object 5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36525" rIns="0" bIns="0" rtlCol="0" vert="horz">
            <a:spAutoFit/>
          </a:bodyPr>
          <a:lstStyle/>
          <a:p>
            <a:pPr marL="107950">
              <a:lnSpc>
                <a:spcPts val="1410"/>
              </a:lnSpc>
            </a:pPr>
            <a:r>
              <a:rPr dirty="0"/>
              <a:t>Batch</a:t>
            </a:r>
            <a:r>
              <a:rPr dirty="0" spc="-15"/>
              <a:t> </a:t>
            </a:r>
            <a:r>
              <a:rPr dirty="0"/>
              <a:t>No.</a:t>
            </a:r>
            <a:r>
              <a:rPr dirty="0" spc="-15"/>
              <a:t> </a:t>
            </a:r>
            <a:r>
              <a:rPr dirty="0" spc="-25"/>
              <a:t>DB4</a:t>
            </a:r>
          </a:p>
        </p:txBody>
      </p:sp>
      <p:sp>
        <p:nvSpPr>
          <p:cNvPr id="6" name="object 6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136525" rIns="0" bIns="0" rtlCol="0" vert="horz">
            <a:spAutoFit/>
          </a:bodyPr>
          <a:lstStyle/>
          <a:p>
            <a:pPr marL="41275">
              <a:lnSpc>
                <a:spcPts val="1410"/>
              </a:lnSpc>
            </a:pPr>
            <a:r>
              <a:rPr dirty="0" spc="-10"/>
              <a:t>Department</a:t>
            </a:r>
            <a:r>
              <a:rPr dirty="0" spc="-15"/>
              <a:t> </a:t>
            </a:r>
            <a:r>
              <a:rPr dirty="0"/>
              <a:t>of</a:t>
            </a:r>
            <a:r>
              <a:rPr dirty="0" spc="-5"/>
              <a:t> </a:t>
            </a:r>
            <a:r>
              <a:rPr dirty="0" spc="-25"/>
              <a:t>CSE</a:t>
            </a:r>
          </a:p>
        </p:txBody>
      </p:sp>
      <p:sp>
        <p:nvSpPr>
          <p:cNvPr id="7" name="object 7" descr=""/>
          <p:cNvSpPr txBox="1"/>
          <p:nvPr/>
        </p:nvSpPr>
        <p:spPr>
          <a:xfrm>
            <a:off x="11179175" y="6581771"/>
            <a:ext cx="101600" cy="19431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 sz="1200" spc="-50">
                <a:solidFill>
                  <a:srgbClr val="888888"/>
                </a:solidFill>
                <a:latin typeface="Times New Roman"/>
                <a:cs typeface="Times New Roman"/>
              </a:rPr>
              <a:t>4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469999" y="832763"/>
            <a:ext cx="11162030" cy="55448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456565" indent="-443865">
              <a:lnSpc>
                <a:spcPct val="100000"/>
              </a:lnSpc>
              <a:spcBef>
                <a:spcPts val="100"/>
              </a:spcBef>
              <a:buFont typeface="MS PGothic"/>
              <a:buChar char="❖"/>
              <a:tabLst>
                <a:tab pos="456565" algn="l"/>
              </a:tabLst>
            </a:pPr>
            <a:r>
              <a:rPr dirty="0" sz="1700">
                <a:latin typeface="Times New Roman"/>
                <a:cs typeface="Times New Roman"/>
              </a:rPr>
              <a:t>Monkeypox</a:t>
            </a:r>
            <a:r>
              <a:rPr dirty="0" sz="1700" spc="-2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detection</a:t>
            </a:r>
            <a:r>
              <a:rPr dirty="0" sz="1700" spc="-1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through</a:t>
            </a:r>
            <a:r>
              <a:rPr dirty="0" sz="1700" spc="-2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skin</a:t>
            </a:r>
            <a:r>
              <a:rPr dirty="0" sz="1700" spc="-1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lesion</a:t>
            </a:r>
            <a:r>
              <a:rPr dirty="0" sz="1700" spc="-2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images</a:t>
            </a:r>
            <a:r>
              <a:rPr dirty="0" sz="1700" spc="-1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is</a:t>
            </a:r>
            <a:r>
              <a:rPr dirty="0" sz="1700" spc="-2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a</a:t>
            </a:r>
            <a:r>
              <a:rPr dirty="0" sz="1700" spc="-1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fast,</a:t>
            </a:r>
            <a:r>
              <a:rPr dirty="0" sz="1700" spc="-2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non-</a:t>
            </a:r>
            <a:r>
              <a:rPr dirty="0" sz="1700" spc="-20">
                <a:latin typeface="Times New Roman"/>
                <a:cs typeface="Times New Roman"/>
              </a:rPr>
              <a:t>invasive,</a:t>
            </a:r>
            <a:r>
              <a:rPr dirty="0" sz="1700" spc="-1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and</a:t>
            </a:r>
            <a:r>
              <a:rPr dirty="0" sz="1700" spc="-1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accessible</a:t>
            </a:r>
            <a:r>
              <a:rPr dirty="0" sz="1700" spc="-2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diagnostic</a:t>
            </a:r>
            <a:r>
              <a:rPr dirty="0" sz="1700" spc="-15">
                <a:latin typeface="Times New Roman"/>
                <a:cs typeface="Times New Roman"/>
              </a:rPr>
              <a:t> </a:t>
            </a:r>
            <a:r>
              <a:rPr dirty="0" sz="1700" spc="-10">
                <a:latin typeface="Times New Roman"/>
                <a:cs typeface="Times New Roman"/>
              </a:rPr>
              <a:t>approach.</a:t>
            </a:r>
            <a:endParaRPr sz="17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buFont typeface="MS PGothic"/>
              <a:buChar char="❖"/>
            </a:pPr>
            <a:endParaRPr sz="17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35"/>
              </a:spcBef>
              <a:buFont typeface="MS PGothic"/>
              <a:buChar char="❖"/>
            </a:pPr>
            <a:endParaRPr sz="1700">
              <a:latin typeface="Times New Roman"/>
              <a:cs typeface="Times New Roman"/>
            </a:endParaRPr>
          </a:p>
          <a:p>
            <a:pPr marL="456565" indent="-443865">
              <a:lnSpc>
                <a:spcPct val="100000"/>
              </a:lnSpc>
              <a:buFont typeface="MS PGothic"/>
              <a:buChar char="❖"/>
              <a:tabLst>
                <a:tab pos="456565" algn="l"/>
              </a:tabLst>
            </a:pPr>
            <a:r>
              <a:rPr dirty="0" sz="1700" b="1">
                <a:latin typeface="Times New Roman"/>
                <a:cs typeface="Times New Roman"/>
              </a:rPr>
              <a:t>Key</a:t>
            </a:r>
            <a:r>
              <a:rPr dirty="0" sz="1700" spc="-25" b="1">
                <a:latin typeface="Times New Roman"/>
                <a:cs typeface="Times New Roman"/>
              </a:rPr>
              <a:t> </a:t>
            </a:r>
            <a:r>
              <a:rPr dirty="0" sz="1700" b="1">
                <a:latin typeface="Times New Roman"/>
                <a:cs typeface="Times New Roman"/>
              </a:rPr>
              <a:t>features</a:t>
            </a:r>
            <a:r>
              <a:rPr dirty="0" sz="1700">
                <a:latin typeface="Times New Roman"/>
                <a:cs typeface="Times New Roman"/>
              </a:rPr>
              <a:t>:</a:t>
            </a:r>
            <a:r>
              <a:rPr dirty="0" sz="1700" spc="-2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lesion</a:t>
            </a:r>
            <a:r>
              <a:rPr dirty="0" sz="1700" spc="-2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color,</a:t>
            </a:r>
            <a:r>
              <a:rPr dirty="0" sz="1700" spc="-2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texture,</a:t>
            </a:r>
            <a:r>
              <a:rPr dirty="0" sz="1700" spc="-2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and</a:t>
            </a:r>
            <a:r>
              <a:rPr dirty="0" sz="1700" spc="-2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shape</a:t>
            </a:r>
            <a:r>
              <a:rPr dirty="0" sz="1700" spc="-2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are</a:t>
            </a:r>
            <a:r>
              <a:rPr dirty="0" sz="1700" spc="-2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vital</a:t>
            </a:r>
            <a:r>
              <a:rPr dirty="0" sz="1700" spc="-2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for</a:t>
            </a:r>
            <a:r>
              <a:rPr dirty="0" sz="1700" spc="-2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accurate</a:t>
            </a:r>
            <a:r>
              <a:rPr dirty="0" sz="1700" spc="-20">
                <a:latin typeface="Times New Roman"/>
                <a:cs typeface="Times New Roman"/>
              </a:rPr>
              <a:t> </a:t>
            </a:r>
            <a:r>
              <a:rPr dirty="0" sz="1700" spc="-10">
                <a:latin typeface="Times New Roman"/>
                <a:cs typeface="Times New Roman"/>
              </a:rPr>
              <a:t>classification</a:t>
            </a:r>
            <a:r>
              <a:rPr dirty="0" sz="1700" spc="-2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and</a:t>
            </a:r>
            <a:r>
              <a:rPr dirty="0" sz="1700" spc="-2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feature</a:t>
            </a:r>
            <a:r>
              <a:rPr dirty="0" sz="1700" spc="-20">
                <a:latin typeface="Times New Roman"/>
                <a:cs typeface="Times New Roman"/>
              </a:rPr>
              <a:t> </a:t>
            </a:r>
            <a:r>
              <a:rPr dirty="0" sz="1700" spc="-10">
                <a:latin typeface="Times New Roman"/>
                <a:cs typeface="Times New Roman"/>
              </a:rPr>
              <a:t>extraction.</a:t>
            </a:r>
            <a:endParaRPr sz="17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buFont typeface="MS PGothic"/>
              <a:buChar char="❖"/>
            </a:pPr>
            <a:endParaRPr sz="17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35"/>
              </a:spcBef>
              <a:buFont typeface="MS PGothic"/>
              <a:buChar char="❖"/>
            </a:pPr>
            <a:endParaRPr sz="1700">
              <a:latin typeface="Times New Roman"/>
              <a:cs typeface="Times New Roman"/>
            </a:endParaRPr>
          </a:p>
          <a:p>
            <a:pPr marL="456565" marR="5080" indent="-444500">
              <a:lnSpc>
                <a:spcPct val="110000"/>
              </a:lnSpc>
              <a:buFont typeface="MS PGothic"/>
              <a:buChar char="❖"/>
              <a:tabLst>
                <a:tab pos="456565" algn="l"/>
              </a:tabLst>
            </a:pPr>
            <a:r>
              <a:rPr dirty="0" sz="1700">
                <a:latin typeface="Times New Roman"/>
                <a:cs typeface="Times New Roman"/>
              </a:rPr>
              <a:t>Traditional</a:t>
            </a:r>
            <a:r>
              <a:rPr dirty="0" sz="1700" spc="24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methods</a:t>
            </a:r>
            <a:r>
              <a:rPr dirty="0" sz="1700" spc="24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(manual</a:t>
            </a:r>
            <a:r>
              <a:rPr dirty="0" sz="1700" spc="24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or</a:t>
            </a:r>
            <a:r>
              <a:rPr dirty="0" sz="1700" spc="24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rule-based</a:t>
            </a:r>
            <a:r>
              <a:rPr dirty="0" sz="1700" spc="24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image</a:t>
            </a:r>
            <a:r>
              <a:rPr dirty="0" sz="1700" spc="24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analysis)</a:t>
            </a:r>
            <a:r>
              <a:rPr dirty="0" sz="1700" spc="24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perform</a:t>
            </a:r>
            <a:r>
              <a:rPr dirty="0" sz="1700" spc="24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well</a:t>
            </a:r>
            <a:r>
              <a:rPr dirty="0" sz="1700" spc="24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on</a:t>
            </a:r>
            <a:r>
              <a:rPr dirty="0" sz="1700" spc="24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simple</a:t>
            </a:r>
            <a:r>
              <a:rPr dirty="0" sz="1700" spc="24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cases</a:t>
            </a:r>
            <a:r>
              <a:rPr dirty="0" sz="1700" spc="24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but</a:t>
            </a:r>
            <a:r>
              <a:rPr dirty="0" sz="1700" spc="24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fail</a:t>
            </a:r>
            <a:r>
              <a:rPr dirty="0" sz="1700" spc="24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under</a:t>
            </a:r>
            <a:r>
              <a:rPr dirty="0" sz="1700" spc="24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noise,</a:t>
            </a:r>
            <a:r>
              <a:rPr dirty="0" sz="1700" spc="240">
                <a:latin typeface="Times New Roman"/>
                <a:cs typeface="Times New Roman"/>
              </a:rPr>
              <a:t> </a:t>
            </a:r>
            <a:r>
              <a:rPr dirty="0" sz="1700" spc="-10">
                <a:latin typeface="Times New Roman"/>
                <a:cs typeface="Times New Roman"/>
              </a:rPr>
              <a:t>lighting </a:t>
            </a:r>
            <a:r>
              <a:rPr dirty="0" sz="1700">
                <a:latin typeface="Times New Roman"/>
                <a:cs typeface="Times New Roman"/>
              </a:rPr>
              <a:t>variation,</a:t>
            </a:r>
            <a:r>
              <a:rPr dirty="0" sz="1700" spc="-3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and</a:t>
            </a:r>
            <a:r>
              <a:rPr dirty="0" sz="1700" spc="-3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skin</a:t>
            </a:r>
            <a:r>
              <a:rPr dirty="0" sz="1700" spc="-30">
                <a:latin typeface="Times New Roman"/>
                <a:cs typeface="Times New Roman"/>
              </a:rPr>
              <a:t> </a:t>
            </a:r>
            <a:r>
              <a:rPr dirty="0" sz="1700" spc="-10">
                <a:latin typeface="Times New Roman"/>
                <a:cs typeface="Times New Roman"/>
              </a:rPr>
              <a:t>diversity.</a:t>
            </a:r>
            <a:endParaRPr sz="17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buFont typeface="MS PGothic"/>
              <a:buChar char="❖"/>
            </a:pPr>
            <a:endParaRPr sz="17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35"/>
              </a:spcBef>
              <a:buFont typeface="MS PGothic"/>
              <a:buChar char="❖"/>
            </a:pPr>
            <a:endParaRPr sz="1700">
              <a:latin typeface="Times New Roman"/>
              <a:cs typeface="Times New Roman"/>
            </a:endParaRPr>
          </a:p>
          <a:p>
            <a:pPr marL="456565" marR="5715" indent="-444500">
              <a:lnSpc>
                <a:spcPct val="110000"/>
              </a:lnSpc>
              <a:buFont typeface="MS PGothic"/>
              <a:buChar char="❖"/>
              <a:tabLst>
                <a:tab pos="456565" algn="l"/>
              </a:tabLst>
            </a:pPr>
            <a:r>
              <a:rPr dirty="0" sz="1700">
                <a:latin typeface="Times New Roman"/>
                <a:cs typeface="Times New Roman"/>
              </a:rPr>
              <a:t>A</a:t>
            </a:r>
            <a:r>
              <a:rPr dirty="0" sz="1700" spc="49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CNN-based</a:t>
            </a:r>
            <a:r>
              <a:rPr dirty="0" sz="1700" spc="49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transfer</a:t>
            </a:r>
            <a:r>
              <a:rPr dirty="0" sz="1700" spc="49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learning</a:t>
            </a:r>
            <a:r>
              <a:rPr dirty="0" sz="1700" spc="49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model</a:t>
            </a:r>
            <a:r>
              <a:rPr dirty="0" sz="1700" spc="49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is</a:t>
            </a:r>
            <a:r>
              <a:rPr dirty="0" sz="1700" spc="49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proposed</a:t>
            </a:r>
            <a:r>
              <a:rPr dirty="0" sz="1700" spc="49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to</a:t>
            </a:r>
            <a:r>
              <a:rPr dirty="0" sz="1700" spc="49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automatically</a:t>
            </a:r>
            <a:r>
              <a:rPr dirty="0" sz="1700" spc="49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extract</a:t>
            </a:r>
            <a:r>
              <a:rPr dirty="0" sz="1700" spc="49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discriminative</a:t>
            </a:r>
            <a:r>
              <a:rPr dirty="0" sz="1700" spc="49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features</a:t>
            </a:r>
            <a:r>
              <a:rPr dirty="0" sz="1700" spc="49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for</a:t>
            </a:r>
            <a:r>
              <a:rPr dirty="0" sz="1700" spc="490">
                <a:latin typeface="Times New Roman"/>
                <a:cs typeface="Times New Roman"/>
              </a:rPr>
              <a:t> </a:t>
            </a:r>
            <a:r>
              <a:rPr dirty="0" sz="1700" spc="-10">
                <a:latin typeface="Times New Roman"/>
                <a:cs typeface="Times New Roman"/>
              </a:rPr>
              <a:t>Monkeypox diagnosis.</a:t>
            </a:r>
            <a:endParaRPr sz="17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buFont typeface="MS PGothic"/>
              <a:buChar char="❖"/>
            </a:pPr>
            <a:endParaRPr sz="17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35"/>
              </a:spcBef>
              <a:buFont typeface="MS PGothic"/>
              <a:buChar char="❖"/>
            </a:pPr>
            <a:endParaRPr sz="1700">
              <a:latin typeface="Times New Roman"/>
              <a:cs typeface="Times New Roman"/>
            </a:endParaRPr>
          </a:p>
          <a:p>
            <a:pPr marL="456565" marR="20955" indent="-444500">
              <a:lnSpc>
                <a:spcPct val="110000"/>
              </a:lnSpc>
              <a:buFont typeface="MS PGothic"/>
              <a:buChar char="❖"/>
              <a:tabLst>
                <a:tab pos="456565" algn="l"/>
              </a:tabLst>
            </a:pPr>
            <a:r>
              <a:rPr dirty="0" sz="1700">
                <a:latin typeface="Times New Roman"/>
                <a:cs typeface="Times New Roman"/>
              </a:rPr>
              <a:t>The</a:t>
            </a:r>
            <a:r>
              <a:rPr dirty="0" sz="1700" spc="39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model</a:t>
            </a:r>
            <a:r>
              <a:rPr dirty="0" sz="1700" spc="39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integrates</a:t>
            </a:r>
            <a:r>
              <a:rPr dirty="0" sz="1700" spc="39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data</a:t>
            </a:r>
            <a:r>
              <a:rPr dirty="0" sz="1700" spc="39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augmentation,</a:t>
            </a:r>
            <a:r>
              <a:rPr dirty="0" sz="1700" spc="390">
                <a:latin typeface="Times New Roman"/>
                <a:cs typeface="Times New Roman"/>
              </a:rPr>
              <a:t> </a:t>
            </a:r>
            <a:r>
              <a:rPr dirty="0" sz="1700" spc="-20">
                <a:latin typeface="Times New Roman"/>
                <a:cs typeface="Times New Roman"/>
              </a:rPr>
              <a:t>fine-</a:t>
            </a:r>
            <a:r>
              <a:rPr dirty="0" sz="1700">
                <a:latin typeface="Times New Roman"/>
                <a:cs typeface="Times New Roman"/>
              </a:rPr>
              <a:t>tuning,</a:t>
            </a:r>
            <a:r>
              <a:rPr dirty="0" sz="1700" spc="39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and</a:t>
            </a:r>
            <a:r>
              <a:rPr dirty="0" sz="1700" spc="39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LIME</a:t>
            </a:r>
            <a:r>
              <a:rPr dirty="0" sz="1700" spc="39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explainability</a:t>
            </a:r>
            <a:r>
              <a:rPr dirty="0" sz="1700" spc="39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to</a:t>
            </a:r>
            <a:r>
              <a:rPr dirty="0" sz="1700" spc="39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enhance</a:t>
            </a:r>
            <a:r>
              <a:rPr dirty="0" sz="1700" spc="39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accuracy,</a:t>
            </a:r>
            <a:r>
              <a:rPr dirty="0" sz="1700" spc="39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robustness,</a:t>
            </a:r>
            <a:r>
              <a:rPr dirty="0" sz="1700" spc="390">
                <a:latin typeface="Times New Roman"/>
                <a:cs typeface="Times New Roman"/>
              </a:rPr>
              <a:t> </a:t>
            </a:r>
            <a:r>
              <a:rPr dirty="0" sz="1700" spc="-25">
                <a:latin typeface="Times New Roman"/>
                <a:cs typeface="Times New Roman"/>
              </a:rPr>
              <a:t>and </a:t>
            </a:r>
            <a:r>
              <a:rPr dirty="0" sz="1700" spc="-10">
                <a:latin typeface="Times New Roman"/>
                <a:cs typeface="Times New Roman"/>
              </a:rPr>
              <a:t>interpretability.</a:t>
            </a:r>
            <a:endParaRPr sz="17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buFont typeface="MS PGothic"/>
              <a:buChar char="❖"/>
            </a:pPr>
            <a:endParaRPr sz="17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35"/>
              </a:spcBef>
              <a:buFont typeface="MS PGothic"/>
              <a:buChar char="❖"/>
            </a:pPr>
            <a:endParaRPr sz="1700">
              <a:latin typeface="Times New Roman"/>
              <a:cs typeface="Times New Roman"/>
            </a:endParaRPr>
          </a:p>
          <a:p>
            <a:pPr marL="456565" marR="13335" indent="-444500">
              <a:lnSpc>
                <a:spcPct val="110000"/>
              </a:lnSpc>
              <a:buChar char="❖"/>
              <a:tabLst>
                <a:tab pos="456565" algn="l"/>
                <a:tab pos="536575" algn="l"/>
              </a:tabLst>
            </a:pPr>
            <a:r>
              <a:rPr dirty="0" sz="1700">
                <a:latin typeface="SimSun-ExtB"/>
                <a:cs typeface="SimSun-ExtB"/>
              </a:rPr>
              <a:t>	</a:t>
            </a:r>
            <a:r>
              <a:rPr dirty="0" sz="1700">
                <a:latin typeface="Times New Roman"/>
                <a:cs typeface="Times New Roman"/>
              </a:rPr>
              <a:t>In</a:t>
            </a:r>
            <a:r>
              <a:rPr dirty="0" sz="1700" spc="39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this</a:t>
            </a:r>
            <a:r>
              <a:rPr dirty="0" sz="1700" spc="39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study,</a:t>
            </a:r>
            <a:r>
              <a:rPr dirty="0" sz="1700" spc="39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we</a:t>
            </a:r>
            <a:r>
              <a:rPr dirty="0" sz="1700" spc="39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examine</a:t>
            </a:r>
            <a:r>
              <a:rPr dirty="0" sz="1700" spc="39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and</a:t>
            </a:r>
            <a:r>
              <a:rPr dirty="0" sz="1700" spc="39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contrast</a:t>
            </a:r>
            <a:r>
              <a:rPr dirty="0" sz="1700" spc="39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the</a:t>
            </a:r>
            <a:r>
              <a:rPr dirty="0" sz="1700" spc="39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eﬀectiveness</a:t>
            </a:r>
            <a:r>
              <a:rPr dirty="0" sz="1700" spc="39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of</a:t>
            </a:r>
            <a:r>
              <a:rPr dirty="0" sz="1700" spc="39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three</a:t>
            </a:r>
            <a:r>
              <a:rPr dirty="0" sz="1700" spc="39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top-performing</a:t>
            </a:r>
            <a:r>
              <a:rPr dirty="0" sz="1700" spc="39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CNN</a:t>
            </a:r>
            <a:r>
              <a:rPr dirty="0" sz="1700" spc="39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architectures</a:t>
            </a:r>
            <a:r>
              <a:rPr dirty="0" sz="1700" spc="39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for</a:t>
            </a:r>
            <a:r>
              <a:rPr dirty="0" sz="1700" spc="39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the</a:t>
            </a:r>
            <a:r>
              <a:rPr dirty="0" sz="1700" spc="395">
                <a:latin typeface="Times New Roman"/>
                <a:cs typeface="Times New Roman"/>
              </a:rPr>
              <a:t> </a:t>
            </a:r>
            <a:r>
              <a:rPr dirty="0" sz="1700" spc="-10">
                <a:latin typeface="Times New Roman"/>
                <a:cs typeface="Times New Roman"/>
              </a:rPr>
              <a:t>binary classification</a:t>
            </a:r>
            <a:r>
              <a:rPr dirty="0" sz="1700" spc="-2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of</a:t>
            </a:r>
            <a:r>
              <a:rPr dirty="0" sz="1700" spc="-1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monkeypox</a:t>
            </a:r>
            <a:r>
              <a:rPr dirty="0" sz="1700" spc="-2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versus</a:t>
            </a:r>
            <a:r>
              <a:rPr dirty="0" sz="1700" spc="-1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normal</a:t>
            </a:r>
            <a:r>
              <a:rPr dirty="0" sz="1700" spc="-2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skin:</a:t>
            </a:r>
            <a:r>
              <a:rPr dirty="0" sz="1700" spc="-1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InceptionV3,</a:t>
            </a:r>
            <a:r>
              <a:rPr dirty="0" sz="1700" spc="-1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DenseNet121,</a:t>
            </a:r>
            <a:r>
              <a:rPr dirty="0" sz="1700" spc="-2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and</a:t>
            </a:r>
            <a:r>
              <a:rPr dirty="0" sz="1700" spc="-15">
                <a:latin typeface="Times New Roman"/>
                <a:cs typeface="Times New Roman"/>
              </a:rPr>
              <a:t> </a:t>
            </a:r>
            <a:r>
              <a:rPr dirty="0" sz="1700" spc="-10">
                <a:latin typeface="Times New Roman"/>
                <a:cs typeface="Times New Roman"/>
              </a:rPr>
              <a:t>EﬃcientNetV2-</a:t>
            </a:r>
            <a:r>
              <a:rPr dirty="0" sz="1700" spc="-25">
                <a:latin typeface="Times New Roman"/>
                <a:cs typeface="Times New Roman"/>
              </a:rPr>
              <a:t>S.</a:t>
            </a:r>
            <a:endParaRPr sz="17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337919" y="145806"/>
            <a:ext cx="3335654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30"/>
              <a:t>LITERATURE</a:t>
            </a:r>
            <a:r>
              <a:rPr dirty="0" spc="-70"/>
              <a:t> </a:t>
            </a:r>
            <a:r>
              <a:rPr dirty="0" spc="-10"/>
              <a:t>SURVEY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4246277" y="6686263"/>
            <a:ext cx="868044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888888"/>
                </a:solidFill>
                <a:latin typeface="Times New Roman"/>
                <a:cs typeface="Times New Roman"/>
              </a:rPr>
              <a:t>Review</a:t>
            </a:r>
            <a:r>
              <a:rPr dirty="0" sz="1200" spc="-4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888888"/>
                </a:solidFill>
                <a:latin typeface="Times New Roman"/>
                <a:cs typeface="Times New Roman"/>
              </a:rPr>
              <a:t>No.</a:t>
            </a:r>
            <a:r>
              <a:rPr dirty="0" sz="1200" spc="-3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dirty="0" sz="1200" spc="-50">
                <a:solidFill>
                  <a:srgbClr val="888888"/>
                </a:solidFill>
                <a:latin typeface="Times New Roman"/>
                <a:cs typeface="Times New Roman"/>
              </a:rPr>
              <a:t>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5393216" y="6686263"/>
            <a:ext cx="1007744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888888"/>
                </a:solidFill>
                <a:latin typeface="Times New Roman"/>
                <a:cs typeface="Times New Roman"/>
              </a:rPr>
              <a:t>Batch</a:t>
            </a:r>
            <a:r>
              <a:rPr dirty="0" sz="1200" spc="-1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888888"/>
                </a:solidFill>
                <a:latin typeface="Times New Roman"/>
                <a:cs typeface="Times New Roman"/>
              </a:rPr>
              <a:t>No.</a:t>
            </a:r>
            <a:r>
              <a:rPr dirty="0" sz="1200" spc="28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dirty="0" sz="1200" spc="-25">
                <a:solidFill>
                  <a:srgbClr val="888888"/>
                </a:solidFill>
                <a:latin typeface="Times New Roman"/>
                <a:cs typeface="Times New Roman"/>
              </a:rPr>
              <a:t>DB4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6718158" y="6686263"/>
            <a:ext cx="122618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solidFill>
                  <a:srgbClr val="888888"/>
                </a:solidFill>
                <a:latin typeface="Times New Roman"/>
                <a:cs typeface="Times New Roman"/>
              </a:rPr>
              <a:t>Department</a:t>
            </a:r>
            <a:r>
              <a:rPr dirty="0" sz="1200" spc="-15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888888"/>
                </a:solidFill>
                <a:latin typeface="Times New Roman"/>
                <a:cs typeface="Times New Roman"/>
              </a:rPr>
              <a:t>of</a:t>
            </a:r>
            <a:r>
              <a:rPr dirty="0" sz="1200" spc="-5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dirty="0" sz="1200" spc="-25">
                <a:solidFill>
                  <a:srgbClr val="888888"/>
                </a:solidFill>
                <a:latin typeface="Times New Roman"/>
                <a:cs typeface="Times New Roman"/>
              </a:rPr>
              <a:t>CSE</a:t>
            </a:r>
            <a:endParaRPr sz="1200">
              <a:latin typeface="Times New Roman"/>
              <a:cs typeface="Times New Roman"/>
            </a:endParaRPr>
          </a:p>
        </p:txBody>
      </p:sp>
      <p:graphicFrame>
        <p:nvGraphicFramePr>
          <p:cNvPr id="6" name="object 6" descr=""/>
          <p:cNvGraphicFramePr>
            <a:graphicFrameLocks noGrp="1"/>
          </p:cNvGraphicFramePr>
          <p:nvPr/>
        </p:nvGraphicFramePr>
        <p:xfrm>
          <a:off x="295799" y="771549"/>
          <a:ext cx="11623675" cy="59404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07365"/>
                <a:gridCol w="2212340"/>
                <a:gridCol w="1393189"/>
                <a:gridCol w="2113915"/>
                <a:gridCol w="1957704"/>
                <a:gridCol w="1700529"/>
                <a:gridCol w="1647190"/>
              </a:tblGrid>
              <a:tr h="579120">
                <a:tc>
                  <a:txBody>
                    <a:bodyPr/>
                    <a:lstStyle/>
                    <a:p>
                      <a:pPr marL="132080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dirty="0" sz="1600" spc="-25" b="1">
                          <a:latin typeface="Calibri"/>
                          <a:cs typeface="Calibri"/>
                        </a:rPr>
                        <a:t>No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2984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dirty="0" sz="1600" spc="-10" b="1">
                          <a:latin typeface="Calibri"/>
                          <a:cs typeface="Calibri"/>
                        </a:rPr>
                        <a:t>Title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2984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400050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dirty="0" sz="1600" spc="-10" b="1">
                          <a:latin typeface="Calibri"/>
                          <a:cs typeface="Calibri"/>
                        </a:rPr>
                        <a:t>Author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2984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175260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dirty="0" sz="1600" b="1">
                          <a:latin typeface="Calibri"/>
                          <a:cs typeface="Calibri"/>
                        </a:rPr>
                        <a:t>Journal</a:t>
                      </a:r>
                      <a:r>
                        <a:rPr dirty="0" sz="1600" spc="-4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 b="1">
                          <a:latin typeface="Calibri"/>
                          <a:cs typeface="Calibri"/>
                        </a:rPr>
                        <a:t>Name</a:t>
                      </a:r>
                      <a:r>
                        <a:rPr dirty="0" sz="1600" spc="-3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 b="1">
                          <a:latin typeface="Calibri"/>
                          <a:cs typeface="Calibri"/>
                        </a:rPr>
                        <a:t>&amp;</a:t>
                      </a:r>
                      <a:r>
                        <a:rPr dirty="0" sz="1600" spc="-3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 spc="-20" b="1">
                          <a:latin typeface="Calibri"/>
                          <a:cs typeface="Calibri"/>
                        </a:rPr>
                        <a:t>Year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2984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619125" marR="403860" indent="-208915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dirty="0" sz="1600" spc="-10" b="1">
                          <a:latin typeface="Calibri"/>
                          <a:cs typeface="Calibri"/>
                        </a:rPr>
                        <a:t>Methodology Adapted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2984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326390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dirty="0" sz="1600" b="1">
                          <a:latin typeface="Calibri"/>
                          <a:cs typeface="Calibri"/>
                        </a:rPr>
                        <a:t>Key</a:t>
                      </a:r>
                      <a:r>
                        <a:rPr dirty="0" sz="1600" spc="-7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 spc="-10" b="1">
                          <a:latin typeface="Calibri"/>
                          <a:cs typeface="Calibri"/>
                        </a:rPr>
                        <a:t>Findings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2984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dirty="0" sz="1600" spc="-20" b="1">
                          <a:latin typeface="Calibri"/>
                          <a:cs typeface="Calibri"/>
                        </a:rPr>
                        <a:t>Gaps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2984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</a:tr>
              <a:tr h="1370965"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dirty="0" sz="1400" spc="-50">
                          <a:latin typeface="Calibri"/>
                          <a:cs typeface="Calibri"/>
                        </a:rPr>
                        <a:t>1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3048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 marR="11430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dirty="0" sz="1400">
                          <a:latin typeface="Times New Roman"/>
                          <a:cs typeface="Times New Roman"/>
                        </a:rPr>
                        <a:t>Automated</a:t>
                      </a:r>
                      <a:r>
                        <a:rPr dirty="0" sz="1400" spc="-7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Classification</a:t>
                      </a:r>
                      <a:r>
                        <a:rPr dirty="0" sz="1400" spc="-7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 spc="-25">
                          <a:latin typeface="Times New Roman"/>
                          <a:cs typeface="Times New Roman"/>
                        </a:rPr>
                        <a:t>of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Monkeypox</a:t>
                      </a:r>
                      <a:r>
                        <a:rPr dirty="0" sz="1400" spc="-7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Disease</a:t>
                      </a:r>
                      <a:r>
                        <a:rPr dirty="0" sz="1400" spc="-7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 spc="-10">
                          <a:latin typeface="Times New Roman"/>
                          <a:cs typeface="Times New Roman"/>
                        </a:rPr>
                        <a:t>based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on</a:t>
                      </a:r>
                      <a:r>
                        <a:rPr dirty="0" sz="14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Deep</a:t>
                      </a:r>
                      <a:r>
                        <a:rPr dirty="0" sz="14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 spc="-10">
                          <a:latin typeface="Times New Roman"/>
                          <a:cs typeface="Times New Roman"/>
                        </a:rPr>
                        <a:t>Learning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048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 marR="17145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dirty="0" sz="1400">
                          <a:latin typeface="Times New Roman"/>
                          <a:cs typeface="Times New Roman"/>
                        </a:rPr>
                        <a:t>Prajna</a:t>
                      </a:r>
                      <a:r>
                        <a:rPr dirty="0" sz="14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dirty="0" sz="14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 spc="-20">
                          <a:latin typeface="Times New Roman"/>
                          <a:cs typeface="Times New Roman"/>
                        </a:rPr>
                        <a:t>Shetty,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dirty="0" sz="1400" spc="-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 spc="-10">
                          <a:latin typeface="Times New Roman"/>
                          <a:cs typeface="Times New Roman"/>
                        </a:rPr>
                        <a:t>Namita.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048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 marR="12827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dirty="0" sz="1400" spc="-10">
                          <a:latin typeface="Times New Roman"/>
                          <a:cs typeface="Times New Roman"/>
                        </a:rPr>
                        <a:t>https://ieeexplore.ieee.org/ document/10801171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048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 marR="11303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dirty="0" sz="1400">
                          <a:latin typeface="Times New Roman"/>
                          <a:cs typeface="Times New Roman"/>
                        </a:rPr>
                        <a:t>Images</a:t>
                      </a:r>
                      <a:r>
                        <a:rPr dirty="0" sz="1400" spc="-5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were</a:t>
                      </a:r>
                      <a:r>
                        <a:rPr dirty="0" sz="1400" spc="-5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resized</a:t>
                      </a:r>
                      <a:r>
                        <a:rPr dirty="0" sz="1400" spc="-5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 spc="-25">
                          <a:latin typeface="Times New Roman"/>
                          <a:cs typeface="Times New Roman"/>
                        </a:rPr>
                        <a:t>and </a:t>
                      </a:r>
                      <a:r>
                        <a:rPr dirty="0" sz="1400" spc="-10">
                          <a:latin typeface="Times New Roman"/>
                          <a:cs typeface="Times New Roman"/>
                        </a:rPr>
                        <a:t>normalized.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85725" marR="15240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400" spc="-10">
                          <a:latin typeface="Times New Roman"/>
                          <a:cs typeface="Times New Roman"/>
                        </a:rPr>
                        <a:t>Augmentation techniques</a:t>
                      </a:r>
                      <a:r>
                        <a:rPr dirty="0" sz="14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like</a:t>
                      </a:r>
                      <a:r>
                        <a:rPr dirty="0" sz="14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 spc="-10">
                          <a:latin typeface="Times New Roman"/>
                          <a:cs typeface="Times New Roman"/>
                        </a:rPr>
                        <a:t>rotation.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048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 marR="518159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dirty="0" sz="1400">
                          <a:latin typeface="Times New Roman"/>
                          <a:cs typeface="Times New Roman"/>
                        </a:rPr>
                        <a:t>Evaluated</a:t>
                      </a:r>
                      <a:r>
                        <a:rPr dirty="0" sz="1400" spc="-6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 spc="-25">
                          <a:latin typeface="Times New Roman"/>
                          <a:cs typeface="Times New Roman"/>
                        </a:rPr>
                        <a:t>the </a:t>
                      </a:r>
                      <a:r>
                        <a:rPr dirty="0" sz="1400" spc="-10">
                          <a:latin typeface="Times New Roman"/>
                          <a:cs typeface="Times New Roman"/>
                        </a:rPr>
                        <a:t>performance</a:t>
                      </a:r>
                      <a:r>
                        <a:rPr dirty="0" sz="14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 spc="-25">
                          <a:latin typeface="Times New Roman"/>
                          <a:cs typeface="Times New Roman"/>
                        </a:rPr>
                        <a:t>of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ResNet50,</a:t>
                      </a:r>
                      <a:r>
                        <a:rPr dirty="0" sz="1400" spc="-6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 spc="-25">
                          <a:latin typeface="Times New Roman"/>
                          <a:cs typeface="Times New Roman"/>
                        </a:rPr>
                        <a:t>and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VGG16</a:t>
                      </a:r>
                      <a:r>
                        <a:rPr dirty="0" sz="14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on</a:t>
                      </a:r>
                      <a:r>
                        <a:rPr dirty="0" sz="14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 spc="-25">
                          <a:latin typeface="Times New Roman"/>
                          <a:cs typeface="Times New Roman"/>
                        </a:rPr>
                        <a:t>the </a:t>
                      </a:r>
                      <a:r>
                        <a:rPr dirty="0" sz="1400" spc="-10">
                          <a:latin typeface="Times New Roman"/>
                          <a:cs typeface="Times New Roman"/>
                        </a:rPr>
                        <a:t>dataset.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048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090" marR="27305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dirty="0" sz="1400">
                          <a:latin typeface="Times New Roman"/>
                          <a:cs typeface="Times New Roman"/>
                        </a:rPr>
                        <a:t>Dataset</a:t>
                      </a:r>
                      <a:r>
                        <a:rPr dirty="0" sz="1400" spc="-6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was</a:t>
                      </a:r>
                      <a:r>
                        <a:rPr dirty="0" sz="1400" spc="-5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 spc="-10">
                          <a:latin typeface="Times New Roman"/>
                          <a:cs typeface="Times New Roman"/>
                        </a:rPr>
                        <a:t>small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dirty="0" sz="14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may</a:t>
                      </a:r>
                      <a:r>
                        <a:rPr dirty="0" sz="14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 spc="-25">
                          <a:latin typeface="Times New Roman"/>
                          <a:cs typeface="Times New Roman"/>
                        </a:rPr>
                        <a:t>not </a:t>
                      </a:r>
                      <a:r>
                        <a:rPr dirty="0" sz="1400" spc="-10">
                          <a:latin typeface="Times New Roman"/>
                          <a:cs typeface="Times New Roman"/>
                        </a:rPr>
                        <a:t>generalize</a:t>
                      </a:r>
                      <a:r>
                        <a:rPr dirty="0" sz="14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well</a:t>
                      </a:r>
                      <a:r>
                        <a:rPr dirty="0" sz="1400" spc="-25">
                          <a:latin typeface="Times New Roman"/>
                          <a:cs typeface="Times New Roman"/>
                        </a:rPr>
                        <a:t> to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all</a:t>
                      </a:r>
                      <a:r>
                        <a:rPr dirty="0" sz="14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skin</a:t>
                      </a:r>
                      <a:r>
                        <a:rPr dirty="0" sz="14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tones</a:t>
                      </a:r>
                      <a:r>
                        <a:rPr dirty="0" sz="14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 spc="-25">
                          <a:latin typeface="Times New Roman"/>
                          <a:cs typeface="Times New Roman"/>
                        </a:rPr>
                        <a:t>and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lesion</a:t>
                      </a:r>
                      <a:r>
                        <a:rPr dirty="0" sz="14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 spc="-10">
                          <a:latin typeface="Times New Roman"/>
                          <a:cs typeface="Times New Roman"/>
                        </a:rPr>
                        <a:t>variations.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048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944244"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dirty="0" sz="1400" spc="-50">
                          <a:latin typeface="Calibri"/>
                          <a:cs typeface="Calibri"/>
                        </a:rPr>
                        <a:t>2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3048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525" marR="67945" indent="44450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1400">
                          <a:latin typeface="Times New Roman"/>
                          <a:cs typeface="Times New Roman"/>
                        </a:rPr>
                        <a:t>Detection</a:t>
                      </a:r>
                      <a:r>
                        <a:rPr dirty="0" sz="14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dirty="0" sz="14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 spc="-10">
                          <a:latin typeface="Times New Roman"/>
                          <a:cs typeface="Times New Roman"/>
                        </a:rPr>
                        <a:t>Monkeypox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Disease</a:t>
                      </a:r>
                      <a:r>
                        <a:rPr dirty="0" sz="1400" spc="-5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Using</a:t>
                      </a:r>
                      <a:r>
                        <a:rPr dirty="0" sz="1400" spc="-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Deep</a:t>
                      </a:r>
                      <a:r>
                        <a:rPr dirty="0" sz="1400" spc="-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 spc="-10">
                          <a:latin typeface="Times New Roman"/>
                          <a:cs typeface="Times New Roman"/>
                        </a:rPr>
                        <a:t>Learning Techniques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90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 marR="32766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dirty="0" sz="1400">
                          <a:latin typeface="Calibri"/>
                          <a:cs typeface="Calibri"/>
                        </a:rPr>
                        <a:t>G.</a:t>
                      </a:r>
                      <a:r>
                        <a:rPr dirty="0" sz="1400" spc="-4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>
                          <a:latin typeface="Calibri"/>
                          <a:cs typeface="Calibri"/>
                        </a:rPr>
                        <a:t>Arun,</a:t>
                      </a:r>
                      <a:r>
                        <a:rPr dirty="0" sz="1400" spc="-4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25">
                          <a:latin typeface="Calibri"/>
                          <a:cs typeface="Calibri"/>
                        </a:rPr>
                        <a:t>Ss </a:t>
                      </a:r>
                      <a:r>
                        <a:rPr dirty="0" sz="1400">
                          <a:latin typeface="Calibri"/>
                          <a:cs typeface="Calibri"/>
                        </a:rPr>
                        <a:t>Tharun</a:t>
                      </a:r>
                      <a:r>
                        <a:rPr dirty="0" sz="1400" spc="-7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10">
                          <a:latin typeface="Calibri"/>
                          <a:cs typeface="Calibri"/>
                        </a:rPr>
                        <a:t>Vikas.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3048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 marR="12827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dirty="0" sz="1400" spc="-10">
                          <a:latin typeface="Times New Roman"/>
                          <a:cs typeface="Times New Roman"/>
                        </a:rPr>
                        <a:t>https://ieeexplore.ieee.org/ document/10688010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048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 marR="30734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dirty="0" sz="1400" spc="-20">
                          <a:latin typeface="Times New Roman"/>
                          <a:cs typeface="Times New Roman"/>
                        </a:rPr>
                        <a:t>Data</a:t>
                      </a:r>
                      <a:r>
                        <a:rPr dirty="0" sz="1400" spc="-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 spc="-10">
                          <a:latin typeface="Times New Roman"/>
                          <a:cs typeface="Times New Roman"/>
                        </a:rPr>
                        <a:t>Augmentation Techniques,</a:t>
                      </a:r>
                      <a:r>
                        <a:rPr dirty="0" sz="1400" spc="-5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 spc="-10">
                          <a:latin typeface="Times New Roman"/>
                          <a:cs typeface="Times New Roman"/>
                        </a:rPr>
                        <a:t>Balanced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Dataset</a:t>
                      </a:r>
                      <a:r>
                        <a:rPr dirty="0" sz="1400" spc="-8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 spc="-10">
                          <a:latin typeface="Times New Roman"/>
                          <a:cs typeface="Times New Roman"/>
                        </a:rPr>
                        <a:t>Creation.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048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 marR="53784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dirty="0" sz="1400" spc="-20">
                          <a:latin typeface="Times New Roman"/>
                          <a:cs typeface="Times New Roman"/>
                        </a:rPr>
                        <a:t>Explainable</a:t>
                      </a:r>
                      <a:r>
                        <a:rPr dirty="0" sz="1400" spc="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 spc="-25">
                          <a:latin typeface="Times New Roman"/>
                          <a:cs typeface="Times New Roman"/>
                        </a:rPr>
                        <a:t>AI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(LIME</a:t>
                      </a:r>
                      <a:r>
                        <a:rPr dirty="0" sz="14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 spc="-50">
                          <a:latin typeface="Times New Roman"/>
                          <a:cs typeface="Times New Roman"/>
                        </a:rPr>
                        <a:t>&amp;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85725" marR="33909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400" spc="-10">
                          <a:latin typeface="Times New Roman"/>
                          <a:cs typeface="Times New Roman"/>
                        </a:rPr>
                        <a:t>Grad-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CAM)</a:t>
                      </a:r>
                      <a:r>
                        <a:rPr dirty="0" sz="1400" spc="-20">
                          <a:latin typeface="Times New Roman"/>
                          <a:cs typeface="Times New Roman"/>
                        </a:rPr>
                        <a:t> were </a:t>
                      </a:r>
                      <a:r>
                        <a:rPr dirty="0" sz="1400" spc="-10">
                          <a:latin typeface="Times New Roman"/>
                          <a:cs typeface="Times New Roman"/>
                        </a:rPr>
                        <a:t>integrated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048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090" marR="13017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dirty="0" sz="1400" spc="-20">
                          <a:latin typeface="Times New Roman"/>
                          <a:cs typeface="Times New Roman"/>
                        </a:rPr>
                        <a:t>Non-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clinical</a:t>
                      </a:r>
                      <a:r>
                        <a:rPr dirty="0" sz="1400" spc="-5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 spc="-10">
                          <a:latin typeface="Times New Roman"/>
                          <a:cs typeface="Times New Roman"/>
                        </a:rPr>
                        <a:t>dataset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with limited </a:t>
                      </a:r>
                      <a:r>
                        <a:rPr dirty="0" sz="1400" spc="-20">
                          <a:latin typeface="Times New Roman"/>
                          <a:cs typeface="Times New Roman"/>
                        </a:rPr>
                        <a:t>size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048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944244"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dirty="0" sz="1400" spc="-50">
                          <a:latin typeface="Calibri"/>
                          <a:cs typeface="Calibri"/>
                        </a:rPr>
                        <a:t>3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31114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 marR="436245" indent="40005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dirty="0" sz="1400" spc="-10">
                          <a:latin typeface="Calibri"/>
                          <a:cs typeface="Calibri"/>
                        </a:rPr>
                        <a:t>Mpoxnet:</a:t>
                      </a:r>
                      <a:r>
                        <a:rPr dirty="0" sz="1400" spc="-4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10">
                          <a:latin typeface="Calibri"/>
                          <a:cs typeface="Calibri"/>
                        </a:rPr>
                        <a:t>Detection</a:t>
                      </a:r>
                      <a:r>
                        <a:rPr dirty="0" sz="1400" spc="-4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25">
                          <a:latin typeface="Calibri"/>
                          <a:cs typeface="Calibri"/>
                        </a:rPr>
                        <a:t>of </a:t>
                      </a:r>
                      <a:r>
                        <a:rPr dirty="0" sz="1400" spc="-20">
                          <a:latin typeface="Calibri"/>
                          <a:cs typeface="Calibri"/>
                        </a:rPr>
                        <a:t>Monkeypox</a:t>
                      </a:r>
                      <a:r>
                        <a:rPr dirty="0" sz="1400" spc="-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>
                          <a:latin typeface="Calibri"/>
                          <a:cs typeface="Calibri"/>
                        </a:rPr>
                        <a:t>using</a:t>
                      </a:r>
                      <a:r>
                        <a:rPr dirty="0" sz="1400" spc="-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20">
                          <a:latin typeface="Calibri"/>
                          <a:cs typeface="Calibri"/>
                        </a:rPr>
                        <a:t>Deep </a:t>
                      </a:r>
                      <a:r>
                        <a:rPr dirty="0" sz="1400" spc="-10">
                          <a:latin typeface="Calibri"/>
                          <a:cs typeface="Calibri"/>
                        </a:rPr>
                        <a:t>Learning</a:t>
                      </a:r>
                      <a:r>
                        <a:rPr dirty="0" sz="14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>
                          <a:latin typeface="Calibri"/>
                          <a:cs typeface="Calibri"/>
                        </a:rPr>
                        <a:t>in</a:t>
                      </a:r>
                      <a:r>
                        <a:rPr dirty="0" sz="14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10">
                          <a:latin typeface="Calibri"/>
                          <a:cs typeface="Calibri"/>
                        </a:rPr>
                        <a:t>Digital</a:t>
                      </a:r>
                      <a:r>
                        <a:rPr dirty="0" sz="14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20">
                          <a:latin typeface="Calibri"/>
                          <a:cs typeface="Calibri"/>
                        </a:rPr>
                        <a:t>Skin </a:t>
                      </a:r>
                      <a:r>
                        <a:rPr dirty="0" sz="1400" spc="-10">
                          <a:latin typeface="Calibri"/>
                          <a:cs typeface="Calibri"/>
                        </a:rPr>
                        <a:t>Images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31114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 marR="152400" indent="40005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dirty="0" sz="1400" spc="-10">
                          <a:latin typeface="Calibri"/>
                          <a:cs typeface="Calibri"/>
                        </a:rPr>
                        <a:t>Vandana, </a:t>
                      </a:r>
                      <a:r>
                        <a:rPr dirty="0" sz="1400">
                          <a:latin typeface="Calibri"/>
                          <a:cs typeface="Calibri"/>
                        </a:rPr>
                        <a:t>Chetna</a:t>
                      </a:r>
                      <a:r>
                        <a:rPr dirty="0" sz="1400" spc="-7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10">
                          <a:latin typeface="Calibri"/>
                          <a:cs typeface="Calibri"/>
                        </a:rPr>
                        <a:t>Sharma.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31114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 marR="128270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dirty="0" sz="1400" spc="-10">
                          <a:latin typeface="Times New Roman"/>
                          <a:cs typeface="Times New Roman"/>
                        </a:rPr>
                        <a:t>https://ieeexplore.ieee.org/ document/10984329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1114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 marR="245110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dirty="0" sz="1400">
                          <a:latin typeface="Times New Roman"/>
                          <a:cs typeface="Times New Roman"/>
                        </a:rPr>
                        <a:t>Standard</a:t>
                      </a:r>
                      <a:r>
                        <a:rPr dirty="0" sz="14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Cleaning</a:t>
                      </a:r>
                      <a:r>
                        <a:rPr dirty="0" sz="1400" spc="-25">
                          <a:latin typeface="Times New Roman"/>
                          <a:cs typeface="Times New Roman"/>
                        </a:rPr>
                        <a:t> and </a:t>
                      </a:r>
                      <a:r>
                        <a:rPr dirty="0" sz="1400" spc="-10">
                          <a:latin typeface="Times New Roman"/>
                          <a:cs typeface="Times New Roman"/>
                        </a:rPr>
                        <a:t>Augmentation.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1114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 marR="175895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dirty="0" sz="1400">
                          <a:latin typeface="Times New Roman"/>
                          <a:cs typeface="Times New Roman"/>
                        </a:rPr>
                        <a:t>High</a:t>
                      </a:r>
                      <a:r>
                        <a:rPr dirty="0" sz="1400" spc="-9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Accuracy</a:t>
                      </a:r>
                      <a:r>
                        <a:rPr dirty="0" sz="1400" spc="-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 spc="-20">
                          <a:latin typeface="Times New Roman"/>
                          <a:cs typeface="Times New Roman"/>
                        </a:rPr>
                        <a:t>with </a:t>
                      </a:r>
                      <a:r>
                        <a:rPr dirty="0" sz="1400" spc="-10">
                          <a:latin typeface="Times New Roman"/>
                          <a:cs typeface="Times New Roman"/>
                        </a:rPr>
                        <a:t>MobileNetV2.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1114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090" marR="330200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dirty="0" sz="1400">
                          <a:latin typeface="Times New Roman"/>
                          <a:cs typeface="Times New Roman"/>
                        </a:rPr>
                        <a:t>Most</a:t>
                      </a:r>
                      <a:r>
                        <a:rPr dirty="0" sz="1400" spc="-5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 spc="-10">
                          <a:latin typeface="Times New Roman"/>
                          <a:cs typeface="Times New Roman"/>
                        </a:rPr>
                        <a:t>evaluations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are</a:t>
                      </a:r>
                      <a:r>
                        <a:rPr dirty="0" sz="14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 spc="-10">
                          <a:latin typeface="Times New Roman"/>
                          <a:cs typeface="Times New Roman"/>
                        </a:rPr>
                        <a:t>retrospective.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1114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944244"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dirty="0" sz="1400" spc="-50">
                          <a:latin typeface="Calibri"/>
                          <a:cs typeface="Calibri"/>
                        </a:rPr>
                        <a:t>4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31114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 marR="255904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dirty="0" sz="1400" spc="-10">
                          <a:latin typeface="Calibri"/>
                          <a:cs typeface="Calibri"/>
                        </a:rPr>
                        <a:t>Systematic</a:t>
                      </a:r>
                      <a:r>
                        <a:rPr dirty="0" sz="1400" spc="-4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>
                          <a:latin typeface="Calibri"/>
                          <a:cs typeface="Calibri"/>
                        </a:rPr>
                        <a:t>Study</a:t>
                      </a:r>
                      <a:r>
                        <a:rPr dirty="0" sz="1400" spc="-4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>
                          <a:latin typeface="Calibri"/>
                          <a:cs typeface="Calibri"/>
                        </a:rPr>
                        <a:t>of</a:t>
                      </a:r>
                      <a:r>
                        <a:rPr dirty="0" sz="1400" spc="-4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20">
                          <a:latin typeface="Calibri"/>
                          <a:cs typeface="Calibri"/>
                        </a:rPr>
                        <a:t>Deep </a:t>
                      </a:r>
                      <a:r>
                        <a:rPr dirty="0" sz="1400" spc="-10">
                          <a:latin typeface="Calibri"/>
                          <a:cs typeface="Calibri"/>
                        </a:rPr>
                        <a:t>Learning</a:t>
                      </a:r>
                      <a:r>
                        <a:rPr dirty="0" sz="1400" spc="-4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>
                          <a:latin typeface="Calibri"/>
                          <a:cs typeface="Calibri"/>
                        </a:rPr>
                        <a:t>Models</a:t>
                      </a:r>
                      <a:r>
                        <a:rPr dirty="0" sz="1400" spc="-4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25">
                          <a:latin typeface="Calibri"/>
                          <a:cs typeface="Calibri"/>
                        </a:rPr>
                        <a:t>for </a:t>
                      </a:r>
                      <a:r>
                        <a:rPr dirty="0" sz="1400" spc="-10">
                          <a:latin typeface="Calibri"/>
                          <a:cs typeface="Calibri"/>
                        </a:rPr>
                        <a:t>Image-</a:t>
                      </a:r>
                      <a:r>
                        <a:rPr dirty="0" sz="1400">
                          <a:latin typeface="Calibri"/>
                          <a:cs typeface="Calibri"/>
                        </a:rPr>
                        <a:t>Based</a:t>
                      </a:r>
                      <a:r>
                        <a:rPr dirty="0" sz="1400" spc="-4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10">
                          <a:latin typeface="Calibri"/>
                          <a:cs typeface="Calibri"/>
                        </a:rPr>
                        <a:t>Detection</a:t>
                      </a:r>
                      <a:r>
                        <a:rPr dirty="0" sz="1400" spc="-4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25">
                          <a:latin typeface="Calibri"/>
                          <a:cs typeface="Calibri"/>
                        </a:rPr>
                        <a:t>of </a:t>
                      </a:r>
                      <a:r>
                        <a:rPr dirty="0" sz="1400" spc="-20">
                          <a:latin typeface="Calibri"/>
                          <a:cs typeface="Calibri"/>
                        </a:rPr>
                        <a:t>Monkeypox</a:t>
                      </a:r>
                      <a:r>
                        <a:rPr dirty="0" sz="14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10">
                          <a:latin typeface="Calibri"/>
                          <a:cs typeface="Calibri"/>
                        </a:rPr>
                        <a:t>Virus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31114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 marR="542925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dirty="0" sz="1400" spc="-10">
                          <a:latin typeface="Calibri"/>
                          <a:cs typeface="Calibri"/>
                        </a:rPr>
                        <a:t>Vanessa Melencian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31114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 marR="128270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dirty="0" sz="1400" spc="-10">
                          <a:latin typeface="Times New Roman"/>
                          <a:cs typeface="Times New Roman"/>
                        </a:rPr>
                        <a:t>https://ieeexplore.ieee.org/ document/10528817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1114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 marR="378460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dirty="0" sz="1400">
                          <a:latin typeface="Times New Roman"/>
                          <a:cs typeface="Times New Roman"/>
                        </a:rPr>
                        <a:t>Hybrid </a:t>
                      </a:r>
                      <a:r>
                        <a:rPr dirty="0" sz="1400" spc="-10">
                          <a:latin typeface="Times New Roman"/>
                          <a:cs typeface="Times New Roman"/>
                        </a:rPr>
                        <a:t>CNN–LSTM Model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1114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 marR="112395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dirty="0" sz="1400" spc="-10">
                          <a:latin typeface="Calibri"/>
                          <a:cs typeface="Calibri"/>
                        </a:rPr>
                        <a:t>Improved</a:t>
                      </a:r>
                      <a:r>
                        <a:rPr dirty="0" sz="140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>
                          <a:latin typeface="Calibri"/>
                          <a:cs typeface="Calibri"/>
                        </a:rPr>
                        <a:t>Skin</a:t>
                      </a:r>
                      <a:r>
                        <a:rPr dirty="0" sz="140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10">
                          <a:latin typeface="Calibri"/>
                          <a:cs typeface="Calibri"/>
                        </a:rPr>
                        <a:t>lesion dataset.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31114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090" marR="408305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dirty="0" sz="1400">
                          <a:latin typeface="Times New Roman"/>
                          <a:cs typeface="Times New Roman"/>
                        </a:rPr>
                        <a:t>no</a:t>
                      </a:r>
                      <a:r>
                        <a:rPr dirty="0" sz="14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testing</a:t>
                      </a:r>
                      <a:r>
                        <a:rPr dirty="0" sz="14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 spc="-25">
                          <a:latin typeface="Times New Roman"/>
                          <a:cs typeface="Times New Roman"/>
                        </a:rPr>
                        <a:t>on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clinical</a:t>
                      </a:r>
                      <a:r>
                        <a:rPr dirty="0" sz="1400" spc="-8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 spc="-25">
                          <a:latin typeface="Times New Roman"/>
                          <a:cs typeface="Times New Roman"/>
                        </a:rPr>
                        <a:t>or </a:t>
                      </a:r>
                      <a:r>
                        <a:rPr dirty="0" sz="1400" spc="-10">
                          <a:latin typeface="Times New Roman"/>
                          <a:cs typeface="Times New Roman"/>
                        </a:rPr>
                        <a:t>independently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sourced</a:t>
                      </a:r>
                      <a:r>
                        <a:rPr dirty="0" sz="1400" spc="-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 spc="-10">
                          <a:latin typeface="Times New Roman"/>
                          <a:cs typeface="Times New Roman"/>
                        </a:rPr>
                        <a:t>images.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1114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157605"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dirty="0" sz="1400" spc="-50">
                          <a:latin typeface="Calibri"/>
                          <a:cs typeface="Calibri"/>
                        </a:rPr>
                        <a:t>5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31114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 marR="307975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dirty="0" sz="1400" spc="-20">
                          <a:latin typeface="Calibri"/>
                          <a:cs typeface="Calibri"/>
                        </a:rPr>
                        <a:t>Federated</a:t>
                      </a:r>
                      <a:r>
                        <a:rPr dirty="0" sz="140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>
                          <a:latin typeface="Calibri"/>
                          <a:cs typeface="Calibri"/>
                        </a:rPr>
                        <a:t>Deep</a:t>
                      </a:r>
                      <a:r>
                        <a:rPr dirty="0" sz="14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10">
                          <a:latin typeface="Calibri"/>
                          <a:cs typeface="Calibri"/>
                        </a:rPr>
                        <a:t>Learning </a:t>
                      </a:r>
                      <a:r>
                        <a:rPr dirty="0" sz="1400">
                          <a:latin typeface="Calibri"/>
                          <a:cs typeface="Calibri"/>
                        </a:rPr>
                        <a:t>for</a:t>
                      </a:r>
                      <a:r>
                        <a:rPr dirty="0" sz="140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20">
                          <a:latin typeface="Calibri"/>
                          <a:cs typeface="Calibri"/>
                        </a:rPr>
                        <a:t>Monkeypox</a:t>
                      </a:r>
                      <a:r>
                        <a:rPr dirty="0" sz="140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10">
                          <a:latin typeface="Calibri"/>
                          <a:cs typeface="Calibri"/>
                        </a:rPr>
                        <a:t>Disease Detection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31114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 marR="179070" indent="44450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dirty="0" sz="1400">
                          <a:latin typeface="Times New Roman"/>
                          <a:cs typeface="Times New Roman"/>
                        </a:rPr>
                        <a:t>Md.</a:t>
                      </a:r>
                      <a:r>
                        <a:rPr dirty="0" sz="14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 spc="-10">
                          <a:latin typeface="Times New Roman"/>
                          <a:cs typeface="Times New Roman"/>
                        </a:rPr>
                        <a:t>Mahbubur Rahman,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1114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 marR="128270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dirty="0" sz="1400" spc="-10">
                          <a:latin typeface="Times New Roman"/>
                          <a:cs typeface="Times New Roman"/>
                        </a:rPr>
                        <a:t>https://ieeexplore.ieee.org/ document/10445472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1114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 marR="147320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dirty="0" sz="1400">
                          <a:latin typeface="Times New Roman"/>
                          <a:cs typeface="Times New Roman"/>
                        </a:rPr>
                        <a:t>Image</a:t>
                      </a:r>
                      <a:r>
                        <a:rPr dirty="0" sz="14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Resizing</a:t>
                      </a:r>
                      <a:r>
                        <a:rPr dirty="0" sz="14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&amp;</a:t>
                      </a:r>
                      <a:r>
                        <a:rPr dirty="0" sz="14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 spc="-10">
                          <a:latin typeface="Times New Roman"/>
                          <a:cs typeface="Times New Roman"/>
                        </a:rPr>
                        <a:t>color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Format</a:t>
                      </a:r>
                      <a:r>
                        <a:rPr dirty="0" sz="14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 spc="-10">
                          <a:latin typeface="Times New Roman"/>
                          <a:cs typeface="Times New Roman"/>
                        </a:rPr>
                        <a:t>Standardization.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1114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dirty="0" sz="1400" spc="-65">
                          <a:latin typeface="Times New Roman"/>
                          <a:cs typeface="Times New Roman"/>
                        </a:rPr>
                        <a:t>ViT-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B32 +</a:t>
                      </a:r>
                      <a:r>
                        <a:rPr dirty="0" sz="1400" spc="-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FL</a:t>
                      </a:r>
                      <a:r>
                        <a:rPr dirty="0" sz="1400" spc="-5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 spc="-50">
                          <a:latin typeface="Times New Roman"/>
                          <a:cs typeface="Times New Roman"/>
                        </a:rPr>
                        <a:t>+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85725" marR="146050">
                        <a:lnSpc>
                          <a:spcPct val="100000"/>
                        </a:lnSpc>
                      </a:pPr>
                      <a:r>
                        <a:rPr dirty="0" sz="1400">
                          <a:latin typeface="Times New Roman"/>
                          <a:cs typeface="Times New Roman"/>
                        </a:rPr>
                        <a:t>GAN</a:t>
                      </a:r>
                      <a:r>
                        <a:rPr dirty="0" sz="1400" spc="-5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 spc="-10">
                          <a:latin typeface="Times New Roman"/>
                          <a:cs typeface="Times New Roman"/>
                        </a:rPr>
                        <a:t>combo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achieved</a:t>
                      </a:r>
                      <a:r>
                        <a:rPr dirty="0" sz="14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dirty="0" sz="1400" spc="-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 spc="-10">
                          <a:latin typeface="Times New Roman"/>
                          <a:cs typeface="Times New Roman"/>
                        </a:rPr>
                        <a:t>highest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accuracy</a:t>
                      </a:r>
                      <a:r>
                        <a:rPr dirty="0" sz="14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dirty="0" sz="14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 spc="-10">
                          <a:latin typeface="Times New Roman"/>
                          <a:cs typeface="Times New Roman"/>
                        </a:rPr>
                        <a:t>97.90%.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1114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090" marR="344805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dirty="0" sz="1400">
                          <a:latin typeface="Times New Roman"/>
                          <a:cs typeface="Times New Roman"/>
                        </a:rPr>
                        <a:t>Real</a:t>
                      </a:r>
                      <a:r>
                        <a:rPr dirty="0" sz="1400" spc="-5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 spc="-10">
                          <a:latin typeface="Times New Roman"/>
                          <a:cs typeface="Times New Roman"/>
                        </a:rPr>
                        <a:t>monkeypox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images</a:t>
                      </a:r>
                      <a:r>
                        <a:rPr dirty="0" sz="1400" spc="-7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 spc="-10">
                          <a:latin typeface="Times New Roman"/>
                          <a:cs typeface="Times New Roman"/>
                        </a:rPr>
                        <a:t>heavily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reliant</a:t>
                      </a:r>
                      <a:r>
                        <a:rPr dirty="0" sz="14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 spc="-25">
                          <a:latin typeface="Times New Roman"/>
                          <a:cs typeface="Times New Roman"/>
                        </a:rPr>
                        <a:t>on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85090" marR="418465">
                        <a:lnSpc>
                          <a:spcPct val="100000"/>
                        </a:lnSpc>
                        <a:tabLst>
                          <a:tab pos="1002030" algn="l"/>
                        </a:tabLst>
                      </a:pPr>
                      <a:r>
                        <a:rPr dirty="0" sz="1400" spc="-10">
                          <a:latin typeface="Times New Roman"/>
                          <a:cs typeface="Times New Roman"/>
                        </a:rPr>
                        <a:t>GAN-generated data.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dirty="0" baseline="11574" sz="1800" spc="-75">
                          <a:solidFill>
                            <a:srgbClr val="888888"/>
                          </a:solidFill>
                          <a:latin typeface="Times New Roman"/>
                          <a:cs typeface="Times New Roman"/>
                        </a:rPr>
                        <a:t>5</a:t>
                      </a:r>
                      <a:endParaRPr baseline="11574"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1114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79894" y="589430"/>
            <a:ext cx="3335654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30"/>
              <a:t>LITERATURE</a:t>
            </a:r>
            <a:r>
              <a:rPr dirty="0" spc="-70"/>
              <a:t> </a:t>
            </a:r>
            <a:r>
              <a:rPr dirty="0" spc="-10"/>
              <a:t>SURVEY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4246277" y="6428676"/>
            <a:ext cx="868044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888888"/>
                </a:solidFill>
                <a:latin typeface="Times New Roman"/>
                <a:cs typeface="Times New Roman"/>
              </a:rPr>
              <a:t>Review</a:t>
            </a:r>
            <a:r>
              <a:rPr dirty="0" sz="1200" spc="-4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888888"/>
                </a:solidFill>
                <a:latin typeface="Times New Roman"/>
                <a:cs typeface="Times New Roman"/>
              </a:rPr>
              <a:t>No.</a:t>
            </a:r>
            <a:r>
              <a:rPr dirty="0" sz="1200" spc="-3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dirty="0" sz="1200" spc="-50">
                <a:solidFill>
                  <a:srgbClr val="888888"/>
                </a:solidFill>
                <a:latin typeface="Times New Roman"/>
                <a:cs typeface="Times New Roman"/>
              </a:rPr>
              <a:t>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5393216" y="6428676"/>
            <a:ext cx="931544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888888"/>
                </a:solidFill>
                <a:latin typeface="Times New Roman"/>
                <a:cs typeface="Times New Roman"/>
              </a:rPr>
              <a:t>Batch</a:t>
            </a:r>
            <a:r>
              <a:rPr dirty="0" sz="1200" spc="-3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dirty="0" sz="1200" spc="-10">
                <a:solidFill>
                  <a:srgbClr val="888888"/>
                </a:solidFill>
                <a:latin typeface="Times New Roman"/>
                <a:cs typeface="Times New Roman"/>
              </a:rPr>
              <a:t>No.DB4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6718158" y="6428676"/>
            <a:ext cx="122618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solidFill>
                  <a:srgbClr val="888888"/>
                </a:solidFill>
                <a:latin typeface="Times New Roman"/>
                <a:cs typeface="Times New Roman"/>
              </a:rPr>
              <a:t>Department</a:t>
            </a:r>
            <a:r>
              <a:rPr dirty="0" sz="1200" spc="-15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888888"/>
                </a:solidFill>
                <a:latin typeface="Times New Roman"/>
                <a:cs typeface="Times New Roman"/>
              </a:rPr>
              <a:t>of</a:t>
            </a:r>
            <a:r>
              <a:rPr dirty="0" sz="1200" spc="-5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dirty="0" sz="1200" spc="-25">
                <a:solidFill>
                  <a:srgbClr val="888888"/>
                </a:solidFill>
                <a:latin typeface="Times New Roman"/>
                <a:cs typeface="Times New Roman"/>
              </a:rPr>
              <a:t>CSE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11179175" y="6428676"/>
            <a:ext cx="10160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0">
                <a:solidFill>
                  <a:srgbClr val="888888"/>
                </a:solidFill>
                <a:latin typeface="Times New Roman"/>
                <a:cs typeface="Times New Roman"/>
              </a:rPr>
              <a:t>6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585311" y="1269746"/>
            <a:ext cx="11109960" cy="414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76884" algn="l"/>
              </a:tabLst>
            </a:pPr>
            <a:r>
              <a:rPr dirty="0" sz="1800" spc="-50">
                <a:latin typeface="MS PGothic"/>
                <a:cs typeface="MS PGothic"/>
              </a:rPr>
              <a:t>★</a:t>
            </a:r>
            <a:r>
              <a:rPr dirty="0" sz="1800">
                <a:latin typeface="MS PGothic"/>
                <a:cs typeface="MS PGothic"/>
              </a:rPr>
              <a:t>	</a:t>
            </a:r>
            <a:r>
              <a:rPr dirty="0" sz="1800" spc="-10" b="1">
                <a:latin typeface="Times New Roman"/>
                <a:cs typeface="Times New Roman"/>
              </a:rPr>
              <a:t>“Automated</a:t>
            </a:r>
            <a:r>
              <a:rPr dirty="0" sz="1800" spc="-45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Classification</a:t>
            </a:r>
            <a:r>
              <a:rPr dirty="0" sz="1800" spc="-45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of</a:t>
            </a:r>
            <a:r>
              <a:rPr dirty="0" sz="1800" spc="-40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Monkeypox</a:t>
            </a:r>
            <a:r>
              <a:rPr dirty="0" sz="1800" spc="-45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Disease</a:t>
            </a:r>
            <a:r>
              <a:rPr dirty="0" sz="1800" spc="-45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Based</a:t>
            </a:r>
            <a:r>
              <a:rPr dirty="0" sz="1800" spc="-40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on</a:t>
            </a:r>
            <a:r>
              <a:rPr dirty="0" sz="1800" spc="-45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Deep</a:t>
            </a:r>
            <a:r>
              <a:rPr dirty="0" sz="1800" spc="-45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Learning”</a:t>
            </a:r>
            <a:r>
              <a:rPr dirty="0" sz="1800" spc="-45" b="1">
                <a:latin typeface="Times New Roman"/>
                <a:cs typeface="Times New Roman"/>
              </a:rPr>
              <a:t> </a:t>
            </a:r>
            <a:r>
              <a:rPr dirty="0" sz="1800" spc="-50">
                <a:latin typeface="Times New Roman"/>
                <a:cs typeface="Times New Roman"/>
              </a:rPr>
              <a:t>–</a:t>
            </a:r>
            <a:endParaRPr sz="1800">
              <a:latin typeface="Times New Roman"/>
              <a:cs typeface="Times New Roman"/>
            </a:endParaRPr>
          </a:p>
          <a:p>
            <a:pPr marL="534035">
              <a:lnSpc>
                <a:spcPct val="100000"/>
              </a:lnSpc>
            </a:pPr>
            <a:r>
              <a:rPr dirty="0" sz="1800" spc="-20">
                <a:latin typeface="Times New Roman"/>
                <a:cs typeface="Times New Roman"/>
              </a:rPr>
              <a:t>CNN-</a:t>
            </a:r>
            <a:r>
              <a:rPr dirty="0" sz="1800">
                <a:latin typeface="Times New Roman"/>
                <a:cs typeface="Times New Roman"/>
              </a:rPr>
              <a:t>based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system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for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automatic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skin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lesion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classification;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gap:</a:t>
            </a:r>
            <a:r>
              <a:rPr dirty="0" sz="1800" spc="-25" b="1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limited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testing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on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diverse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real-</a:t>
            </a:r>
            <a:r>
              <a:rPr dirty="0" sz="1800">
                <a:latin typeface="Times New Roman"/>
                <a:cs typeface="Times New Roman"/>
              </a:rPr>
              <a:t>world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images.</a:t>
            </a: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90"/>
              </a:spcBef>
            </a:pP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tabLst>
                <a:tab pos="476884" algn="l"/>
              </a:tabLst>
            </a:pPr>
            <a:r>
              <a:rPr dirty="0" sz="1800" spc="-50">
                <a:latin typeface="MS PGothic"/>
                <a:cs typeface="MS PGothic"/>
              </a:rPr>
              <a:t>★</a:t>
            </a:r>
            <a:r>
              <a:rPr dirty="0" sz="1800">
                <a:latin typeface="MS PGothic"/>
                <a:cs typeface="MS PGothic"/>
              </a:rPr>
              <a:t>	</a:t>
            </a:r>
            <a:r>
              <a:rPr dirty="0" sz="1800" b="1">
                <a:latin typeface="Times New Roman"/>
                <a:cs typeface="Times New Roman"/>
              </a:rPr>
              <a:t>“Detection</a:t>
            </a:r>
            <a:r>
              <a:rPr dirty="0" sz="1800" spc="-35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of</a:t>
            </a:r>
            <a:r>
              <a:rPr dirty="0" sz="1800" spc="-35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Monkeypox</a:t>
            </a:r>
            <a:r>
              <a:rPr dirty="0" sz="1800" spc="-30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Disease</a:t>
            </a:r>
            <a:r>
              <a:rPr dirty="0" sz="1800" spc="-35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Using</a:t>
            </a:r>
            <a:r>
              <a:rPr dirty="0" sz="1800" spc="-30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Deep</a:t>
            </a:r>
            <a:r>
              <a:rPr dirty="0" sz="1800" spc="-35" b="1">
                <a:latin typeface="Times New Roman"/>
                <a:cs typeface="Times New Roman"/>
              </a:rPr>
              <a:t> </a:t>
            </a:r>
            <a:r>
              <a:rPr dirty="0" sz="1800" spc="-10" b="1">
                <a:latin typeface="Times New Roman"/>
                <a:cs typeface="Times New Roman"/>
              </a:rPr>
              <a:t>Learning</a:t>
            </a:r>
            <a:r>
              <a:rPr dirty="0" sz="1800" spc="-90" b="1">
                <a:latin typeface="Times New Roman"/>
                <a:cs typeface="Times New Roman"/>
              </a:rPr>
              <a:t> </a:t>
            </a:r>
            <a:r>
              <a:rPr dirty="0" sz="1800" spc="-10" b="1">
                <a:latin typeface="Times New Roman"/>
                <a:cs typeface="Times New Roman"/>
              </a:rPr>
              <a:t>Techniques”</a:t>
            </a:r>
            <a:r>
              <a:rPr dirty="0" sz="1800" spc="-35" b="1">
                <a:latin typeface="Times New Roman"/>
                <a:cs typeface="Times New Roman"/>
              </a:rPr>
              <a:t> </a:t>
            </a:r>
            <a:r>
              <a:rPr dirty="0" sz="1800" spc="-50">
                <a:latin typeface="Times New Roman"/>
                <a:cs typeface="Times New Roman"/>
              </a:rPr>
              <a:t>–</a:t>
            </a:r>
            <a:endParaRPr sz="1800">
              <a:latin typeface="Times New Roman"/>
              <a:cs typeface="Times New Roman"/>
            </a:endParaRPr>
          </a:p>
          <a:p>
            <a:pPr marL="534035">
              <a:lnSpc>
                <a:spcPct val="100000"/>
              </a:lnSpc>
            </a:pPr>
            <a:r>
              <a:rPr dirty="0" sz="1800" spc="-10">
                <a:latin typeface="Times New Roman"/>
                <a:cs typeface="Times New Roman"/>
              </a:rPr>
              <a:t>Comparative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evaluation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of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pre-</a:t>
            </a:r>
            <a:r>
              <a:rPr dirty="0" sz="1800">
                <a:latin typeface="Times New Roman"/>
                <a:cs typeface="Times New Roman"/>
              </a:rPr>
              <a:t>trained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CNNs;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gap:</a:t>
            </a:r>
            <a:r>
              <a:rPr dirty="0" sz="1800" spc="-25" b="1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lacks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model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interpretability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and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explainability.</a:t>
            </a: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90"/>
              </a:spcBef>
            </a:pP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tabLst>
                <a:tab pos="476884" algn="l"/>
              </a:tabLst>
            </a:pPr>
            <a:r>
              <a:rPr dirty="0" sz="1800" spc="-50">
                <a:latin typeface="MS PGothic"/>
                <a:cs typeface="MS PGothic"/>
              </a:rPr>
              <a:t>★</a:t>
            </a:r>
            <a:r>
              <a:rPr dirty="0" sz="1800">
                <a:latin typeface="MS PGothic"/>
                <a:cs typeface="MS PGothic"/>
              </a:rPr>
              <a:t>	</a:t>
            </a:r>
            <a:r>
              <a:rPr dirty="0" sz="1800" b="1">
                <a:latin typeface="Times New Roman"/>
                <a:cs typeface="Times New Roman"/>
              </a:rPr>
              <a:t>“MpoxNet:</a:t>
            </a:r>
            <a:r>
              <a:rPr dirty="0" sz="1800" spc="-35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Detection</a:t>
            </a:r>
            <a:r>
              <a:rPr dirty="0" sz="1800" spc="-35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of</a:t>
            </a:r>
            <a:r>
              <a:rPr dirty="0" sz="1800" spc="-30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Monkeypox</a:t>
            </a:r>
            <a:r>
              <a:rPr dirty="0" sz="1800" spc="-35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Using</a:t>
            </a:r>
            <a:r>
              <a:rPr dirty="0" sz="1800" spc="-30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Deep</a:t>
            </a:r>
            <a:r>
              <a:rPr dirty="0" sz="1800" spc="-35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Learning</a:t>
            </a:r>
            <a:r>
              <a:rPr dirty="0" sz="1800" spc="-30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in</a:t>
            </a:r>
            <a:r>
              <a:rPr dirty="0" sz="1800" spc="-35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Digital</a:t>
            </a:r>
            <a:r>
              <a:rPr dirty="0" sz="1800" spc="-30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Skin</a:t>
            </a:r>
            <a:r>
              <a:rPr dirty="0" sz="1800" spc="-35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Images”</a:t>
            </a:r>
            <a:r>
              <a:rPr dirty="0" sz="1800" spc="-35" b="1">
                <a:latin typeface="Times New Roman"/>
                <a:cs typeface="Times New Roman"/>
              </a:rPr>
              <a:t> </a:t>
            </a:r>
            <a:r>
              <a:rPr dirty="0" sz="1800" spc="-50">
                <a:latin typeface="Times New Roman"/>
                <a:cs typeface="Times New Roman"/>
              </a:rPr>
              <a:t>–</a:t>
            </a:r>
            <a:endParaRPr sz="1800">
              <a:latin typeface="Times New Roman"/>
              <a:cs typeface="Times New Roman"/>
            </a:endParaRPr>
          </a:p>
          <a:p>
            <a:pPr marL="534035">
              <a:lnSpc>
                <a:spcPct val="100000"/>
              </a:lnSpc>
            </a:pPr>
            <a:r>
              <a:rPr dirty="0" sz="1800">
                <a:latin typeface="Times New Roman"/>
                <a:cs typeface="Times New Roman"/>
              </a:rPr>
              <a:t>Lightweight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CNN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optimized</a:t>
            </a:r>
            <a:r>
              <a:rPr dirty="0" sz="1800" spc="-2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for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mobile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deployment;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gap:</a:t>
            </a:r>
            <a:r>
              <a:rPr dirty="0" sz="1800" spc="-25" b="1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lower</a:t>
            </a:r>
            <a:r>
              <a:rPr dirty="0" sz="1800" spc="-2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accuracy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on</a:t>
            </a:r>
            <a:r>
              <a:rPr dirty="0" sz="1800" spc="-2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complex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lesion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patterns.</a:t>
            </a: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90"/>
              </a:spcBef>
            </a:pPr>
            <a:endParaRPr sz="1800">
              <a:latin typeface="Times New Roman"/>
              <a:cs typeface="Times New Roman"/>
            </a:endParaRPr>
          </a:p>
          <a:p>
            <a:pPr marL="534035" marR="5080" indent="-521970">
              <a:lnSpc>
                <a:spcPct val="100000"/>
              </a:lnSpc>
              <a:tabLst>
                <a:tab pos="476884" algn="l"/>
              </a:tabLst>
            </a:pPr>
            <a:r>
              <a:rPr dirty="0" sz="1800" spc="-50">
                <a:latin typeface="MS PGothic"/>
                <a:cs typeface="MS PGothic"/>
              </a:rPr>
              <a:t>★</a:t>
            </a:r>
            <a:r>
              <a:rPr dirty="0" sz="1800">
                <a:latin typeface="MS PGothic"/>
                <a:cs typeface="MS PGothic"/>
              </a:rPr>
              <a:t>	</a:t>
            </a:r>
            <a:r>
              <a:rPr dirty="0" sz="1800" b="1">
                <a:latin typeface="Times New Roman"/>
                <a:cs typeface="Times New Roman"/>
              </a:rPr>
              <a:t>“Systematic</a:t>
            </a:r>
            <a:r>
              <a:rPr dirty="0" sz="1800" spc="-40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Study</a:t>
            </a:r>
            <a:r>
              <a:rPr dirty="0" sz="1800" spc="-40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of</a:t>
            </a:r>
            <a:r>
              <a:rPr dirty="0" sz="1800" spc="-40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Deep</a:t>
            </a:r>
            <a:r>
              <a:rPr dirty="0" sz="1800" spc="-40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Learning</a:t>
            </a:r>
            <a:r>
              <a:rPr dirty="0" sz="1800" spc="-40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Models</a:t>
            </a:r>
            <a:r>
              <a:rPr dirty="0" sz="1800" spc="-35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for</a:t>
            </a:r>
            <a:r>
              <a:rPr dirty="0" sz="1800" spc="-40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Image-Based</a:t>
            </a:r>
            <a:r>
              <a:rPr dirty="0" sz="1800" spc="-40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Detection</a:t>
            </a:r>
            <a:r>
              <a:rPr dirty="0" sz="1800" spc="-40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of</a:t>
            </a:r>
            <a:r>
              <a:rPr dirty="0" sz="1800" spc="-40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Monkeypox</a:t>
            </a:r>
            <a:r>
              <a:rPr dirty="0" sz="1800" spc="-110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Virus”</a:t>
            </a:r>
            <a:r>
              <a:rPr dirty="0" sz="1800" spc="-45" b="1">
                <a:latin typeface="Times New Roman"/>
                <a:cs typeface="Times New Roman"/>
              </a:rPr>
              <a:t> </a:t>
            </a:r>
            <a:r>
              <a:rPr dirty="0" sz="1800" spc="-50">
                <a:latin typeface="Times New Roman"/>
                <a:cs typeface="Times New Roman"/>
              </a:rPr>
              <a:t>– </a:t>
            </a:r>
            <a:r>
              <a:rPr dirty="0" sz="1800">
                <a:latin typeface="Times New Roman"/>
                <a:cs typeface="Times New Roman"/>
              </a:rPr>
              <a:t>Benchmarking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of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multiple</a:t>
            </a:r>
            <a:r>
              <a:rPr dirty="0" sz="1800" spc="-2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CNNs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for</a:t>
            </a:r>
            <a:r>
              <a:rPr dirty="0" sz="1800" spc="-2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Monkeypox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classification;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gap:</a:t>
            </a:r>
            <a:r>
              <a:rPr dirty="0" sz="1800" spc="-25" b="1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models</a:t>
            </a:r>
            <a:r>
              <a:rPr dirty="0" sz="1800" spc="-2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struggle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with</a:t>
            </a:r>
            <a:r>
              <a:rPr dirty="0" sz="1800" spc="-2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small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dataset</a:t>
            </a:r>
            <a:r>
              <a:rPr dirty="0" sz="1800" spc="-20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variability.</a:t>
            </a: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90"/>
              </a:spcBef>
            </a:pP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tabLst>
                <a:tab pos="476884" algn="l"/>
              </a:tabLst>
            </a:pPr>
            <a:r>
              <a:rPr dirty="0" sz="1800" spc="-50">
                <a:latin typeface="MS PGothic"/>
                <a:cs typeface="MS PGothic"/>
              </a:rPr>
              <a:t>★</a:t>
            </a:r>
            <a:r>
              <a:rPr dirty="0" sz="1800">
                <a:latin typeface="MS PGothic"/>
                <a:cs typeface="MS PGothic"/>
              </a:rPr>
              <a:t>	</a:t>
            </a:r>
            <a:r>
              <a:rPr dirty="0" sz="1800" spc="-10" b="1">
                <a:latin typeface="Times New Roman"/>
                <a:cs typeface="Times New Roman"/>
              </a:rPr>
              <a:t>“Federated</a:t>
            </a:r>
            <a:r>
              <a:rPr dirty="0" sz="1800" spc="-50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Deep</a:t>
            </a:r>
            <a:r>
              <a:rPr dirty="0" sz="1800" spc="-50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Learning</a:t>
            </a:r>
            <a:r>
              <a:rPr dirty="0" sz="1800" spc="-50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for</a:t>
            </a:r>
            <a:r>
              <a:rPr dirty="0" sz="1800" spc="-45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Monkeypox</a:t>
            </a:r>
            <a:r>
              <a:rPr dirty="0" sz="1800" spc="-50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Disease</a:t>
            </a:r>
            <a:r>
              <a:rPr dirty="0" sz="1800" spc="-50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Detection”</a:t>
            </a:r>
            <a:r>
              <a:rPr dirty="0" sz="1800" spc="-55" b="1">
                <a:latin typeface="Times New Roman"/>
                <a:cs typeface="Times New Roman"/>
              </a:rPr>
              <a:t> </a:t>
            </a:r>
            <a:r>
              <a:rPr dirty="0" sz="1800" spc="-50">
                <a:latin typeface="Times New Roman"/>
                <a:cs typeface="Times New Roman"/>
              </a:rPr>
              <a:t>–</a:t>
            </a:r>
            <a:endParaRPr sz="1800">
              <a:latin typeface="Times New Roman"/>
              <a:cs typeface="Times New Roman"/>
            </a:endParaRPr>
          </a:p>
          <a:p>
            <a:pPr marL="476884" marR="164465" indent="57150">
              <a:lnSpc>
                <a:spcPct val="100000"/>
              </a:lnSpc>
            </a:pPr>
            <a:r>
              <a:rPr dirty="0" sz="1800">
                <a:latin typeface="Times New Roman"/>
                <a:cs typeface="Times New Roman"/>
              </a:rPr>
              <a:t>Distributed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model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training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approach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ensuring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data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privacy;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gap:</a:t>
            </a:r>
            <a:r>
              <a:rPr dirty="0" sz="1800" spc="-30" b="1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high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communication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cost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and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lower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convergence speed.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336675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RESEARCH</a:t>
            </a:r>
            <a:r>
              <a:rPr dirty="0" spc="-95"/>
              <a:t> </a:t>
            </a:r>
            <a:r>
              <a:rPr dirty="0" spc="-20"/>
              <a:t>GAPS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4246277" y="6565189"/>
            <a:ext cx="829944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888888"/>
                </a:solidFill>
                <a:latin typeface="Times New Roman"/>
                <a:cs typeface="Times New Roman"/>
              </a:rPr>
              <a:t>Review</a:t>
            </a:r>
            <a:r>
              <a:rPr dirty="0" sz="1200" spc="-7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dirty="0" sz="1200" spc="-20">
                <a:solidFill>
                  <a:srgbClr val="888888"/>
                </a:solidFill>
                <a:latin typeface="Times New Roman"/>
                <a:cs typeface="Times New Roman"/>
              </a:rPr>
              <a:t>No.1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5393216" y="6565189"/>
            <a:ext cx="1007744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888888"/>
                </a:solidFill>
                <a:latin typeface="Times New Roman"/>
                <a:cs typeface="Times New Roman"/>
              </a:rPr>
              <a:t>Batch</a:t>
            </a:r>
            <a:r>
              <a:rPr dirty="0" sz="1200" spc="-1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888888"/>
                </a:solidFill>
                <a:latin typeface="Times New Roman"/>
                <a:cs typeface="Times New Roman"/>
              </a:rPr>
              <a:t>No.</a:t>
            </a:r>
            <a:r>
              <a:rPr dirty="0" sz="1200" spc="28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dirty="0" sz="1200" spc="-25">
                <a:solidFill>
                  <a:srgbClr val="888888"/>
                </a:solidFill>
                <a:latin typeface="Times New Roman"/>
                <a:cs typeface="Times New Roman"/>
              </a:rPr>
              <a:t>DB4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6718158" y="6565189"/>
            <a:ext cx="122618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solidFill>
                  <a:srgbClr val="888888"/>
                </a:solidFill>
                <a:latin typeface="Times New Roman"/>
                <a:cs typeface="Times New Roman"/>
              </a:rPr>
              <a:t>Department</a:t>
            </a:r>
            <a:r>
              <a:rPr dirty="0" sz="1200" spc="-15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888888"/>
                </a:solidFill>
                <a:latin typeface="Times New Roman"/>
                <a:cs typeface="Times New Roman"/>
              </a:rPr>
              <a:t>of</a:t>
            </a:r>
            <a:r>
              <a:rPr dirty="0" sz="1200" spc="-5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dirty="0" sz="1200" spc="-25">
                <a:solidFill>
                  <a:srgbClr val="888888"/>
                </a:solidFill>
                <a:latin typeface="Times New Roman"/>
                <a:cs typeface="Times New Roman"/>
              </a:rPr>
              <a:t>CSE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695062" y="1051126"/>
            <a:ext cx="10586085" cy="5586095"/>
          </a:xfrm>
          <a:prstGeom prst="rect">
            <a:avLst/>
          </a:prstGeom>
        </p:spPr>
        <p:txBody>
          <a:bodyPr wrap="square" lIns="0" tIns="88900" rIns="0" bIns="0" rtlCol="0" vert="horz">
            <a:spAutoFit/>
          </a:bodyPr>
          <a:lstStyle/>
          <a:p>
            <a:pPr marL="385445" indent="-385445">
              <a:lnSpc>
                <a:spcPct val="100000"/>
              </a:lnSpc>
              <a:spcBef>
                <a:spcPts val="700"/>
              </a:spcBef>
              <a:buAutoNum type="arabicPeriod"/>
              <a:tabLst>
                <a:tab pos="385445" algn="l"/>
              </a:tabLst>
            </a:pPr>
            <a:r>
              <a:rPr dirty="0" sz="1650" b="1">
                <a:latin typeface="Times New Roman"/>
                <a:cs typeface="Times New Roman"/>
              </a:rPr>
              <a:t>Automated</a:t>
            </a:r>
            <a:r>
              <a:rPr dirty="0" sz="1650" spc="-35" b="1">
                <a:latin typeface="Times New Roman"/>
                <a:cs typeface="Times New Roman"/>
              </a:rPr>
              <a:t> </a:t>
            </a:r>
            <a:r>
              <a:rPr dirty="0" sz="1650" b="1">
                <a:latin typeface="Times New Roman"/>
                <a:cs typeface="Times New Roman"/>
              </a:rPr>
              <a:t>Classification</a:t>
            </a:r>
            <a:r>
              <a:rPr dirty="0" sz="1650" spc="-35" b="1">
                <a:latin typeface="Times New Roman"/>
                <a:cs typeface="Times New Roman"/>
              </a:rPr>
              <a:t> </a:t>
            </a:r>
            <a:r>
              <a:rPr dirty="0" sz="1650" b="1">
                <a:latin typeface="Times New Roman"/>
                <a:cs typeface="Times New Roman"/>
              </a:rPr>
              <a:t>of</a:t>
            </a:r>
            <a:r>
              <a:rPr dirty="0" sz="1650" spc="-35" b="1">
                <a:latin typeface="Times New Roman"/>
                <a:cs typeface="Times New Roman"/>
              </a:rPr>
              <a:t> </a:t>
            </a:r>
            <a:r>
              <a:rPr dirty="0" sz="1650" b="1">
                <a:latin typeface="Times New Roman"/>
                <a:cs typeface="Times New Roman"/>
              </a:rPr>
              <a:t>Monkeypox</a:t>
            </a:r>
            <a:r>
              <a:rPr dirty="0" sz="1650" spc="-35" b="1">
                <a:latin typeface="Times New Roman"/>
                <a:cs typeface="Times New Roman"/>
              </a:rPr>
              <a:t> </a:t>
            </a:r>
            <a:r>
              <a:rPr dirty="0" sz="1650" b="1">
                <a:latin typeface="Times New Roman"/>
                <a:cs typeface="Times New Roman"/>
              </a:rPr>
              <a:t>Disease</a:t>
            </a:r>
            <a:r>
              <a:rPr dirty="0" sz="1650" spc="-35" b="1">
                <a:latin typeface="Times New Roman"/>
                <a:cs typeface="Times New Roman"/>
              </a:rPr>
              <a:t> </a:t>
            </a:r>
            <a:r>
              <a:rPr dirty="0" sz="1650" b="1">
                <a:latin typeface="Times New Roman"/>
                <a:cs typeface="Times New Roman"/>
              </a:rPr>
              <a:t>Based</a:t>
            </a:r>
            <a:r>
              <a:rPr dirty="0" sz="1650" spc="-35" b="1">
                <a:latin typeface="Times New Roman"/>
                <a:cs typeface="Times New Roman"/>
              </a:rPr>
              <a:t> </a:t>
            </a:r>
            <a:r>
              <a:rPr dirty="0" sz="1650" b="1">
                <a:latin typeface="Times New Roman"/>
                <a:cs typeface="Times New Roman"/>
              </a:rPr>
              <a:t>on</a:t>
            </a:r>
            <a:r>
              <a:rPr dirty="0" sz="1650" spc="-35" b="1">
                <a:latin typeface="Times New Roman"/>
                <a:cs typeface="Times New Roman"/>
              </a:rPr>
              <a:t> </a:t>
            </a:r>
            <a:r>
              <a:rPr dirty="0" sz="1650" b="1">
                <a:latin typeface="Times New Roman"/>
                <a:cs typeface="Times New Roman"/>
              </a:rPr>
              <a:t>Deep</a:t>
            </a:r>
            <a:r>
              <a:rPr dirty="0" sz="1650" spc="-35" b="1">
                <a:latin typeface="Times New Roman"/>
                <a:cs typeface="Times New Roman"/>
              </a:rPr>
              <a:t> </a:t>
            </a:r>
            <a:r>
              <a:rPr dirty="0" sz="1650" b="1">
                <a:latin typeface="Times New Roman"/>
                <a:cs typeface="Times New Roman"/>
              </a:rPr>
              <a:t>Learning</a:t>
            </a:r>
            <a:r>
              <a:rPr dirty="0" sz="1650" spc="-30" b="1">
                <a:latin typeface="Times New Roman"/>
                <a:cs typeface="Times New Roman"/>
              </a:rPr>
              <a:t> </a:t>
            </a:r>
            <a:r>
              <a:rPr dirty="0" sz="1650" b="1">
                <a:latin typeface="Times New Roman"/>
                <a:cs typeface="Times New Roman"/>
              </a:rPr>
              <a:t>–</a:t>
            </a:r>
            <a:r>
              <a:rPr dirty="0" sz="1650" spc="-35" b="1">
                <a:latin typeface="Times New Roman"/>
                <a:cs typeface="Times New Roman"/>
              </a:rPr>
              <a:t> </a:t>
            </a:r>
            <a:r>
              <a:rPr dirty="0" sz="1650" b="1">
                <a:latin typeface="Times New Roman"/>
                <a:cs typeface="Times New Roman"/>
              </a:rPr>
              <a:t>Deepa</a:t>
            </a:r>
            <a:r>
              <a:rPr dirty="0" sz="1650" spc="-35" b="1">
                <a:latin typeface="Times New Roman"/>
                <a:cs typeface="Times New Roman"/>
              </a:rPr>
              <a:t> </a:t>
            </a:r>
            <a:r>
              <a:rPr dirty="0" sz="1650" b="1">
                <a:latin typeface="Times New Roman"/>
                <a:cs typeface="Times New Roman"/>
              </a:rPr>
              <a:t>et</a:t>
            </a:r>
            <a:r>
              <a:rPr dirty="0" sz="1650" spc="-35" b="1">
                <a:latin typeface="Times New Roman"/>
                <a:cs typeface="Times New Roman"/>
              </a:rPr>
              <a:t> </a:t>
            </a:r>
            <a:r>
              <a:rPr dirty="0" sz="1650" spc="-25" b="1">
                <a:latin typeface="Times New Roman"/>
                <a:cs typeface="Times New Roman"/>
              </a:rPr>
              <a:t>al.</a:t>
            </a:r>
            <a:endParaRPr sz="1650">
              <a:latin typeface="Times New Roman"/>
              <a:cs typeface="Times New Roman"/>
            </a:endParaRPr>
          </a:p>
          <a:p>
            <a:pPr lvl="1" marL="385445" indent="-354965">
              <a:lnSpc>
                <a:spcPct val="100000"/>
              </a:lnSpc>
              <a:spcBef>
                <a:spcPts val="605"/>
              </a:spcBef>
              <a:buFont typeface="Tahoma"/>
              <a:buChar char="●"/>
              <a:tabLst>
                <a:tab pos="385445" algn="l"/>
              </a:tabLst>
            </a:pPr>
            <a:r>
              <a:rPr dirty="0" sz="1650">
                <a:latin typeface="Times New Roman"/>
                <a:cs typeface="Times New Roman"/>
              </a:rPr>
              <a:t>Dataset</a:t>
            </a:r>
            <a:r>
              <a:rPr dirty="0" sz="1650" spc="-50">
                <a:latin typeface="Times New Roman"/>
                <a:cs typeface="Times New Roman"/>
              </a:rPr>
              <a:t> </a:t>
            </a:r>
            <a:r>
              <a:rPr dirty="0" sz="1650">
                <a:latin typeface="Times New Roman"/>
                <a:cs typeface="Times New Roman"/>
              </a:rPr>
              <a:t>small</a:t>
            </a:r>
            <a:r>
              <a:rPr dirty="0" sz="1650" spc="-45">
                <a:latin typeface="Times New Roman"/>
                <a:cs typeface="Times New Roman"/>
              </a:rPr>
              <a:t> </a:t>
            </a:r>
            <a:r>
              <a:rPr dirty="0" sz="1650">
                <a:latin typeface="Times New Roman"/>
                <a:cs typeface="Times New Roman"/>
              </a:rPr>
              <a:t>and</a:t>
            </a:r>
            <a:r>
              <a:rPr dirty="0" sz="1650" spc="-45">
                <a:latin typeface="Times New Roman"/>
                <a:cs typeface="Times New Roman"/>
              </a:rPr>
              <a:t> </a:t>
            </a:r>
            <a:r>
              <a:rPr dirty="0" sz="1650" spc="-10">
                <a:latin typeface="Times New Roman"/>
                <a:cs typeface="Times New Roman"/>
              </a:rPr>
              <a:t>non-</a:t>
            </a:r>
            <a:r>
              <a:rPr dirty="0" sz="1650">
                <a:latin typeface="Times New Roman"/>
                <a:cs typeface="Times New Roman"/>
              </a:rPr>
              <a:t>clinical;</a:t>
            </a:r>
            <a:r>
              <a:rPr dirty="0" sz="1650" spc="-50">
                <a:latin typeface="Times New Roman"/>
                <a:cs typeface="Times New Roman"/>
              </a:rPr>
              <a:t> </a:t>
            </a:r>
            <a:r>
              <a:rPr dirty="0" sz="1650">
                <a:latin typeface="Times New Roman"/>
                <a:cs typeface="Times New Roman"/>
              </a:rPr>
              <a:t>limited</a:t>
            </a:r>
            <a:r>
              <a:rPr dirty="0" sz="1650" spc="-45">
                <a:latin typeface="Times New Roman"/>
                <a:cs typeface="Times New Roman"/>
              </a:rPr>
              <a:t> </a:t>
            </a:r>
            <a:r>
              <a:rPr dirty="0" sz="1650">
                <a:latin typeface="Times New Roman"/>
                <a:cs typeface="Times New Roman"/>
              </a:rPr>
              <a:t>representation</a:t>
            </a:r>
            <a:r>
              <a:rPr dirty="0" sz="1650" spc="-45">
                <a:latin typeface="Times New Roman"/>
                <a:cs typeface="Times New Roman"/>
              </a:rPr>
              <a:t> </a:t>
            </a:r>
            <a:r>
              <a:rPr dirty="0" sz="1650">
                <a:latin typeface="Times New Roman"/>
                <a:cs typeface="Times New Roman"/>
              </a:rPr>
              <a:t>of</a:t>
            </a:r>
            <a:r>
              <a:rPr dirty="0" sz="1650" spc="-45">
                <a:latin typeface="Times New Roman"/>
                <a:cs typeface="Times New Roman"/>
              </a:rPr>
              <a:t> </a:t>
            </a:r>
            <a:r>
              <a:rPr dirty="0" sz="1650" spc="-10">
                <a:latin typeface="Times New Roman"/>
                <a:cs typeface="Times New Roman"/>
              </a:rPr>
              <a:t>diverse</a:t>
            </a:r>
            <a:r>
              <a:rPr dirty="0" sz="1650" spc="-50">
                <a:latin typeface="Times New Roman"/>
                <a:cs typeface="Times New Roman"/>
              </a:rPr>
              <a:t> </a:t>
            </a:r>
            <a:r>
              <a:rPr dirty="0" sz="1650">
                <a:latin typeface="Times New Roman"/>
                <a:cs typeface="Times New Roman"/>
              </a:rPr>
              <a:t>skin</a:t>
            </a:r>
            <a:r>
              <a:rPr dirty="0" sz="1650" spc="-45">
                <a:latin typeface="Times New Roman"/>
                <a:cs typeface="Times New Roman"/>
              </a:rPr>
              <a:t> </a:t>
            </a:r>
            <a:r>
              <a:rPr dirty="0" sz="1650" spc="-10">
                <a:latin typeface="Times New Roman"/>
                <a:cs typeface="Times New Roman"/>
              </a:rPr>
              <a:t>tones.</a:t>
            </a:r>
            <a:endParaRPr sz="1650">
              <a:latin typeface="Times New Roman"/>
              <a:cs typeface="Times New Roman"/>
            </a:endParaRPr>
          </a:p>
          <a:p>
            <a:pPr lvl="1" marL="385445" indent="-354965">
              <a:lnSpc>
                <a:spcPct val="100000"/>
              </a:lnSpc>
              <a:spcBef>
                <a:spcPts val="605"/>
              </a:spcBef>
              <a:buFont typeface="Tahoma"/>
              <a:buChar char="●"/>
              <a:tabLst>
                <a:tab pos="385445" algn="l"/>
              </a:tabLst>
            </a:pPr>
            <a:r>
              <a:rPr dirty="0" sz="1650">
                <a:latin typeface="Times New Roman"/>
                <a:cs typeface="Times New Roman"/>
              </a:rPr>
              <a:t>May</a:t>
            </a:r>
            <a:r>
              <a:rPr dirty="0" sz="1650" spc="-40">
                <a:latin typeface="Times New Roman"/>
                <a:cs typeface="Times New Roman"/>
              </a:rPr>
              <a:t> </a:t>
            </a:r>
            <a:r>
              <a:rPr dirty="0" sz="1650">
                <a:latin typeface="Times New Roman"/>
                <a:cs typeface="Times New Roman"/>
              </a:rPr>
              <a:t>not</a:t>
            </a:r>
            <a:r>
              <a:rPr dirty="0" sz="1650" spc="-40">
                <a:latin typeface="Times New Roman"/>
                <a:cs typeface="Times New Roman"/>
              </a:rPr>
              <a:t> </a:t>
            </a:r>
            <a:r>
              <a:rPr dirty="0" sz="1650">
                <a:latin typeface="Times New Roman"/>
                <a:cs typeface="Times New Roman"/>
              </a:rPr>
              <a:t>generalize</a:t>
            </a:r>
            <a:r>
              <a:rPr dirty="0" sz="1650" spc="-40">
                <a:latin typeface="Times New Roman"/>
                <a:cs typeface="Times New Roman"/>
              </a:rPr>
              <a:t> </a:t>
            </a:r>
            <a:r>
              <a:rPr dirty="0" sz="1650">
                <a:latin typeface="Times New Roman"/>
                <a:cs typeface="Times New Roman"/>
              </a:rPr>
              <a:t>well</a:t>
            </a:r>
            <a:r>
              <a:rPr dirty="0" sz="1650" spc="-40">
                <a:latin typeface="Times New Roman"/>
                <a:cs typeface="Times New Roman"/>
              </a:rPr>
              <a:t> </a:t>
            </a:r>
            <a:r>
              <a:rPr dirty="0" sz="1650">
                <a:latin typeface="Times New Roman"/>
                <a:cs typeface="Times New Roman"/>
              </a:rPr>
              <a:t>to</a:t>
            </a:r>
            <a:r>
              <a:rPr dirty="0" sz="1650" spc="-40">
                <a:latin typeface="Times New Roman"/>
                <a:cs typeface="Times New Roman"/>
              </a:rPr>
              <a:t> </a:t>
            </a:r>
            <a:r>
              <a:rPr dirty="0" sz="1650" spc="-10">
                <a:latin typeface="Times New Roman"/>
                <a:cs typeface="Times New Roman"/>
              </a:rPr>
              <a:t>real-</a:t>
            </a:r>
            <a:r>
              <a:rPr dirty="0" sz="1650">
                <a:latin typeface="Times New Roman"/>
                <a:cs typeface="Times New Roman"/>
              </a:rPr>
              <a:t>world</a:t>
            </a:r>
            <a:r>
              <a:rPr dirty="0" sz="1650" spc="-40">
                <a:latin typeface="Times New Roman"/>
                <a:cs typeface="Times New Roman"/>
              </a:rPr>
              <a:t> </a:t>
            </a:r>
            <a:r>
              <a:rPr dirty="0" sz="1650">
                <a:latin typeface="Times New Roman"/>
                <a:cs typeface="Times New Roman"/>
              </a:rPr>
              <a:t>lesion</a:t>
            </a:r>
            <a:r>
              <a:rPr dirty="0" sz="1650" spc="-35">
                <a:latin typeface="Times New Roman"/>
                <a:cs typeface="Times New Roman"/>
              </a:rPr>
              <a:t> </a:t>
            </a:r>
            <a:r>
              <a:rPr dirty="0" sz="1650" spc="-10">
                <a:latin typeface="Times New Roman"/>
                <a:cs typeface="Times New Roman"/>
              </a:rPr>
              <a:t>variations.</a:t>
            </a:r>
            <a:endParaRPr sz="1650">
              <a:latin typeface="Times New Roman"/>
              <a:cs typeface="Times New Roman"/>
            </a:endParaRPr>
          </a:p>
          <a:p>
            <a:pPr marL="347345" indent="-314325">
              <a:lnSpc>
                <a:spcPct val="100000"/>
              </a:lnSpc>
              <a:spcBef>
                <a:spcPts val="1190"/>
              </a:spcBef>
              <a:buAutoNum type="arabicPeriod" startAt="2"/>
              <a:tabLst>
                <a:tab pos="347345" algn="l"/>
              </a:tabLst>
            </a:pPr>
            <a:r>
              <a:rPr dirty="0" sz="1650" b="1">
                <a:latin typeface="Times New Roman"/>
                <a:cs typeface="Times New Roman"/>
              </a:rPr>
              <a:t>Detection</a:t>
            </a:r>
            <a:r>
              <a:rPr dirty="0" sz="1650" spc="-35" b="1">
                <a:latin typeface="Times New Roman"/>
                <a:cs typeface="Times New Roman"/>
              </a:rPr>
              <a:t> </a:t>
            </a:r>
            <a:r>
              <a:rPr dirty="0" sz="1650" b="1">
                <a:latin typeface="Times New Roman"/>
                <a:cs typeface="Times New Roman"/>
              </a:rPr>
              <a:t>of</a:t>
            </a:r>
            <a:r>
              <a:rPr dirty="0" sz="1650" spc="-20" b="1">
                <a:latin typeface="Times New Roman"/>
                <a:cs typeface="Times New Roman"/>
              </a:rPr>
              <a:t> </a:t>
            </a:r>
            <a:r>
              <a:rPr dirty="0" sz="1650" b="1">
                <a:latin typeface="Times New Roman"/>
                <a:cs typeface="Times New Roman"/>
              </a:rPr>
              <a:t>Monkeypox</a:t>
            </a:r>
            <a:r>
              <a:rPr dirty="0" sz="1650" spc="-25" b="1">
                <a:latin typeface="Times New Roman"/>
                <a:cs typeface="Times New Roman"/>
              </a:rPr>
              <a:t> </a:t>
            </a:r>
            <a:r>
              <a:rPr dirty="0" sz="1650" b="1">
                <a:latin typeface="Times New Roman"/>
                <a:cs typeface="Times New Roman"/>
              </a:rPr>
              <a:t>Disease</a:t>
            </a:r>
            <a:r>
              <a:rPr dirty="0" sz="1650" spc="-20" b="1">
                <a:latin typeface="Times New Roman"/>
                <a:cs typeface="Times New Roman"/>
              </a:rPr>
              <a:t> </a:t>
            </a:r>
            <a:r>
              <a:rPr dirty="0" sz="1650" b="1">
                <a:latin typeface="Times New Roman"/>
                <a:cs typeface="Times New Roman"/>
              </a:rPr>
              <a:t>Using</a:t>
            </a:r>
            <a:r>
              <a:rPr dirty="0" sz="1650" spc="-25" b="1">
                <a:latin typeface="Times New Roman"/>
                <a:cs typeface="Times New Roman"/>
              </a:rPr>
              <a:t> </a:t>
            </a:r>
            <a:r>
              <a:rPr dirty="0" sz="1650" b="1">
                <a:latin typeface="Times New Roman"/>
                <a:cs typeface="Times New Roman"/>
              </a:rPr>
              <a:t>Deep</a:t>
            </a:r>
            <a:r>
              <a:rPr dirty="0" sz="1650" spc="-20" b="1">
                <a:latin typeface="Times New Roman"/>
                <a:cs typeface="Times New Roman"/>
              </a:rPr>
              <a:t> </a:t>
            </a:r>
            <a:r>
              <a:rPr dirty="0" sz="1650" spc="-10" b="1">
                <a:latin typeface="Times New Roman"/>
                <a:cs typeface="Times New Roman"/>
              </a:rPr>
              <a:t>Learning</a:t>
            </a:r>
            <a:r>
              <a:rPr dirty="0" sz="1650" spc="-75" b="1">
                <a:latin typeface="Times New Roman"/>
                <a:cs typeface="Times New Roman"/>
              </a:rPr>
              <a:t> </a:t>
            </a:r>
            <a:r>
              <a:rPr dirty="0" sz="1650" spc="-10" b="1">
                <a:latin typeface="Times New Roman"/>
                <a:cs typeface="Times New Roman"/>
              </a:rPr>
              <a:t>Techniques</a:t>
            </a:r>
            <a:r>
              <a:rPr dirty="0" sz="1650" spc="-25" b="1">
                <a:latin typeface="Times New Roman"/>
                <a:cs typeface="Times New Roman"/>
              </a:rPr>
              <a:t> </a:t>
            </a:r>
            <a:r>
              <a:rPr dirty="0" sz="1650" b="1">
                <a:latin typeface="Times New Roman"/>
                <a:cs typeface="Times New Roman"/>
              </a:rPr>
              <a:t>–</a:t>
            </a:r>
            <a:r>
              <a:rPr dirty="0" sz="1650" spc="-100" b="1">
                <a:latin typeface="Times New Roman"/>
                <a:cs typeface="Times New Roman"/>
              </a:rPr>
              <a:t> </a:t>
            </a:r>
            <a:r>
              <a:rPr dirty="0" sz="1650" b="1">
                <a:latin typeface="Times New Roman"/>
                <a:cs typeface="Times New Roman"/>
              </a:rPr>
              <a:t>Arumugam</a:t>
            </a:r>
            <a:r>
              <a:rPr dirty="0" sz="1650" spc="-25" b="1">
                <a:latin typeface="Times New Roman"/>
                <a:cs typeface="Times New Roman"/>
              </a:rPr>
              <a:t> </a:t>
            </a:r>
            <a:r>
              <a:rPr dirty="0" sz="1650" b="1">
                <a:latin typeface="Times New Roman"/>
                <a:cs typeface="Times New Roman"/>
              </a:rPr>
              <a:t>et</a:t>
            </a:r>
            <a:r>
              <a:rPr dirty="0" sz="1650" spc="-20" b="1">
                <a:latin typeface="Times New Roman"/>
                <a:cs typeface="Times New Roman"/>
              </a:rPr>
              <a:t> </a:t>
            </a:r>
            <a:r>
              <a:rPr dirty="0" sz="1650" spc="-25" b="1">
                <a:latin typeface="Times New Roman"/>
                <a:cs typeface="Times New Roman"/>
              </a:rPr>
              <a:t>al.</a:t>
            </a:r>
            <a:endParaRPr sz="1650">
              <a:latin typeface="Times New Roman"/>
              <a:cs typeface="Times New Roman"/>
            </a:endParaRPr>
          </a:p>
          <a:p>
            <a:pPr lvl="1" marL="385445" indent="-354965">
              <a:lnSpc>
                <a:spcPct val="100000"/>
              </a:lnSpc>
              <a:spcBef>
                <a:spcPts val="600"/>
              </a:spcBef>
              <a:buFont typeface="Tahoma"/>
              <a:buChar char="●"/>
              <a:tabLst>
                <a:tab pos="385445" algn="l"/>
              </a:tabLst>
            </a:pPr>
            <a:r>
              <a:rPr dirty="0" sz="1650" spc="-10">
                <a:latin typeface="Times New Roman"/>
                <a:cs typeface="Times New Roman"/>
              </a:rPr>
              <a:t>Evaluation</a:t>
            </a:r>
            <a:r>
              <a:rPr dirty="0" sz="1650" spc="-35">
                <a:latin typeface="Times New Roman"/>
                <a:cs typeface="Times New Roman"/>
              </a:rPr>
              <a:t> </a:t>
            </a:r>
            <a:r>
              <a:rPr dirty="0" sz="1650">
                <a:latin typeface="Times New Roman"/>
                <a:cs typeface="Times New Roman"/>
              </a:rPr>
              <a:t>limited</a:t>
            </a:r>
            <a:r>
              <a:rPr dirty="0" sz="1650" spc="-30">
                <a:latin typeface="Times New Roman"/>
                <a:cs typeface="Times New Roman"/>
              </a:rPr>
              <a:t> </a:t>
            </a:r>
            <a:r>
              <a:rPr dirty="0" sz="1650">
                <a:latin typeface="Times New Roman"/>
                <a:cs typeface="Times New Roman"/>
              </a:rPr>
              <a:t>to</a:t>
            </a:r>
            <a:r>
              <a:rPr dirty="0" sz="1650" spc="-35">
                <a:latin typeface="Times New Roman"/>
                <a:cs typeface="Times New Roman"/>
              </a:rPr>
              <a:t> </a:t>
            </a:r>
            <a:r>
              <a:rPr dirty="0" sz="1650" spc="-10">
                <a:latin typeface="Times New Roman"/>
                <a:cs typeface="Times New Roman"/>
              </a:rPr>
              <a:t>retrospective</a:t>
            </a:r>
            <a:r>
              <a:rPr dirty="0" sz="1650" spc="-30">
                <a:latin typeface="Times New Roman"/>
                <a:cs typeface="Times New Roman"/>
              </a:rPr>
              <a:t> </a:t>
            </a:r>
            <a:r>
              <a:rPr dirty="0" sz="1650" spc="-10">
                <a:latin typeface="Times New Roman"/>
                <a:cs typeface="Times New Roman"/>
              </a:rPr>
              <a:t>datasets.</a:t>
            </a:r>
            <a:endParaRPr sz="1650">
              <a:latin typeface="Times New Roman"/>
              <a:cs typeface="Times New Roman"/>
            </a:endParaRPr>
          </a:p>
          <a:p>
            <a:pPr lvl="1" marL="385445" indent="-354965">
              <a:lnSpc>
                <a:spcPct val="100000"/>
              </a:lnSpc>
              <a:spcBef>
                <a:spcPts val="605"/>
              </a:spcBef>
              <a:buFont typeface="Tahoma"/>
              <a:buChar char="●"/>
              <a:tabLst>
                <a:tab pos="385445" algn="l"/>
              </a:tabLst>
            </a:pPr>
            <a:r>
              <a:rPr dirty="0" sz="1650">
                <a:latin typeface="Times New Roman"/>
                <a:cs typeface="Times New Roman"/>
              </a:rPr>
              <a:t>No</a:t>
            </a:r>
            <a:r>
              <a:rPr dirty="0" sz="1650" spc="-40">
                <a:latin typeface="Times New Roman"/>
                <a:cs typeface="Times New Roman"/>
              </a:rPr>
              <a:t> </a:t>
            </a:r>
            <a:r>
              <a:rPr dirty="0" sz="1650">
                <a:latin typeface="Times New Roman"/>
                <a:cs typeface="Times New Roman"/>
              </a:rPr>
              <a:t>testing</a:t>
            </a:r>
            <a:r>
              <a:rPr dirty="0" sz="1650" spc="-40">
                <a:latin typeface="Times New Roman"/>
                <a:cs typeface="Times New Roman"/>
              </a:rPr>
              <a:t> </a:t>
            </a:r>
            <a:r>
              <a:rPr dirty="0" sz="1650">
                <a:latin typeface="Times New Roman"/>
                <a:cs typeface="Times New Roman"/>
              </a:rPr>
              <a:t>on</a:t>
            </a:r>
            <a:r>
              <a:rPr dirty="0" sz="1650" spc="-35">
                <a:latin typeface="Times New Roman"/>
                <a:cs typeface="Times New Roman"/>
              </a:rPr>
              <a:t> </a:t>
            </a:r>
            <a:r>
              <a:rPr dirty="0" sz="1650">
                <a:latin typeface="Times New Roman"/>
                <a:cs typeface="Times New Roman"/>
              </a:rPr>
              <a:t>independent</a:t>
            </a:r>
            <a:r>
              <a:rPr dirty="0" sz="1650" spc="-40">
                <a:latin typeface="Times New Roman"/>
                <a:cs typeface="Times New Roman"/>
              </a:rPr>
              <a:t> </a:t>
            </a:r>
            <a:r>
              <a:rPr dirty="0" sz="1650">
                <a:latin typeface="Times New Roman"/>
                <a:cs typeface="Times New Roman"/>
              </a:rPr>
              <a:t>or</a:t>
            </a:r>
            <a:r>
              <a:rPr dirty="0" sz="1650" spc="-35">
                <a:latin typeface="Times New Roman"/>
                <a:cs typeface="Times New Roman"/>
              </a:rPr>
              <a:t> </a:t>
            </a:r>
            <a:r>
              <a:rPr dirty="0" sz="1650">
                <a:latin typeface="Times New Roman"/>
                <a:cs typeface="Times New Roman"/>
              </a:rPr>
              <a:t>clinical</a:t>
            </a:r>
            <a:r>
              <a:rPr dirty="0" sz="1650" spc="-40">
                <a:latin typeface="Times New Roman"/>
                <a:cs typeface="Times New Roman"/>
              </a:rPr>
              <a:t> </a:t>
            </a:r>
            <a:r>
              <a:rPr dirty="0" sz="1650">
                <a:latin typeface="Times New Roman"/>
                <a:cs typeface="Times New Roman"/>
              </a:rPr>
              <a:t>image</a:t>
            </a:r>
            <a:r>
              <a:rPr dirty="0" sz="1650" spc="-35">
                <a:latin typeface="Times New Roman"/>
                <a:cs typeface="Times New Roman"/>
              </a:rPr>
              <a:t> </a:t>
            </a:r>
            <a:r>
              <a:rPr dirty="0" sz="1650" spc="-10">
                <a:latin typeface="Times New Roman"/>
                <a:cs typeface="Times New Roman"/>
              </a:rPr>
              <a:t>sources.</a:t>
            </a:r>
            <a:endParaRPr sz="1650">
              <a:latin typeface="Times New Roman"/>
              <a:cs typeface="Times New Roman"/>
            </a:endParaRPr>
          </a:p>
          <a:p>
            <a:pPr marL="347345" indent="-314325">
              <a:lnSpc>
                <a:spcPct val="100000"/>
              </a:lnSpc>
              <a:spcBef>
                <a:spcPts val="1190"/>
              </a:spcBef>
              <a:buAutoNum type="arabicPeriod" startAt="3"/>
              <a:tabLst>
                <a:tab pos="347345" algn="l"/>
              </a:tabLst>
            </a:pPr>
            <a:r>
              <a:rPr dirty="0" sz="1650" b="1">
                <a:latin typeface="Times New Roman"/>
                <a:cs typeface="Times New Roman"/>
              </a:rPr>
              <a:t>MpoxNet:</a:t>
            </a:r>
            <a:r>
              <a:rPr dirty="0" sz="1650" spc="-30" b="1">
                <a:latin typeface="Times New Roman"/>
                <a:cs typeface="Times New Roman"/>
              </a:rPr>
              <a:t> </a:t>
            </a:r>
            <a:r>
              <a:rPr dirty="0" sz="1650" b="1">
                <a:latin typeface="Times New Roman"/>
                <a:cs typeface="Times New Roman"/>
              </a:rPr>
              <a:t>Detection</a:t>
            </a:r>
            <a:r>
              <a:rPr dirty="0" sz="1650" spc="-30" b="1">
                <a:latin typeface="Times New Roman"/>
                <a:cs typeface="Times New Roman"/>
              </a:rPr>
              <a:t> </a:t>
            </a:r>
            <a:r>
              <a:rPr dirty="0" sz="1650" b="1">
                <a:latin typeface="Times New Roman"/>
                <a:cs typeface="Times New Roman"/>
              </a:rPr>
              <a:t>of</a:t>
            </a:r>
            <a:r>
              <a:rPr dirty="0" sz="1650" spc="-30" b="1">
                <a:latin typeface="Times New Roman"/>
                <a:cs typeface="Times New Roman"/>
              </a:rPr>
              <a:t> </a:t>
            </a:r>
            <a:r>
              <a:rPr dirty="0" sz="1650" b="1">
                <a:latin typeface="Times New Roman"/>
                <a:cs typeface="Times New Roman"/>
              </a:rPr>
              <a:t>Monkeypox</a:t>
            </a:r>
            <a:r>
              <a:rPr dirty="0" sz="1650" spc="-30" b="1">
                <a:latin typeface="Times New Roman"/>
                <a:cs typeface="Times New Roman"/>
              </a:rPr>
              <a:t> </a:t>
            </a:r>
            <a:r>
              <a:rPr dirty="0" sz="1650" b="1">
                <a:latin typeface="Times New Roman"/>
                <a:cs typeface="Times New Roman"/>
              </a:rPr>
              <a:t>Using</a:t>
            </a:r>
            <a:r>
              <a:rPr dirty="0" sz="1650" spc="-30" b="1">
                <a:latin typeface="Times New Roman"/>
                <a:cs typeface="Times New Roman"/>
              </a:rPr>
              <a:t> </a:t>
            </a:r>
            <a:r>
              <a:rPr dirty="0" sz="1650" b="1">
                <a:latin typeface="Times New Roman"/>
                <a:cs typeface="Times New Roman"/>
              </a:rPr>
              <a:t>Deep</a:t>
            </a:r>
            <a:r>
              <a:rPr dirty="0" sz="1650" spc="-30" b="1">
                <a:latin typeface="Times New Roman"/>
                <a:cs typeface="Times New Roman"/>
              </a:rPr>
              <a:t> </a:t>
            </a:r>
            <a:r>
              <a:rPr dirty="0" sz="1650" b="1">
                <a:latin typeface="Times New Roman"/>
                <a:cs typeface="Times New Roman"/>
              </a:rPr>
              <a:t>Learning</a:t>
            </a:r>
            <a:r>
              <a:rPr dirty="0" sz="1650" spc="-30" b="1">
                <a:latin typeface="Times New Roman"/>
                <a:cs typeface="Times New Roman"/>
              </a:rPr>
              <a:t> </a:t>
            </a:r>
            <a:r>
              <a:rPr dirty="0" sz="1650" b="1">
                <a:latin typeface="Times New Roman"/>
                <a:cs typeface="Times New Roman"/>
              </a:rPr>
              <a:t>in</a:t>
            </a:r>
            <a:r>
              <a:rPr dirty="0" sz="1650" spc="-30" b="1">
                <a:latin typeface="Times New Roman"/>
                <a:cs typeface="Times New Roman"/>
              </a:rPr>
              <a:t> </a:t>
            </a:r>
            <a:r>
              <a:rPr dirty="0" sz="1650" b="1">
                <a:latin typeface="Times New Roman"/>
                <a:cs typeface="Times New Roman"/>
              </a:rPr>
              <a:t>Digital</a:t>
            </a:r>
            <a:r>
              <a:rPr dirty="0" sz="1650" spc="-30" b="1">
                <a:latin typeface="Times New Roman"/>
                <a:cs typeface="Times New Roman"/>
              </a:rPr>
              <a:t> </a:t>
            </a:r>
            <a:r>
              <a:rPr dirty="0" sz="1650" b="1">
                <a:latin typeface="Times New Roman"/>
                <a:cs typeface="Times New Roman"/>
              </a:rPr>
              <a:t>Skin</a:t>
            </a:r>
            <a:r>
              <a:rPr dirty="0" sz="1650" spc="-25" b="1">
                <a:latin typeface="Times New Roman"/>
                <a:cs typeface="Times New Roman"/>
              </a:rPr>
              <a:t> </a:t>
            </a:r>
            <a:r>
              <a:rPr dirty="0" sz="1650" b="1">
                <a:latin typeface="Times New Roman"/>
                <a:cs typeface="Times New Roman"/>
              </a:rPr>
              <a:t>Images</a:t>
            </a:r>
            <a:r>
              <a:rPr dirty="0" sz="1650" spc="-30" b="1">
                <a:latin typeface="Times New Roman"/>
                <a:cs typeface="Times New Roman"/>
              </a:rPr>
              <a:t> </a:t>
            </a:r>
            <a:r>
              <a:rPr dirty="0" sz="1650" b="1">
                <a:latin typeface="Times New Roman"/>
                <a:cs typeface="Times New Roman"/>
              </a:rPr>
              <a:t>–</a:t>
            </a:r>
            <a:r>
              <a:rPr dirty="0" sz="1650" spc="-100" b="1">
                <a:latin typeface="Times New Roman"/>
                <a:cs typeface="Times New Roman"/>
              </a:rPr>
              <a:t> </a:t>
            </a:r>
            <a:r>
              <a:rPr dirty="0" sz="1650" spc="-10" b="1">
                <a:latin typeface="Times New Roman"/>
                <a:cs typeface="Times New Roman"/>
              </a:rPr>
              <a:t>Vandana</a:t>
            </a:r>
            <a:r>
              <a:rPr dirty="0" sz="1650" spc="-30" b="1">
                <a:latin typeface="Times New Roman"/>
                <a:cs typeface="Times New Roman"/>
              </a:rPr>
              <a:t> </a:t>
            </a:r>
            <a:r>
              <a:rPr dirty="0" sz="1650" b="1">
                <a:latin typeface="Times New Roman"/>
                <a:cs typeface="Times New Roman"/>
              </a:rPr>
              <a:t>et</a:t>
            </a:r>
            <a:r>
              <a:rPr dirty="0" sz="1650" spc="-30" b="1">
                <a:latin typeface="Times New Roman"/>
                <a:cs typeface="Times New Roman"/>
              </a:rPr>
              <a:t> </a:t>
            </a:r>
            <a:r>
              <a:rPr dirty="0" sz="1650" spc="-25" b="1">
                <a:latin typeface="Times New Roman"/>
                <a:cs typeface="Times New Roman"/>
              </a:rPr>
              <a:t>al.</a:t>
            </a:r>
            <a:endParaRPr sz="1650">
              <a:latin typeface="Times New Roman"/>
              <a:cs typeface="Times New Roman"/>
            </a:endParaRPr>
          </a:p>
          <a:p>
            <a:pPr lvl="1" marL="385445" indent="-354965">
              <a:lnSpc>
                <a:spcPct val="100000"/>
              </a:lnSpc>
              <a:spcBef>
                <a:spcPts val="605"/>
              </a:spcBef>
              <a:buFont typeface="Tahoma"/>
              <a:buChar char="●"/>
              <a:tabLst>
                <a:tab pos="385445" algn="l"/>
              </a:tabLst>
            </a:pPr>
            <a:r>
              <a:rPr dirty="0" sz="1650">
                <a:latin typeface="Times New Roman"/>
                <a:cs typeface="Times New Roman"/>
              </a:rPr>
              <a:t>Relies</a:t>
            </a:r>
            <a:r>
              <a:rPr dirty="0" sz="1650" spc="-50">
                <a:latin typeface="Times New Roman"/>
                <a:cs typeface="Times New Roman"/>
              </a:rPr>
              <a:t> </a:t>
            </a:r>
            <a:r>
              <a:rPr dirty="0" sz="1650">
                <a:latin typeface="Times New Roman"/>
                <a:cs typeface="Times New Roman"/>
              </a:rPr>
              <a:t>heavily</a:t>
            </a:r>
            <a:r>
              <a:rPr dirty="0" sz="1650" spc="-45">
                <a:latin typeface="Times New Roman"/>
                <a:cs typeface="Times New Roman"/>
              </a:rPr>
              <a:t> </a:t>
            </a:r>
            <a:r>
              <a:rPr dirty="0" sz="1650">
                <a:latin typeface="Times New Roman"/>
                <a:cs typeface="Times New Roman"/>
              </a:rPr>
              <a:t>on</a:t>
            </a:r>
            <a:r>
              <a:rPr dirty="0" sz="1650" spc="-45">
                <a:latin typeface="Times New Roman"/>
                <a:cs typeface="Times New Roman"/>
              </a:rPr>
              <a:t> </a:t>
            </a:r>
            <a:r>
              <a:rPr dirty="0" sz="1650" spc="-20">
                <a:latin typeface="Times New Roman"/>
                <a:cs typeface="Times New Roman"/>
              </a:rPr>
              <a:t>GAN-</a:t>
            </a:r>
            <a:r>
              <a:rPr dirty="0" sz="1650">
                <a:latin typeface="Times New Roman"/>
                <a:cs typeface="Times New Roman"/>
              </a:rPr>
              <a:t>generated</a:t>
            </a:r>
            <a:r>
              <a:rPr dirty="0" sz="1650" spc="-45">
                <a:latin typeface="Times New Roman"/>
                <a:cs typeface="Times New Roman"/>
              </a:rPr>
              <a:t> </a:t>
            </a:r>
            <a:r>
              <a:rPr dirty="0" sz="1650">
                <a:latin typeface="Times New Roman"/>
                <a:cs typeface="Times New Roman"/>
              </a:rPr>
              <a:t>and</a:t>
            </a:r>
            <a:r>
              <a:rPr dirty="0" sz="1650" spc="-50">
                <a:latin typeface="Times New Roman"/>
                <a:cs typeface="Times New Roman"/>
              </a:rPr>
              <a:t> </a:t>
            </a:r>
            <a:r>
              <a:rPr dirty="0" sz="1650">
                <a:latin typeface="Times New Roman"/>
                <a:cs typeface="Times New Roman"/>
              </a:rPr>
              <a:t>augmented</a:t>
            </a:r>
            <a:r>
              <a:rPr dirty="0" sz="1650" spc="-45">
                <a:latin typeface="Times New Roman"/>
                <a:cs typeface="Times New Roman"/>
              </a:rPr>
              <a:t> </a:t>
            </a:r>
            <a:r>
              <a:rPr dirty="0" sz="1650" spc="-10">
                <a:latin typeface="Times New Roman"/>
                <a:cs typeface="Times New Roman"/>
              </a:rPr>
              <a:t>images.</a:t>
            </a:r>
            <a:endParaRPr sz="1650">
              <a:latin typeface="Times New Roman"/>
              <a:cs typeface="Times New Roman"/>
            </a:endParaRPr>
          </a:p>
          <a:p>
            <a:pPr lvl="1" marL="385445" indent="-354965">
              <a:lnSpc>
                <a:spcPct val="100000"/>
              </a:lnSpc>
              <a:spcBef>
                <a:spcPts val="600"/>
              </a:spcBef>
              <a:buFont typeface="Tahoma"/>
              <a:buChar char="●"/>
              <a:tabLst>
                <a:tab pos="385445" algn="l"/>
              </a:tabLst>
            </a:pPr>
            <a:r>
              <a:rPr dirty="0" sz="1650">
                <a:latin typeface="Times New Roman"/>
                <a:cs typeface="Times New Roman"/>
              </a:rPr>
              <a:t>Lightweight</a:t>
            </a:r>
            <a:r>
              <a:rPr dirty="0" sz="1650" spc="-60">
                <a:latin typeface="Times New Roman"/>
                <a:cs typeface="Times New Roman"/>
              </a:rPr>
              <a:t> </a:t>
            </a:r>
            <a:r>
              <a:rPr dirty="0" sz="1650">
                <a:latin typeface="Times New Roman"/>
                <a:cs typeface="Times New Roman"/>
              </a:rPr>
              <a:t>model</a:t>
            </a:r>
            <a:r>
              <a:rPr dirty="0" sz="1650" spc="-60">
                <a:latin typeface="Times New Roman"/>
                <a:cs typeface="Times New Roman"/>
              </a:rPr>
              <a:t> </a:t>
            </a:r>
            <a:r>
              <a:rPr dirty="0" sz="1650">
                <a:latin typeface="Times New Roman"/>
                <a:cs typeface="Times New Roman"/>
              </a:rPr>
              <a:t>trades</a:t>
            </a:r>
            <a:r>
              <a:rPr dirty="0" sz="1650" spc="-60">
                <a:latin typeface="Times New Roman"/>
                <a:cs typeface="Times New Roman"/>
              </a:rPr>
              <a:t> </a:t>
            </a:r>
            <a:r>
              <a:rPr dirty="0" sz="1650">
                <a:latin typeface="Times New Roman"/>
                <a:cs typeface="Times New Roman"/>
              </a:rPr>
              <a:t>accuracy</a:t>
            </a:r>
            <a:r>
              <a:rPr dirty="0" sz="1650" spc="-55">
                <a:latin typeface="Times New Roman"/>
                <a:cs typeface="Times New Roman"/>
              </a:rPr>
              <a:t> </a:t>
            </a:r>
            <a:r>
              <a:rPr dirty="0" sz="1650">
                <a:latin typeface="Times New Roman"/>
                <a:cs typeface="Times New Roman"/>
              </a:rPr>
              <a:t>for</a:t>
            </a:r>
            <a:r>
              <a:rPr dirty="0" sz="1650" spc="-60">
                <a:latin typeface="Times New Roman"/>
                <a:cs typeface="Times New Roman"/>
              </a:rPr>
              <a:t> </a:t>
            </a:r>
            <a:r>
              <a:rPr dirty="0" sz="1650">
                <a:latin typeface="Times New Roman"/>
                <a:cs typeface="Times New Roman"/>
              </a:rPr>
              <a:t>computational</a:t>
            </a:r>
            <a:r>
              <a:rPr dirty="0" sz="1650" spc="-60">
                <a:latin typeface="Times New Roman"/>
                <a:cs typeface="Times New Roman"/>
              </a:rPr>
              <a:t> </a:t>
            </a:r>
            <a:r>
              <a:rPr dirty="0" sz="1650" spc="-10">
                <a:latin typeface="Times New Roman"/>
                <a:cs typeface="Times New Roman"/>
              </a:rPr>
              <a:t>eﬃciency.</a:t>
            </a:r>
            <a:endParaRPr sz="1650">
              <a:latin typeface="Times New Roman"/>
              <a:cs typeface="Times New Roman"/>
            </a:endParaRPr>
          </a:p>
          <a:p>
            <a:pPr marL="347345" indent="-314325">
              <a:lnSpc>
                <a:spcPct val="100000"/>
              </a:lnSpc>
              <a:spcBef>
                <a:spcPts val="1190"/>
              </a:spcBef>
              <a:buAutoNum type="arabicPeriod" startAt="4"/>
              <a:tabLst>
                <a:tab pos="347345" algn="l"/>
              </a:tabLst>
            </a:pPr>
            <a:r>
              <a:rPr dirty="0" sz="1650" b="1">
                <a:latin typeface="Times New Roman"/>
                <a:cs typeface="Times New Roman"/>
              </a:rPr>
              <a:t>Systematic</a:t>
            </a:r>
            <a:r>
              <a:rPr dirty="0" sz="1650" spc="-35" b="1">
                <a:latin typeface="Times New Roman"/>
                <a:cs typeface="Times New Roman"/>
              </a:rPr>
              <a:t> </a:t>
            </a:r>
            <a:r>
              <a:rPr dirty="0" sz="1650" b="1">
                <a:latin typeface="Times New Roman"/>
                <a:cs typeface="Times New Roman"/>
              </a:rPr>
              <a:t>Study</a:t>
            </a:r>
            <a:r>
              <a:rPr dirty="0" sz="1650" spc="-30" b="1">
                <a:latin typeface="Times New Roman"/>
                <a:cs typeface="Times New Roman"/>
              </a:rPr>
              <a:t> </a:t>
            </a:r>
            <a:r>
              <a:rPr dirty="0" sz="1650" b="1">
                <a:latin typeface="Times New Roman"/>
                <a:cs typeface="Times New Roman"/>
              </a:rPr>
              <a:t>of</a:t>
            </a:r>
            <a:r>
              <a:rPr dirty="0" sz="1650" spc="-35" b="1">
                <a:latin typeface="Times New Roman"/>
                <a:cs typeface="Times New Roman"/>
              </a:rPr>
              <a:t> </a:t>
            </a:r>
            <a:r>
              <a:rPr dirty="0" sz="1650" b="1">
                <a:latin typeface="Times New Roman"/>
                <a:cs typeface="Times New Roman"/>
              </a:rPr>
              <a:t>Deep</a:t>
            </a:r>
            <a:r>
              <a:rPr dirty="0" sz="1650" spc="-30" b="1">
                <a:latin typeface="Times New Roman"/>
                <a:cs typeface="Times New Roman"/>
              </a:rPr>
              <a:t> </a:t>
            </a:r>
            <a:r>
              <a:rPr dirty="0" sz="1650" b="1">
                <a:latin typeface="Times New Roman"/>
                <a:cs typeface="Times New Roman"/>
              </a:rPr>
              <a:t>Learning</a:t>
            </a:r>
            <a:r>
              <a:rPr dirty="0" sz="1650" spc="-35" b="1">
                <a:latin typeface="Times New Roman"/>
                <a:cs typeface="Times New Roman"/>
              </a:rPr>
              <a:t> </a:t>
            </a:r>
            <a:r>
              <a:rPr dirty="0" sz="1650" b="1">
                <a:latin typeface="Times New Roman"/>
                <a:cs typeface="Times New Roman"/>
              </a:rPr>
              <a:t>Models</a:t>
            </a:r>
            <a:r>
              <a:rPr dirty="0" sz="1650" spc="-30" b="1">
                <a:latin typeface="Times New Roman"/>
                <a:cs typeface="Times New Roman"/>
              </a:rPr>
              <a:t> </a:t>
            </a:r>
            <a:r>
              <a:rPr dirty="0" sz="1650" b="1">
                <a:latin typeface="Times New Roman"/>
                <a:cs typeface="Times New Roman"/>
              </a:rPr>
              <a:t>for</a:t>
            </a:r>
            <a:r>
              <a:rPr dirty="0" sz="1650" spc="-30" b="1">
                <a:latin typeface="Times New Roman"/>
                <a:cs typeface="Times New Roman"/>
              </a:rPr>
              <a:t> </a:t>
            </a:r>
            <a:r>
              <a:rPr dirty="0" sz="1650" b="1">
                <a:latin typeface="Times New Roman"/>
                <a:cs typeface="Times New Roman"/>
              </a:rPr>
              <a:t>Image-Based</a:t>
            </a:r>
            <a:r>
              <a:rPr dirty="0" sz="1650" spc="-35" b="1">
                <a:latin typeface="Times New Roman"/>
                <a:cs typeface="Times New Roman"/>
              </a:rPr>
              <a:t> </a:t>
            </a:r>
            <a:r>
              <a:rPr dirty="0" sz="1650" b="1">
                <a:latin typeface="Times New Roman"/>
                <a:cs typeface="Times New Roman"/>
              </a:rPr>
              <a:t>Detection</a:t>
            </a:r>
            <a:r>
              <a:rPr dirty="0" sz="1650" spc="-30" b="1">
                <a:latin typeface="Times New Roman"/>
                <a:cs typeface="Times New Roman"/>
              </a:rPr>
              <a:t> </a:t>
            </a:r>
            <a:r>
              <a:rPr dirty="0" sz="1650" b="1">
                <a:latin typeface="Times New Roman"/>
                <a:cs typeface="Times New Roman"/>
              </a:rPr>
              <a:t>of</a:t>
            </a:r>
            <a:r>
              <a:rPr dirty="0" sz="1650" spc="-35" b="1">
                <a:latin typeface="Times New Roman"/>
                <a:cs typeface="Times New Roman"/>
              </a:rPr>
              <a:t> </a:t>
            </a:r>
            <a:r>
              <a:rPr dirty="0" sz="1650" b="1">
                <a:latin typeface="Times New Roman"/>
                <a:cs typeface="Times New Roman"/>
              </a:rPr>
              <a:t>Monkeypox</a:t>
            </a:r>
            <a:r>
              <a:rPr dirty="0" sz="1650" spc="-100" b="1">
                <a:latin typeface="Times New Roman"/>
                <a:cs typeface="Times New Roman"/>
              </a:rPr>
              <a:t> </a:t>
            </a:r>
            <a:r>
              <a:rPr dirty="0" sz="1650" b="1">
                <a:latin typeface="Times New Roman"/>
                <a:cs typeface="Times New Roman"/>
              </a:rPr>
              <a:t>Virus</a:t>
            </a:r>
            <a:r>
              <a:rPr dirty="0" sz="1650" spc="-30" b="1">
                <a:latin typeface="Times New Roman"/>
                <a:cs typeface="Times New Roman"/>
              </a:rPr>
              <a:t> </a:t>
            </a:r>
            <a:r>
              <a:rPr dirty="0" sz="1650" b="1">
                <a:latin typeface="Times New Roman"/>
                <a:cs typeface="Times New Roman"/>
              </a:rPr>
              <a:t>–</a:t>
            </a:r>
            <a:r>
              <a:rPr dirty="0" sz="1650" spc="-35" b="1">
                <a:latin typeface="Times New Roman"/>
                <a:cs typeface="Times New Roman"/>
              </a:rPr>
              <a:t> </a:t>
            </a:r>
            <a:r>
              <a:rPr dirty="0" sz="1650" b="1">
                <a:latin typeface="Times New Roman"/>
                <a:cs typeface="Times New Roman"/>
              </a:rPr>
              <a:t>Llamas</a:t>
            </a:r>
            <a:r>
              <a:rPr dirty="0" sz="1650" spc="-30" b="1">
                <a:latin typeface="Times New Roman"/>
                <a:cs typeface="Times New Roman"/>
              </a:rPr>
              <a:t> </a:t>
            </a:r>
            <a:r>
              <a:rPr dirty="0" sz="1650" b="1">
                <a:latin typeface="Times New Roman"/>
                <a:cs typeface="Times New Roman"/>
              </a:rPr>
              <a:t>et</a:t>
            </a:r>
            <a:r>
              <a:rPr dirty="0" sz="1650" spc="-35" b="1">
                <a:latin typeface="Times New Roman"/>
                <a:cs typeface="Times New Roman"/>
              </a:rPr>
              <a:t> </a:t>
            </a:r>
            <a:r>
              <a:rPr dirty="0" sz="1650" spc="-25" b="1">
                <a:latin typeface="Times New Roman"/>
                <a:cs typeface="Times New Roman"/>
              </a:rPr>
              <a:t>al.</a:t>
            </a:r>
            <a:endParaRPr sz="1650">
              <a:latin typeface="Times New Roman"/>
              <a:cs typeface="Times New Roman"/>
            </a:endParaRPr>
          </a:p>
          <a:p>
            <a:pPr lvl="1" marL="385445" indent="-354965">
              <a:lnSpc>
                <a:spcPct val="100000"/>
              </a:lnSpc>
              <a:spcBef>
                <a:spcPts val="605"/>
              </a:spcBef>
              <a:buFont typeface="Tahoma"/>
              <a:buChar char="●"/>
              <a:tabLst>
                <a:tab pos="385445" algn="l"/>
              </a:tabLst>
            </a:pPr>
            <a:r>
              <a:rPr dirty="0" sz="1650">
                <a:latin typeface="Times New Roman"/>
                <a:cs typeface="Times New Roman"/>
              </a:rPr>
              <a:t>Focused</a:t>
            </a:r>
            <a:r>
              <a:rPr dirty="0" sz="1650" spc="-55">
                <a:latin typeface="Times New Roman"/>
                <a:cs typeface="Times New Roman"/>
              </a:rPr>
              <a:t> </a:t>
            </a:r>
            <a:r>
              <a:rPr dirty="0" sz="1650">
                <a:latin typeface="Times New Roman"/>
                <a:cs typeface="Times New Roman"/>
              </a:rPr>
              <a:t>on</a:t>
            </a:r>
            <a:r>
              <a:rPr dirty="0" sz="1650" spc="-50">
                <a:latin typeface="Times New Roman"/>
                <a:cs typeface="Times New Roman"/>
              </a:rPr>
              <a:t> </a:t>
            </a:r>
            <a:r>
              <a:rPr dirty="0" sz="1650">
                <a:latin typeface="Times New Roman"/>
                <a:cs typeface="Times New Roman"/>
              </a:rPr>
              <a:t>benchmark</a:t>
            </a:r>
            <a:r>
              <a:rPr dirty="0" sz="1650" spc="-55">
                <a:latin typeface="Times New Roman"/>
                <a:cs typeface="Times New Roman"/>
              </a:rPr>
              <a:t> </a:t>
            </a:r>
            <a:r>
              <a:rPr dirty="0" sz="1650">
                <a:latin typeface="Times New Roman"/>
                <a:cs typeface="Times New Roman"/>
              </a:rPr>
              <a:t>comparison;</a:t>
            </a:r>
            <a:r>
              <a:rPr dirty="0" sz="1650" spc="-50">
                <a:latin typeface="Times New Roman"/>
                <a:cs typeface="Times New Roman"/>
              </a:rPr>
              <a:t> </a:t>
            </a:r>
            <a:r>
              <a:rPr dirty="0" sz="1650">
                <a:latin typeface="Times New Roman"/>
                <a:cs typeface="Times New Roman"/>
              </a:rPr>
              <a:t>lacks</a:t>
            </a:r>
            <a:r>
              <a:rPr dirty="0" sz="1650" spc="-55">
                <a:latin typeface="Times New Roman"/>
                <a:cs typeface="Times New Roman"/>
              </a:rPr>
              <a:t> </a:t>
            </a:r>
            <a:r>
              <a:rPr dirty="0" sz="1650" spc="-10">
                <a:latin typeface="Times New Roman"/>
                <a:cs typeface="Times New Roman"/>
              </a:rPr>
              <a:t>real-</a:t>
            </a:r>
            <a:r>
              <a:rPr dirty="0" sz="1650">
                <a:latin typeface="Times New Roman"/>
                <a:cs typeface="Times New Roman"/>
              </a:rPr>
              <a:t>world</a:t>
            </a:r>
            <a:r>
              <a:rPr dirty="0" sz="1650" spc="-50">
                <a:latin typeface="Times New Roman"/>
                <a:cs typeface="Times New Roman"/>
              </a:rPr>
              <a:t> </a:t>
            </a:r>
            <a:r>
              <a:rPr dirty="0" sz="1650" spc="-10">
                <a:latin typeface="Times New Roman"/>
                <a:cs typeface="Times New Roman"/>
              </a:rPr>
              <a:t>validation.</a:t>
            </a:r>
            <a:endParaRPr sz="1650">
              <a:latin typeface="Times New Roman"/>
              <a:cs typeface="Times New Roman"/>
            </a:endParaRPr>
          </a:p>
          <a:p>
            <a:pPr lvl="1" marL="385445" indent="-354965">
              <a:lnSpc>
                <a:spcPct val="100000"/>
              </a:lnSpc>
              <a:spcBef>
                <a:spcPts val="605"/>
              </a:spcBef>
              <a:buFont typeface="Tahoma"/>
              <a:buChar char="●"/>
              <a:tabLst>
                <a:tab pos="385445" algn="l"/>
              </a:tabLst>
            </a:pPr>
            <a:r>
              <a:rPr dirty="0" sz="1650">
                <a:latin typeface="Times New Roman"/>
                <a:cs typeface="Times New Roman"/>
              </a:rPr>
              <a:t>Models</a:t>
            </a:r>
            <a:r>
              <a:rPr dirty="0" sz="1650" spc="-35">
                <a:latin typeface="Times New Roman"/>
                <a:cs typeface="Times New Roman"/>
              </a:rPr>
              <a:t> </a:t>
            </a:r>
            <a:r>
              <a:rPr dirty="0" sz="1650">
                <a:latin typeface="Times New Roman"/>
                <a:cs typeface="Times New Roman"/>
              </a:rPr>
              <a:t>struggle</a:t>
            </a:r>
            <a:r>
              <a:rPr dirty="0" sz="1650" spc="-30">
                <a:latin typeface="Times New Roman"/>
                <a:cs typeface="Times New Roman"/>
              </a:rPr>
              <a:t> </a:t>
            </a:r>
            <a:r>
              <a:rPr dirty="0" sz="1650">
                <a:latin typeface="Times New Roman"/>
                <a:cs typeface="Times New Roman"/>
              </a:rPr>
              <a:t>with</a:t>
            </a:r>
            <a:r>
              <a:rPr dirty="0" sz="1650" spc="-30">
                <a:latin typeface="Times New Roman"/>
                <a:cs typeface="Times New Roman"/>
              </a:rPr>
              <a:t> </a:t>
            </a:r>
            <a:r>
              <a:rPr dirty="0" sz="1650" spc="-10">
                <a:latin typeface="Times New Roman"/>
                <a:cs typeface="Times New Roman"/>
              </a:rPr>
              <a:t>variations</a:t>
            </a:r>
            <a:r>
              <a:rPr dirty="0" sz="1650" spc="-30">
                <a:latin typeface="Times New Roman"/>
                <a:cs typeface="Times New Roman"/>
              </a:rPr>
              <a:t> </a:t>
            </a:r>
            <a:r>
              <a:rPr dirty="0" sz="1650">
                <a:latin typeface="Times New Roman"/>
                <a:cs typeface="Times New Roman"/>
              </a:rPr>
              <a:t>in</a:t>
            </a:r>
            <a:r>
              <a:rPr dirty="0" sz="1650" spc="-30">
                <a:latin typeface="Times New Roman"/>
                <a:cs typeface="Times New Roman"/>
              </a:rPr>
              <a:t> </a:t>
            </a:r>
            <a:r>
              <a:rPr dirty="0" sz="1650">
                <a:latin typeface="Times New Roman"/>
                <a:cs typeface="Times New Roman"/>
              </a:rPr>
              <a:t>lighting,</a:t>
            </a:r>
            <a:r>
              <a:rPr dirty="0" sz="1650" spc="-30">
                <a:latin typeface="Times New Roman"/>
                <a:cs typeface="Times New Roman"/>
              </a:rPr>
              <a:t> </a:t>
            </a:r>
            <a:r>
              <a:rPr dirty="0" sz="1650">
                <a:latin typeface="Times New Roman"/>
                <a:cs typeface="Times New Roman"/>
              </a:rPr>
              <a:t>skin</a:t>
            </a:r>
            <a:r>
              <a:rPr dirty="0" sz="1650" spc="-30">
                <a:latin typeface="Times New Roman"/>
                <a:cs typeface="Times New Roman"/>
              </a:rPr>
              <a:t> </a:t>
            </a:r>
            <a:r>
              <a:rPr dirty="0" sz="1650">
                <a:latin typeface="Times New Roman"/>
                <a:cs typeface="Times New Roman"/>
              </a:rPr>
              <a:t>tone,</a:t>
            </a:r>
            <a:r>
              <a:rPr dirty="0" sz="1650" spc="-30">
                <a:latin typeface="Times New Roman"/>
                <a:cs typeface="Times New Roman"/>
              </a:rPr>
              <a:t> </a:t>
            </a:r>
            <a:r>
              <a:rPr dirty="0" sz="1650">
                <a:latin typeface="Times New Roman"/>
                <a:cs typeface="Times New Roman"/>
              </a:rPr>
              <a:t>and</a:t>
            </a:r>
            <a:r>
              <a:rPr dirty="0" sz="1650" spc="-30">
                <a:latin typeface="Times New Roman"/>
                <a:cs typeface="Times New Roman"/>
              </a:rPr>
              <a:t> </a:t>
            </a:r>
            <a:r>
              <a:rPr dirty="0" sz="1650">
                <a:latin typeface="Times New Roman"/>
                <a:cs typeface="Times New Roman"/>
              </a:rPr>
              <a:t>lesion</a:t>
            </a:r>
            <a:r>
              <a:rPr dirty="0" sz="1650" spc="-30">
                <a:latin typeface="Times New Roman"/>
                <a:cs typeface="Times New Roman"/>
              </a:rPr>
              <a:t> </a:t>
            </a:r>
            <a:r>
              <a:rPr dirty="0" sz="1650" spc="-10">
                <a:latin typeface="Times New Roman"/>
                <a:cs typeface="Times New Roman"/>
              </a:rPr>
              <a:t>type.</a:t>
            </a:r>
            <a:endParaRPr sz="1650">
              <a:latin typeface="Times New Roman"/>
              <a:cs typeface="Times New Roman"/>
            </a:endParaRPr>
          </a:p>
          <a:p>
            <a:pPr marL="399415" indent="-366395">
              <a:lnSpc>
                <a:spcPct val="100000"/>
              </a:lnSpc>
              <a:spcBef>
                <a:spcPts val="1185"/>
              </a:spcBef>
              <a:buAutoNum type="arabicPeriod" startAt="5"/>
              <a:tabLst>
                <a:tab pos="399415" algn="l"/>
              </a:tabLst>
            </a:pPr>
            <a:r>
              <a:rPr dirty="0" sz="1650" spc="-10" b="1">
                <a:latin typeface="Times New Roman"/>
                <a:cs typeface="Times New Roman"/>
              </a:rPr>
              <a:t>Federated</a:t>
            </a:r>
            <a:r>
              <a:rPr dirty="0" sz="1650" spc="-40" b="1">
                <a:latin typeface="Times New Roman"/>
                <a:cs typeface="Times New Roman"/>
              </a:rPr>
              <a:t> </a:t>
            </a:r>
            <a:r>
              <a:rPr dirty="0" sz="1650" b="1">
                <a:latin typeface="Times New Roman"/>
                <a:cs typeface="Times New Roman"/>
              </a:rPr>
              <a:t>Deep</a:t>
            </a:r>
            <a:r>
              <a:rPr dirty="0" sz="1650" spc="-35" b="1">
                <a:latin typeface="Times New Roman"/>
                <a:cs typeface="Times New Roman"/>
              </a:rPr>
              <a:t> </a:t>
            </a:r>
            <a:r>
              <a:rPr dirty="0" sz="1650" b="1">
                <a:latin typeface="Times New Roman"/>
                <a:cs typeface="Times New Roman"/>
              </a:rPr>
              <a:t>Learning</a:t>
            </a:r>
            <a:r>
              <a:rPr dirty="0" sz="1650" spc="-40" b="1">
                <a:latin typeface="Times New Roman"/>
                <a:cs typeface="Times New Roman"/>
              </a:rPr>
              <a:t> </a:t>
            </a:r>
            <a:r>
              <a:rPr dirty="0" sz="1650" b="1">
                <a:latin typeface="Times New Roman"/>
                <a:cs typeface="Times New Roman"/>
              </a:rPr>
              <a:t>for</a:t>
            </a:r>
            <a:r>
              <a:rPr dirty="0" sz="1650" spc="-35" b="1">
                <a:latin typeface="Times New Roman"/>
                <a:cs typeface="Times New Roman"/>
              </a:rPr>
              <a:t> </a:t>
            </a:r>
            <a:r>
              <a:rPr dirty="0" sz="1650" b="1">
                <a:latin typeface="Times New Roman"/>
                <a:cs typeface="Times New Roman"/>
              </a:rPr>
              <a:t>Monkeypox</a:t>
            </a:r>
            <a:r>
              <a:rPr dirty="0" sz="1650" spc="-40" b="1">
                <a:latin typeface="Times New Roman"/>
                <a:cs typeface="Times New Roman"/>
              </a:rPr>
              <a:t> </a:t>
            </a:r>
            <a:r>
              <a:rPr dirty="0" sz="1650" b="1">
                <a:latin typeface="Times New Roman"/>
                <a:cs typeface="Times New Roman"/>
              </a:rPr>
              <a:t>Disease</a:t>
            </a:r>
            <a:r>
              <a:rPr dirty="0" sz="1650" spc="-35" b="1">
                <a:latin typeface="Times New Roman"/>
                <a:cs typeface="Times New Roman"/>
              </a:rPr>
              <a:t> </a:t>
            </a:r>
            <a:r>
              <a:rPr dirty="0" sz="1650" b="1">
                <a:latin typeface="Times New Roman"/>
                <a:cs typeface="Times New Roman"/>
              </a:rPr>
              <a:t>Detection</a:t>
            </a:r>
            <a:r>
              <a:rPr dirty="0" sz="1650" spc="-40" b="1">
                <a:latin typeface="Times New Roman"/>
                <a:cs typeface="Times New Roman"/>
              </a:rPr>
              <a:t> </a:t>
            </a:r>
            <a:r>
              <a:rPr dirty="0" sz="1650" b="1">
                <a:latin typeface="Times New Roman"/>
                <a:cs typeface="Times New Roman"/>
              </a:rPr>
              <a:t>–</a:t>
            </a:r>
            <a:r>
              <a:rPr dirty="0" sz="1650" spc="-35" b="1">
                <a:latin typeface="Times New Roman"/>
                <a:cs typeface="Times New Roman"/>
              </a:rPr>
              <a:t> </a:t>
            </a:r>
            <a:r>
              <a:rPr dirty="0" sz="1650" b="1">
                <a:latin typeface="Times New Roman"/>
                <a:cs typeface="Times New Roman"/>
              </a:rPr>
              <a:t>Kundu</a:t>
            </a:r>
            <a:r>
              <a:rPr dirty="0" sz="1650" spc="-40" b="1">
                <a:latin typeface="Times New Roman"/>
                <a:cs typeface="Times New Roman"/>
              </a:rPr>
              <a:t> </a:t>
            </a:r>
            <a:r>
              <a:rPr dirty="0" sz="1650" b="1">
                <a:latin typeface="Times New Roman"/>
                <a:cs typeface="Times New Roman"/>
              </a:rPr>
              <a:t>et</a:t>
            </a:r>
            <a:r>
              <a:rPr dirty="0" sz="1650" spc="-35" b="1">
                <a:latin typeface="Times New Roman"/>
                <a:cs typeface="Times New Roman"/>
              </a:rPr>
              <a:t> </a:t>
            </a:r>
            <a:r>
              <a:rPr dirty="0" sz="1650" spc="-25" b="1">
                <a:latin typeface="Times New Roman"/>
                <a:cs typeface="Times New Roman"/>
              </a:rPr>
              <a:t>al.</a:t>
            </a:r>
            <a:endParaRPr sz="1650">
              <a:latin typeface="Times New Roman"/>
              <a:cs typeface="Times New Roman"/>
            </a:endParaRPr>
          </a:p>
          <a:p>
            <a:pPr lvl="1" marL="385445" indent="-354965">
              <a:lnSpc>
                <a:spcPct val="100000"/>
              </a:lnSpc>
              <a:spcBef>
                <a:spcPts val="605"/>
              </a:spcBef>
              <a:buFont typeface="Tahoma"/>
              <a:buChar char="●"/>
              <a:tabLst>
                <a:tab pos="385445" algn="l"/>
              </a:tabLst>
            </a:pPr>
            <a:r>
              <a:rPr dirty="0" sz="1650" spc="-10">
                <a:latin typeface="Times New Roman"/>
                <a:cs typeface="Times New Roman"/>
              </a:rPr>
              <a:t>Communication</a:t>
            </a:r>
            <a:r>
              <a:rPr dirty="0" sz="1650" spc="-40">
                <a:latin typeface="Times New Roman"/>
                <a:cs typeface="Times New Roman"/>
              </a:rPr>
              <a:t> </a:t>
            </a:r>
            <a:r>
              <a:rPr dirty="0" sz="1650" spc="-10">
                <a:latin typeface="Times New Roman"/>
                <a:cs typeface="Times New Roman"/>
              </a:rPr>
              <a:t>overhead</a:t>
            </a:r>
            <a:r>
              <a:rPr dirty="0" sz="1650" spc="-40">
                <a:latin typeface="Times New Roman"/>
                <a:cs typeface="Times New Roman"/>
              </a:rPr>
              <a:t> </a:t>
            </a:r>
            <a:r>
              <a:rPr dirty="0" sz="1650">
                <a:latin typeface="Times New Roman"/>
                <a:cs typeface="Times New Roman"/>
              </a:rPr>
              <a:t>and</a:t>
            </a:r>
            <a:r>
              <a:rPr dirty="0" sz="1650" spc="-40">
                <a:latin typeface="Times New Roman"/>
                <a:cs typeface="Times New Roman"/>
              </a:rPr>
              <a:t> </a:t>
            </a:r>
            <a:r>
              <a:rPr dirty="0" sz="1650">
                <a:latin typeface="Times New Roman"/>
                <a:cs typeface="Times New Roman"/>
              </a:rPr>
              <a:t>slow</a:t>
            </a:r>
            <a:r>
              <a:rPr dirty="0" sz="1650" spc="-35">
                <a:latin typeface="Times New Roman"/>
                <a:cs typeface="Times New Roman"/>
              </a:rPr>
              <a:t> </a:t>
            </a:r>
            <a:r>
              <a:rPr dirty="0" sz="1650" spc="-10">
                <a:latin typeface="Times New Roman"/>
                <a:cs typeface="Times New Roman"/>
              </a:rPr>
              <a:t>convergence</a:t>
            </a:r>
            <a:r>
              <a:rPr dirty="0" sz="1650" spc="-40">
                <a:latin typeface="Times New Roman"/>
                <a:cs typeface="Times New Roman"/>
              </a:rPr>
              <a:t> </a:t>
            </a:r>
            <a:r>
              <a:rPr dirty="0" sz="1650">
                <a:latin typeface="Times New Roman"/>
                <a:cs typeface="Times New Roman"/>
              </a:rPr>
              <a:t>in</a:t>
            </a:r>
            <a:r>
              <a:rPr dirty="0" sz="1650" spc="-40">
                <a:latin typeface="Times New Roman"/>
                <a:cs typeface="Times New Roman"/>
              </a:rPr>
              <a:t> </a:t>
            </a:r>
            <a:r>
              <a:rPr dirty="0" sz="1650">
                <a:latin typeface="Times New Roman"/>
                <a:cs typeface="Times New Roman"/>
              </a:rPr>
              <a:t>distributed</a:t>
            </a:r>
            <a:r>
              <a:rPr dirty="0" sz="1650" spc="-35">
                <a:latin typeface="Times New Roman"/>
                <a:cs typeface="Times New Roman"/>
              </a:rPr>
              <a:t> </a:t>
            </a:r>
            <a:r>
              <a:rPr dirty="0" sz="1650" spc="-10">
                <a:latin typeface="Times New Roman"/>
                <a:cs typeface="Times New Roman"/>
              </a:rPr>
              <a:t>settings.</a:t>
            </a:r>
            <a:endParaRPr sz="1650">
              <a:latin typeface="Times New Roman"/>
              <a:cs typeface="Times New Roman"/>
            </a:endParaRPr>
          </a:p>
          <a:p>
            <a:pPr lvl="1" marL="385445" indent="-354965">
              <a:lnSpc>
                <a:spcPct val="100000"/>
              </a:lnSpc>
              <a:spcBef>
                <a:spcPts val="605"/>
              </a:spcBef>
              <a:buFont typeface="Tahoma"/>
              <a:buChar char="●"/>
              <a:tabLst>
                <a:tab pos="385445" algn="l"/>
              </a:tabLst>
            </a:pPr>
            <a:r>
              <a:rPr dirty="0" sz="1650">
                <a:latin typeface="Times New Roman"/>
                <a:cs typeface="Times New Roman"/>
              </a:rPr>
              <a:t>Performance</a:t>
            </a:r>
            <a:r>
              <a:rPr dirty="0" sz="1650" spc="-55">
                <a:latin typeface="Times New Roman"/>
                <a:cs typeface="Times New Roman"/>
              </a:rPr>
              <a:t> </a:t>
            </a:r>
            <a:r>
              <a:rPr dirty="0" sz="1650">
                <a:latin typeface="Times New Roman"/>
                <a:cs typeface="Times New Roman"/>
              </a:rPr>
              <a:t>dependent</a:t>
            </a:r>
            <a:r>
              <a:rPr dirty="0" sz="1650" spc="-55">
                <a:latin typeface="Times New Roman"/>
                <a:cs typeface="Times New Roman"/>
              </a:rPr>
              <a:t> </a:t>
            </a:r>
            <a:r>
              <a:rPr dirty="0" sz="1650">
                <a:latin typeface="Times New Roman"/>
                <a:cs typeface="Times New Roman"/>
              </a:rPr>
              <a:t>on</a:t>
            </a:r>
            <a:r>
              <a:rPr dirty="0" sz="1650" spc="-50">
                <a:latin typeface="Times New Roman"/>
                <a:cs typeface="Times New Roman"/>
              </a:rPr>
              <a:t> </a:t>
            </a:r>
            <a:r>
              <a:rPr dirty="0" sz="1650">
                <a:latin typeface="Times New Roman"/>
                <a:cs typeface="Times New Roman"/>
              </a:rPr>
              <a:t>data</a:t>
            </a:r>
            <a:r>
              <a:rPr dirty="0" sz="1650" spc="-55">
                <a:latin typeface="Times New Roman"/>
                <a:cs typeface="Times New Roman"/>
              </a:rPr>
              <a:t> </a:t>
            </a:r>
            <a:r>
              <a:rPr dirty="0" sz="1650">
                <a:latin typeface="Times New Roman"/>
                <a:cs typeface="Times New Roman"/>
              </a:rPr>
              <a:t>quality</a:t>
            </a:r>
            <a:r>
              <a:rPr dirty="0" sz="1650" spc="-50">
                <a:latin typeface="Times New Roman"/>
                <a:cs typeface="Times New Roman"/>
              </a:rPr>
              <a:t> </a:t>
            </a:r>
            <a:r>
              <a:rPr dirty="0" sz="1650">
                <a:latin typeface="Times New Roman"/>
                <a:cs typeface="Times New Roman"/>
              </a:rPr>
              <a:t>and</a:t>
            </a:r>
            <a:r>
              <a:rPr dirty="0" sz="1650" spc="-55">
                <a:latin typeface="Times New Roman"/>
                <a:cs typeface="Times New Roman"/>
              </a:rPr>
              <a:t> </a:t>
            </a:r>
            <a:r>
              <a:rPr dirty="0" sz="1650">
                <a:latin typeface="Times New Roman"/>
                <a:cs typeface="Times New Roman"/>
              </a:rPr>
              <a:t>device</a:t>
            </a:r>
            <a:r>
              <a:rPr dirty="0" sz="1650" spc="-50">
                <a:latin typeface="Times New Roman"/>
                <a:cs typeface="Times New Roman"/>
              </a:rPr>
              <a:t> </a:t>
            </a:r>
            <a:r>
              <a:rPr dirty="0" sz="1650" spc="-10">
                <a:latin typeface="Times New Roman"/>
                <a:cs typeface="Times New Roman"/>
              </a:rPr>
              <a:t>heterogeneity.</a:t>
            </a:r>
            <a:endParaRPr sz="1650">
              <a:latin typeface="Times New Roman"/>
              <a:cs typeface="Times New Roman"/>
            </a:endParaRPr>
          </a:p>
          <a:p>
            <a:pPr algn="r" marR="5080">
              <a:lnSpc>
                <a:spcPct val="100000"/>
              </a:lnSpc>
              <a:spcBef>
                <a:spcPts val="1245"/>
              </a:spcBef>
            </a:pPr>
            <a:r>
              <a:rPr dirty="0" sz="1200" spc="-50">
                <a:solidFill>
                  <a:srgbClr val="888888"/>
                </a:solidFill>
                <a:latin typeface="Times New Roman"/>
                <a:cs typeface="Times New Roman"/>
              </a:rPr>
              <a:t>7</a:t>
            </a:r>
            <a:endParaRPr sz="1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11583" y="710384"/>
            <a:ext cx="3507104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PROBLEM</a:t>
            </a:r>
            <a:r>
              <a:rPr dirty="0" spc="-45"/>
              <a:t> </a:t>
            </a:r>
            <a:r>
              <a:rPr dirty="0" spc="-40"/>
              <a:t>STATEMENT</a:t>
            </a:r>
          </a:p>
        </p:txBody>
      </p:sp>
      <p:sp>
        <p:nvSpPr>
          <p:cNvPr id="4" name="object 4" descr=""/>
          <p:cNvSpPr txBox="1"/>
          <p:nvPr/>
        </p:nvSpPr>
        <p:spPr>
          <a:xfrm>
            <a:off x="4246277" y="6445270"/>
            <a:ext cx="868044" cy="19431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 sz="1200">
                <a:solidFill>
                  <a:srgbClr val="888888"/>
                </a:solidFill>
                <a:latin typeface="Times New Roman"/>
                <a:cs typeface="Times New Roman"/>
              </a:rPr>
              <a:t>Review</a:t>
            </a:r>
            <a:r>
              <a:rPr dirty="0" sz="1200" spc="-4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888888"/>
                </a:solidFill>
                <a:latin typeface="Times New Roman"/>
                <a:cs typeface="Times New Roman"/>
              </a:rPr>
              <a:t>No.</a:t>
            </a:r>
            <a:r>
              <a:rPr dirty="0" sz="1200" spc="-3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dirty="0" sz="1200" spc="-50">
                <a:solidFill>
                  <a:srgbClr val="888888"/>
                </a:solidFill>
                <a:latin typeface="Times New Roman"/>
                <a:cs typeface="Times New Roman"/>
              </a:rPr>
              <a:t>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5" name="object 5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69850">
              <a:lnSpc>
                <a:spcPts val="1410"/>
              </a:lnSpc>
            </a:pPr>
            <a:r>
              <a:rPr dirty="0"/>
              <a:t>Batch</a:t>
            </a:r>
            <a:r>
              <a:rPr dirty="0" spc="-30"/>
              <a:t> </a:t>
            </a:r>
            <a:r>
              <a:rPr dirty="0" spc="-10"/>
              <a:t>No.DB4</a:t>
            </a:r>
          </a:p>
        </p:txBody>
      </p:sp>
      <p:sp>
        <p:nvSpPr>
          <p:cNvPr id="6" name="object 6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79375">
              <a:lnSpc>
                <a:spcPts val="1410"/>
              </a:lnSpc>
            </a:pPr>
            <a:r>
              <a:rPr dirty="0" spc="-10"/>
              <a:t>Department</a:t>
            </a:r>
            <a:r>
              <a:rPr dirty="0" spc="-15"/>
              <a:t> </a:t>
            </a:r>
            <a:r>
              <a:rPr dirty="0"/>
              <a:t>of</a:t>
            </a:r>
            <a:r>
              <a:rPr dirty="0" spc="-5"/>
              <a:t> </a:t>
            </a:r>
            <a:r>
              <a:rPr dirty="0" spc="-25"/>
              <a:t>CSE</a:t>
            </a:r>
          </a:p>
        </p:txBody>
      </p:sp>
      <p:sp>
        <p:nvSpPr>
          <p:cNvPr id="7" name="object 7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40005">
              <a:lnSpc>
                <a:spcPts val="1410"/>
              </a:lnSpc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3" name="object 3" descr=""/>
          <p:cNvSpPr txBox="1"/>
          <p:nvPr/>
        </p:nvSpPr>
        <p:spPr>
          <a:xfrm>
            <a:off x="838174" y="1488287"/>
            <a:ext cx="10067925" cy="4184015"/>
          </a:xfrm>
          <a:prstGeom prst="rect">
            <a:avLst/>
          </a:prstGeom>
        </p:spPr>
        <p:txBody>
          <a:bodyPr wrap="square" lIns="0" tIns="41275" rIns="0" bIns="0" rtlCol="0" vert="horz">
            <a:spAutoFit/>
          </a:bodyPr>
          <a:lstStyle/>
          <a:p>
            <a:pPr marL="312420" marR="31115" indent="-300355">
              <a:lnSpc>
                <a:spcPts val="1839"/>
              </a:lnSpc>
              <a:spcBef>
                <a:spcPts val="325"/>
              </a:spcBef>
              <a:buFont typeface="Segoe UI Symbol"/>
              <a:buChar char="❖"/>
              <a:tabLst>
                <a:tab pos="314325" algn="l"/>
              </a:tabLst>
            </a:pPr>
            <a:r>
              <a:rPr dirty="0" sz="1700">
                <a:latin typeface="Times New Roman"/>
                <a:cs typeface="Times New Roman"/>
              </a:rPr>
              <a:t>Existing</a:t>
            </a:r>
            <a:r>
              <a:rPr dirty="0" sz="1700" spc="-3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models</a:t>
            </a:r>
            <a:r>
              <a:rPr dirty="0" sz="1700" spc="-3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are</a:t>
            </a:r>
            <a:r>
              <a:rPr dirty="0" sz="1700" spc="-3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trained</a:t>
            </a:r>
            <a:r>
              <a:rPr dirty="0" sz="1700" spc="-3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on</a:t>
            </a:r>
            <a:r>
              <a:rPr dirty="0" sz="1700" spc="-3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small,</a:t>
            </a:r>
            <a:r>
              <a:rPr dirty="0" sz="1700" spc="-3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non-clinical</a:t>
            </a:r>
            <a:r>
              <a:rPr dirty="0" sz="1700" spc="-3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Monkeypox</a:t>
            </a:r>
            <a:r>
              <a:rPr dirty="0" sz="1700" spc="-3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datasets,</a:t>
            </a:r>
            <a:r>
              <a:rPr dirty="0" sz="1700" spc="-3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limiting</a:t>
            </a:r>
            <a:r>
              <a:rPr dirty="0" sz="1700" spc="-3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their</a:t>
            </a:r>
            <a:r>
              <a:rPr dirty="0" sz="1700" spc="-3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ability</a:t>
            </a:r>
            <a:r>
              <a:rPr dirty="0" sz="1700" spc="-3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to</a:t>
            </a:r>
            <a:r>
              <a:rPr dirty="0" sz="1700" spc="-3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generalize</a:t>
            </a:r>
            <a:r>
              <a:rPr dirty="0" sz="1700" spc="-35">
                <a:latin typeface="Times New Roman"/>
                <a:cs typeface="Times New Roman"/>
              </a:rPr>
              <a:t> </a:t>
            </a:r>
            <a:r>
              <a:rPr dirty="0" sz="1700" spc="-10">
                <a:latin typeface="Times New Roman"/>
                <a:cs typeface="Times New Roman"/>
              </a:rPr>
              <a:t>across </a:t>
            </a:r>
            <a:r>
              <a:rPr dirty="0" sz="1700" spc="-10">
                <a:latin typeface="Times New Roman"/>
                <a:cs typeface="Times New Roman"/>
              </a:rPr>
              <a:t>	</a:t>
            </a:r>
            <a:r>
              <a:rPr dirty="0" sz="1700">
                <a:latin typeface="Times New Roman"/>
                <a:cs typeface="Times New Roman"/>
              </a:rPr>
              <a:t>diﬀerent</a:t>
            </a:r>
            <a:r>
              <a:rPr dirty="0" sz="1700" spc="-3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skin</a:t>
            </a:r>
            <a:r>
              <a:rPr dirty="0" sz="1700" spc="-2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tones</a:t>
            </a:r>
            <a:r>
              <a:rPr dirty="0" sz="1700" spc="-2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and</a:t>
            </a:r>
            <a:r>
              <a:rPr dirty="0" sz="1700" spc="-2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lesion</a:t>
            </a:r>
            <a:r>
              <a:rPr dirty="0" sz="1700" spc="-25">
                <a:latin typeface="Times New Roman"/>
                <a:cs typeface="Times New Roman"/>
              </a:rPr>
              <a:t> </a:t>
            </a:r>
            <a:r>
              <a:rPr dirty="0" sz="1700" spc="-10">
                <a:latin typeface="Times New Roman"/>
                <a:cs typeface="Times New Roman"/>
              </a:rPr>
              <a:t>types.</a:t>
            </a:r>
            <a:endParaRPr sz="17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645"/>
              </a:spcBef>
              <a:buFont typeface="Segoe UI Symbol"/>
              <a:buChar char="❖"/>
            </a:pPr>
            <a:endParaRPr sz="1700">
              <a:latin typeface="Times New Roman"/>
              <a:cs typeface="Times New Roman"/>
            </a:endParaRPr>
          </a:p>
          <a:p>
            <a:pPr marL="313055" indent="-300355">
              <a:lnSpc>
                <a:spcPct val="100000"/>
              </a:lnSpc>
              <a:buFont typeface="Segoe UI Symbol"/>
              <a:buChar char="❖"/>
              <a:tabLst>
                <a:tab pos="313055" algn="l"/>
              </a:tabLst>
            </a:pPr>
            <a:r>
              <a:rPr dirty="0" sz="1700">
                <a:latin typeface="Times New Roman"/>
                <a:cs typeface="Times New Roman"/>
              </a:rPr>
              <a:t>Most</a:t>
            </a:r>
            <a:r>
              <a:rPr dirty="0" sz="1700" spc="-3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studies</a:t>
            </a:r>
            <a:r>
              <a:rPr dirty="0" sz="1700" spc="-2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are</a:t>
            </a:r>
            <a:r>
              <a:rPr dirty="0" sz="1700" spc="-3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retrospective,</a:t>
            </a:r>
            <a:r>
              <a:rPr dirty="0" sz="1700" spc="-2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without</a:t>
            </a:r>
            <a:r>
              <a:rPr dirty="0" sz="1700" spc="-30">
                <a:latin typeface="Times New Roman"/>
                <a:cs typeface="Times New Roman"/>
              </a:rPr>
              <a:t> </a:t>
            </a:r>
            <a:r>
              <a:rPr dirty="0" sz="1700" spc="-10">
                <a:latin typeface="Times New Roman"/>
                <a:cs typeface="Times New Roman"/>
              </a:rPr>
              <a:t>validation</a:t>
            </a:r>
            <a:r>
              <a:rPr dirty="0" sz="1700" spc="-2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on</a:t>
            </a:r>
            <a:r>
              <a:rPr dirty="0" sz="1700" spc="-3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independent</a:t>
            </a:r>
            <a:r>
              <a:rPr dirty="0" sz="1700" spc="-2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or</a:t>
            </a:r>
            <a:r>
              <a:rPr dirty="0" sz="1700" spc="-3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real-world</a:t>
            </a:r>
            <a:r>
              <a:rPr dirty="0" sz="1700" spc="-2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clinical</a:t>
            </a:r>
            <a:r>
              <a:rPr dirty="0" sz="1700" spc="-30">
                <a:latin typeface="Times New Roman"/>
                <a:cs typeface="Times New Roman"/>
              </a:rPr>
              <a:t> </a:t>
            </a:r>
            <a:r>
              <a:rPr dirty="0" sz="1700" spc="-10">
                <a:latin typeface="Times New Roman"/>
                <a:cs typeface="Times New Roman"/>
              </a:rPr>
              <a:t>images.</a:t>
            </a:r>
            <a:endParaRPr sz="17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905"/>
              </a:spcBef>
              <a:buFont typeface="Segoe UI Symbol"/>
              <a:buChar char="❖"/>
            </a:pPr>
            <a:endParaRPr sz="1700">
              <a:latin typeface="Times New Roman"/>
              <a:cs typeface="Times New Roman"/>
            </a:endParaRPr>
          </a:p>
          <a:p>
            <a:pPr marL="312420" marR="5080" indent="-300355">
              <a:lnSpc>
                <a:spcPts val="1839"/>
              </a:lnSpc>
              <a:buFont typeface="Segoe UI Symbol"/>
              <a:buChar char="❖"/>
              <a:tabLst>
                <a:tab pos="314325" algn="l"/>
              </a:tabLst>
            </a:pPr>
            <a:r>
              <a:rPr dirty="0" sz="1700">
                <a:latin typeface="Times New Roman"/>
                <a:cs typeface="Times New Roman"/>
              </a:rPr>
              <a:t>GAN-generated</a:t>
            </a:r>
            <a:r>
              <a:rPr dirty="0" sz="1700" spc="-1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or</a:t>
            </a:r>
            <a:r>
              <a:rPr dirty="0" sz="1700" spc="-1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augmented</a:t>
            </a:r>
            <a:r>
              <a:rPr dirty="0" sz="1700" spc="-1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images</a:t>
            </a:r>
            <a:r>
              <a:rPr dirty="0" sz="1700" spc="-1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are</a:t>
            </a:r>
            <a:r>
              <a:rPr dirty="0" sz="1700" spc="-1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heavily</a:t>
            </a:r>
            <a:r>
              <a:rPr dirty="0" sz="1700" spc="-1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used</a:t>
            </a:r>
            <a:r>
              <a:rPr dirty="0" sz="1700" spc="-1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to</a:t>
            </a:r>
            <a:r>
              <a:rPr dirty="0" sz="1700" spc="-1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compensate</a:t>
            </a:r>
            <a:r>
              <a:rPr dirty="0" sz="1700" spc="-1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for</a:t>
            </a:r>
            <a:r>
              <a:rPr dirty="0" sz="1700" spc="-1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limited</a:t>
            </a:r>
            <a:r>
              <a:rPr dirty="0" sz="1700" spc="-1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data,</a:t>
            </a:r>
            <a:r>
              <a:rPr dirty="0" sz="1700" spc="-1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which</a:t>
            </a:r>
            <a:r>
              <a:rPr dirty="0" sz="1700" spc="-1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may</a:t>
            </a:r>
            <a:r>
              <a:rPr dirty="0" sz="1700" spc="-1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not</a:t>
            </a:r>
            <a:r>
              <a:rPr dirty="0" sz="1700" spc="-10">
                <a:latin typeface="Times New Roman"/>
                <a:cs typeface="Times New Roman"/>
              </a:rPr>
              <a:t> accurately </a:t>
            </a:r>
            <a:r>
              <a:rPr dirty="0" sz="1700" spc="-10">
                <a:latin typeface="Times New Roman"/>
                <a:cs typeface="Times New Roman"/>
              </a:rPr>
              <a:t>	</a:t>
            </a:r>
            <a:r>
              <a:rPr dirty="0" sz="1700">
                <a:latin typeface="Times New Roman"/>
                <a:cs typeface="Times New Roman"/>
              </a:rPr>
              <a:t>represent</a:t>
            </a:r>
            <a:r>
              <a:rPr dirty="0" sz="1700" spc="-1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true</a:t>
            </a:r>
            <a:r>
              <a:rPr dirty="0" sz="1700" spc="-1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lesion</a:t>
            </a:r>
            <a:r>
              <a:rPr dirty="0" sz="1700" spc="-15">
                <a:latin typeface="Times New Roman"/>
                <a:cs typeface="Times New Roman"/>
              </a:rPr>
              <a:t> </a:t>
            </a:r>
            <a:r>
              <a:rPr dirty="0" sz="1700" spc="-10">
                <a:latin typeface="Times New Roman"/>
                <a:cs typeface="Times New Roman"/>
              </a:rPr>
              <a:t>characteristics.</a:t>
            </a:r>
            <a:endParaRPr sz="17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875"/>
              </a:spcBef>
              <a:buFont typeface="Segoe UI Symbol"/>
              <a:buChar char="❖"/>
            </a:pPr>
            <a:endParaRPr sz="1700">
              <a:latin typeface="Times New Roman"/>
              <a:cs typeface="Times New Roman"/>
            </a:endParaRPr>
          </a:p>
          <a:p>
            <a:pPr marL="312420" marR="394970" indent="-300355">
              <a:lnSpc>
                <a:spcPts val="1839"/>
              </a:lnSpc>
              <a:buFont typeface="Segoe UI Symbol"/>
              <a:buChar char="❖"/>
              <a:tabLst>
                <a:tab pos="314325" algn="l"/>
              </a:tabLst>
            </a:pPr>
            <a:r>
              <a:rPr dirty="0" sz="1700">
                <a:latin typeface="Times New Roman"/>
                <a:cs typeface="Times New Roman"/>
              </a:rPr>
              <a:t>The</a:t>
            </a:r>
            <a:r>
              <a:rPr dirty="0" sz="1700" spc="-2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lack</a:t>
            </a:r>
            <a:r>
              <a:rPr dirty="0" sz="1700" spc="-2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of</a:t>
            </a:r>
            <a:r>
              <a:rPr dirty="0" sz="1700" spc="-2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large,</a:t>
            </a:r>
            <a:r>
              <a:rPr dirty="0" sz="1700" spc="-2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clinically</a:t>
            </a:r>
            <a:r>
              <a:rPr dirty="0" sz="1700" spc="-20">
                <a:latin typeface="Times New Roman"/>
                <a:cs typeface="Times New Roman"/>
              </a:rPr>
              <a:t> verified</a:t>
            </a:r>
            <a:r>
              <a:rPr dirty="0" sz="1700" spc="-2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datasets</a:t>
            </a:r>
            <a:r>
              <a:rPr dirty="0" sz="1700" spc="-2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restricts</a:t>
            </a:r>
            <a:r>
              <a:rPr dirty="0" sz="1700" spc="-2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robustness</a:t>
            </a:r>
            <a:r>
              <a:rPr dirty="0" sz="1700" spc="-2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and</a:t>
            </a:r>
            <a:r>
              <a:rPr dirty="0" sz="1700" spc="-2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scalability</a:t>
            </a:r>
            <a:r>
              <a:rPr dirty="0" sz="1700" spc="-2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for</a:t>
            </a:r>
            <a:r>
              <a:rPr dirty="0" sz="1700" spc="-2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deployment</a:t>
            </a:r>
            <a:r>
              <a:rPr dirty="0" sz="1700" spc="-2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in</a:t>
            </a:r>
            <a:r>
              <a:rPr dirty="0" sz="1700" spc="-25">
                <a:latin typeface="Times New Roman"/>
                <a:cs typeface="Times New Roman"/>
              </a:rPr>
              <a:t> </a:t>
            </a:r>
            <a:r>
              <a:rPr dirty="0" sz="1700" spc="-10">
                <a:latin typeface="Times New Roman"/>
                <a:cs typeface="Times New Roman"/>
              </a:rPr>
              <a:t>healthcare 	environments.</a:t>
            </a:r>
            <a:endParaRPr sz="17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645"/>
              </a:spcBef>
              <a:buFont typeface="Segoe UI Symbol"/>
              <a:buChar char="❖"/>
            </a:pPr>
            <a:endParaRPr sz="1700">
              <a:latin typeface="Times New Roman"/>
              <a:cs typeface="Times New Roman"/>
            </a:endParaRPr>
          </a:p>
          <a:p>
            <a:pPr marL="313055" indent="-300355">
              <a:lnSpc>
                <a:spcPct val="100000"/>
              </a:lnSpc>
              <a:buFont typeface="Segoe UI Symbol"/>
              <a:buChar char="❖"/>
              <a:tabLst>
                <a:tab pos="313055" algn="l"/>
              </a:tabLst>
            </a:pPr>
            <a:r>
              <a:rPr dirty="0" sz="1700">
                <a:latin typeface="Times New Roman"/>
                <a:cs typeface="Times New Roman"/>
              </a:rPr>
              <a:t>Current</a:t>
            </a:r>
            <a:r>
              <a:rPr dirty="0" sz="1700" spc="-2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deep</a:t>
            </a:r>
            <a:r>
              <a:rPr dirty="0" sz="1700" spc="-2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learning</a:t>
            </a:r>
            <a:r>
              <a:rPr dirty="0" sz="1700" spc="-1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models</a:t>
            </a:r>
            <a:r>
              <a:rPr dirty="0" sz="1700" spc="-2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often</a:t>
            </a:r>
            <a:r>
              <a:rPr dirty="0" sz="1700" spc="-1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struggle</a:t>
            </a:r>
            <a:r>
              <a:rPr dirty="0" sz="1700" spc="-2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under</a:t>
            </a:r>
            <a:r>
              <a:rPr dirty="0" sz="1700" spc="-1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variable</a:t>
            </a:r>
            <a:r>
              <a:rPr dirty="0" sz="1700" spc="-2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lighting,</a:t>
            </a:r>
            <a:r>
              <a:rPr dirty="0" sz="1700" spc="-1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noise,</a:t>
            </a:r>
            <a:r>
              <a:rPr dirty="0" sz="1700" spc="-2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and</a:t>
            </a:r>
            <a:r>
              <a:rPr dirty="0" sz="1700" spc="-1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real</a:t>
            </a:r>
            <a:r>
              <a:rPr dirty="0" sz="1700" spc="-2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clinical</a:t>
            </a:r>
            <a:r>
              <a:rPr dirty="0" sz="1700" spc="-1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image</a:t>
            </a:r>
            <a:r>
              <a:rPr dirty="0" sz="1700" spc="-20">
                <a:latin typeface="Times New Roman"/>
                <a:cs typeface="Times New Roman"/>
              </a:rPr>
              <a:t> </a:t>
            </a:r>
            <a:r>
              <a:rPr dirty="0" sz="1700" spc="-10">
                <a:latin typeface="Times New Roman"/>
                <a:cs typeface="Times New Roman"/>
              </a:rPr>
              <a:t>quality.</a:t>
            </a:r>
            <a:endParaRPr sz="17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905"/>
              </a:spcBef>
              <a:buFont typeface="Segoe UI Symbol"/>
              <a:buChar char="❖"/>
            </a:pPr>
            <a:endParaRPr sz="1700">
              <a:latin typeface="Times New Roman"/>
              <a:cs typeface="Times New Roman"/>
            </a:endParaRPr>
          </a:p>
          <a:p>
            <a:pPr marL="312420" marR="59055" indent="-300355">
              <a:lnSpc>
                <a:spcPts val="1839"/>
              </a:lnSpc>
              <a:buFont typeface="Segoe UI Symbol"/>
              <a:buChar char="❖"/>
              <a:tabLst>
                <a:tab pos="314325" algn="l"/>
              </a:tabLst>
            </a:pPr>
            <a:r>
              <a:rPr dirty="0" sz="1700">
                <a:latin typeface="Times New Roman"/>
                <a:cs typeface="Times New Roman"/>
              </a:rPr>
              <a:t>There</a:t>
            </a:r>
            <a:r>
              <a:rPr dirty="0" sz="1700" spc="-1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is</a:t>
            </a:r>
            <a:r>
              <a:rPr dirty="0" sz="1700" spc="-1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a</a:t>
            </a:r>
            <a:r>
              <a:rPr dirty="0" sz="1700" spc="-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need</a:t>
            </a:r>
            <a:r>
              <a:rPr dirty="0" sz="1700" spc="-1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for</a:t>
            </a:r>
            <a:r>
              <a:rPr dirty="0" sz="1700" spc="-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an</a:t>
            </a:r>
            <a:r>
              <a:rPr dirty="0" sz="1700" spc="-1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interpretable</a:t>
            </a:r>
            <a:r>
              <a:rPr dirty="0" sz="1700" spc="-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and</a:t>
            </a:r>
            <a:r>
              <a:rPr dirty="0" sz="1700" spc="-1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eﬃcient</a:t>
            </a:r>
            <a:r>
              <a:rPr dirty="0" sz="1700" spc="-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CNN-based</a:t>
            </a:r>
            <a:r>
              <a:rPr dirty="0" sz="1700" spc="-1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system</a:t>
            </a:r>
            <a:r>
              <a:rPr dirty="0" sz="1700" spc="-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capable</a:t>
            </a:r>
            <a:r>
              <a:rPr dirty="0" sz="1700" spc="-1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of</a:t>
            </a:r>
            <a:r>
              <a:rPr dirty="0" sz="1700" spc="-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accurately</a:t>
            </a:r>
            <a:r>
              <a:rPr dirty="0" sz="1700" spc="-1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detecting</a:t>
            </a:r>
            <a:r>
              <a:rPr dirty="0" sz="1700" spc="-5">
                <a:latin typeface="Times New Roman"/>
                <a:cs typeface="Times New Roman"/>
              </a:rPr>
              <a:t> </a:t>
            </a:r>
            <a:r>
              <a:rPr dirty="0" sz="1700" spc="-10">
                <a:latin typeface="Times New Roman"/>
                <a:cs typeface="Times New Roman"/>
              </a:rPr>
              <a:t>Monkeypox </a:t>
            </a:r>
            <a:r>
              <a:rPr dirty="0" sz="1700" spc="-10">
                <a:latin typeface="Times New Roman"/>
                <a:cs typeface="Times New Roman"/>
              </a:rPr>
              <a:t>	</a:t>
            </a:r>
            <a:r>
              <a:rPr dirty="0" sz="1700">
                <a:latin typeface="Times New Roman"/>
                <a:cs typeface="Times New Roman"/>
              </a:rPr>
              <a:t>from</a:t>
            </a:r>
            <a:r>
              <a:rPr dirty="0" sz="1700" spc="-2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diverse</a:t>
            </a:r>
            <a:r>
              <a:rPr dirty="0" sz="1700" spc="-2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skin</a:t>
            </a:r>
            <a:r>
              <a:rPr dirty="0" sz="1700" spc="-2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images</a:t>
            </a:r>
            <a:r>
              <a:rPr dirty="0" sz="1700" spc="-2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in</a:t>
            </a:r>
            <a:r>
              <a:rPr dirty="0" sz="1700" spc="-2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real</a:t>
            </a:r>
            <a:r>
              <a:rPr dirty="0" sz="1700" spc="-20">
                <a:latin typeface="Times New Roman"/>
                <a:cs typeface="Times New Roman"/>
              </a:rPr>
              <a:t> </a:t>
            </a:r>
            <a:r>
              <a:rPr dirty="0" sz="1700" spc="-10">
                <a:latin typeface="Times New Roman"/>
                <a:cs typeface="Times New Roman"/>
              </a:rPr>
              <a:t>time.</a:t>
            </a:r>
            <a:endParaRPr sz="17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288986" y="710384"/>
            <a:ext cx="1956435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OBJECTIVES</a:t>
            </a:r>
          </a:p>
        </p:txBody>
      </p:sp>
      <p:sp>
        <p:nvSpPr>
          <p:cNvPr id="4" name="object 4" descr=""/>
          <p:cNvSpPr txBox="1"/>
          <p:nvPr/>
        </p:nvSpPr>
        <p:spPr>
          <a:xfrm>
            <a:off x="4246277" y="6445270"/>
            <a:ext cx="868044" cy="19431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 sz="1200">
                <a:solidFill>
                  <a:srgbClr val="888888"/>
                </a:solidFill>
                <a:latin typeface="Times New Roman"/>
                <a:cs typeface="Times New Roman"/>
              </a:rPr>
              <a:t>Review</a:t>
            </a:r>
            <a:r>
              <a:rPr dirty="0" sz="1200" spc="-4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888888"/>
                </a:solidFill>
                <a:latin typeface="Times New Roman"/>
                <a:cs typeface="Times New Roman"/>
              </a:rPr>
              <a:t>No.</a:t>
            </a:r>
            <a:r>
              <a:rPr dirty="0" sz="1200" spc="-3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dirty="0" sz="1200" spc="-50">
                <a:solidFill>
                  <a:srgbClr val="888888"/>
                </a:solidFill>
                <a:latin typeface="Times New Roman"/>
                <a:cs typeface="Times New Roman"/>
              </a:rPr>
              <a:t>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5" name="object 5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69850">
              <a:lnSpc>
                <a:spcPts val="1410"/>
              </a:lnSpc>
            </a:pPr>
            <a:r>
              <a:rPr dirty="0"/>
              <a:t>Batch</a:t>
            </a:r>
            <a:r>
              <a:rPr dirty="0" spc="-30"/>
              <a:t> </a:t>
            </a:r>
            <a:r>
              <a:rPr dirty="0" spc="-10"/>
              <a:t>No.DB4</a:t>
            </a:r>
          </a:p>
        </p:txBody>
      </p:sp>
      <p:sp>
        <p:nvSpPr>
          <p:cNvPr id="6" name="object 6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79375">
              <a:lnSpc>
                <a:spcPts val="1410"/>
              </a:lnSpc>
            </a:pPr>
            <a:r>
              <a:rPr dirty="0" spc="-10"/>
              <a:t>Department</a:t>
            </a:r>
            <a:r>
              <a:rPr dirty="0" spc="-15"/>
              <a:t> </a:t>
            </a:r>
            <a:r>
              <a:rPr dirty="0"/>
              <a:t>of</a:t>
            </a:r>
            <a:r>
              <a:rPr dirty="0" spc="-5"/>
              <a:t> </a:t>
            </a:r>
            <a:r>
              <a:rPr dirty="0" spc="-25"/>
              <a:t>CSE</a:t>
            </a:r>
          </a:p>
        </p:txBody>
      </p:sp>
      <p:sp>
        <p:nvSpPr>
          <p:cNvPr id="7" name="object 7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40005">
              <a:lnSpc>
                <a:spcPts val="1410"/>
              </a:lnSpc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3" name="object 3" descr=""/>
          <p:cNvSpPr txBox="1"/>
          <p:nvPr/>
        </p:nvSpPr>
        <p:spPr>
          <a:xfrm>
            <a:off x="816591" y="1454421"/>
            <a:ext cx="10429875" cy="385381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07314">
              <a:lnSpc>
                <a:spcPct val="100000"/>
              </a:lnSpc>
              <a:spcBef>
                <a:spcPts val="114"/>
              </a:spcBef>
            </a:pPr>
            <a:r>
              <a:rPr dirty="0" sz="2150" b="1">
                <a:latin typeface="Times New Roman"/>
                <a:cs typeface="Times New Roman"/>
              </a:rPr>
              <a:t>Our</a:t>
            </a:r>
            <a:r>
              <a:rPr dirty="0" sz="2150" spc="5" b="1">
                <a:latin typeface="Times New Roman"/>
                <a:cs typeface="Times New Roman"/>
              </a:rPr>
              <a:t> </a:t>
            </a:r>
            <a:r>
              <a:rPr dirty="0" sz="2150" b="1">
                <a:latin typeface="Times New Roman"/>
                <a:cs typeface="Times New Roman"/>
              </a:rPr>
              <a:t>Research</a:t>
            </a:r>
            <a:r>
              <a:rPr dirty="0" sz="2150" spc="5" b="1">
                <a:latin typeface="Times New Roman"/>
                <a:cs typeface="Times New Roman"/>
              </a:rPr>
              <a:t> </a:t>
            </a:r>
            <a:r>
              <a:rPr dirty="0" sz="2150" b="1">
                <a:latin typeface="Times New Roman"/>
                <a:cs typeface="Times New Roman"/>
              </a:rPr>
              <a:t>work</a:t>
            </a:r>
            <a:r>
              <a:rPr dirty="0" sz="2150" spc="5" b="1">
                <a:latin typeface="Times New Roman"/>
                <a:cs typeface="Times New Roman"/>
              </a:rPr>
              <a:t> </a:t>
            </a:r>
            <a:r>
              <a:rPr dirty="0" sz="2150" b="1">
                <a:latin typeface="Times New Roman"/>
                <a:cs typeface="Times New Roman"/>
              </a:rPr>
              <a:t>aims</a:t>
            </a:r>
            <a:r>
              <a:rPr dirty="0" sz="2150" spc="5" b="1">
                <a:latin typeface="Times New Roman"/>
                <a:cs typeface="Times New Roman"/>
              </a:rPr>
              <a:t> </a:t>
            </a:r>
            <a:r>
              <a:rPr dirty="0" sz="2150" b="1">
                <a:latin typeface="Times New Roman"/>
                <a:cs typeface="Times New Roman"/>
              </a:rPr>
              <a:t>to</a:t>
            </a:r>
            <a:r>
              <a:rPr dirty="0" sz="2150" spc="5" b="1">
                <a:latin typeface="Times New Roman"/>
                <a:cs typeface="Times New Roman"/>
              </a:rPr>
              <a:t> </a:t>
            </a:r>
            <a:r>
              <a:rPr dirty="0" sz="2150" spc="-50" b="1">
                <a:latin typeface="Times New Roman"/>
                <a:cs typeface="Times New Roman"/>
              </a:rPr>
              <a:t>:</a:t>
            </a:r>
            <a:endParaRPr sz="21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305"/>
              </a:spcBef>
            </a:pPr>
            <a:endParaRPr sz="2150">
              <a:latin typeface="Times New Roman"/>
              <a:cs typeface="Times New Roman"/>
            </a:endParaRPr>
          </a:p>
          <a:p>
            <a:pPr marL="335915" marR="251460" indent="-316230">
              <a:lnSpc>
                <a:spcPts val="1800"/>
              </a:lnSpc>
              <a:buFont typeface="Segoe UI Symbol"/>
              <a:buChar char="❖"/>
              <a:tabLst>
                <a:tab pos="335915" algn="l"/>
              </a:tabLst>
            </a:pPr>
            <a:r>
              <a:rPr dirty="0" sz="1850">
                <a:latin typeface="Times New Roman"/>
                <a:cs typeface="Times New Roman"/>
              </a:rPr>
              <a:t>Develop</a:t>
            </a:r>
            <a:r>
              <a:rPr dirty="0" sz="1850" spc="20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CNN-based</a:t>
            </a:r>
            <a:r>
              <a:rPr dirty="0" sz="1850" spc="20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deep</a:t>
            </a:r>
            <a:r>
              <a:rPr dirty="0" sz="1850" spc="20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learning</a:t>
            </a:r>
            <a:r>
              <a:rPr dirty="0" sz="1850" spc="25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models</a:t>
            </a:r>
            <a:r>
              <a:rPr dirty="0" sz="1850" spc="20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(EﬃcientNetV2-S,</a:t>
            </a:r>
            <a:r>
              <a:rPr dirty="0" sz="1850" spc="20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DenseNet121,</a:t>
            </a:r>
            <a:r>
              <a:rPr dirty="0" sz="1850" spc="20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InceptionV3)</a:t>
            </a:r>
            <a:r>
              <a:rPr dirty="0" sz="1850" spc="25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for</a:t>
            </a:r>
            <a:r>
              <a:rPr dirty="0" sz="1850" spc="20">
                <a:latin typeface="Times New Roman"/>
                <a:cs typeface="Times New Roman"/>
              </a:rPr>
              <a:t> </a:t>
            </a:r>
            <a:r>
              <a:rPr dirty="0" sz="1850" spc="-10">
                <a:latin typeface="Times New Roman"/>
                <a:cs typeface="Times New Roman"/>
              </a:rPr>
              <a:t>accurate </a:t>
            </a:r>
            <a:r>
              <a:rPr dirty="0" sz="1850">
                <a:latin typeface="Times New Roman"/>
                <a:cs typeface="Times New Roman"/>
              </a:rPr>
              <a:t>Monkeypox</a:t>
            </a:r>
            <a:r>
              <a:rPr dirty="0" sz="1850" spc="20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detection</a:t>
            </a:r>
            <a:r>
              <a:rPr dirty="0" sz="1850" spc="25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from</a:t>
            </a:r>
            <a:r>
              <a:rPr dirty="0" sz="1850" spc="20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skin</a:t>
            </a:r>
            <a:r>
              <a:rPr dirty="0" sz="1850" spc="25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lesion</a:t>
            </a:r>
            <a:r>
              <a:rPr dirty="0" sz="1850" spc="25">
                <a:latin typeface="Times New Roman"/>
                <a:cs typeface="Times New Roman"/>
              </a:rPr>
              <a:t> </a:t>
            </a:r>
            <a:r>
              <a:rPr dirty="0" sz="1850" spc="-10">
                <a:latin typeface="Times New Roman"/>
                <a:cs typeface="Times New Roman"/>
              </a:rPr>
              <a:t>images.</a:t>
            </a:r>
            <a:endParaRPr sz="18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0"/>
              </a:spcBef>
              <a:buFont typeface="Segoe UI Symbol"/>
              <a:buChar char="❖"/>
            </a:pPr>
            <a:endParaRPr sz="1850">
              <a:latin typeface="Times New Roman"/>
              <a:cs typeface="Times New Roman"/>
            </a:endParaRPr>
          </a:p>
          <a:p>
            <a:pPr marL="336550" indent="-316865">
              <a:lnSpc>
                <a:spcPct val="100000"/>
              </a:lnSpc>
              <a:buFont typeface="Segoe UI Symbol"/>
              <a:buChar char="❖"/>
              <a:tabLst>
                <a:tab pos="336550" algn="l"/>
              </a:tabLst>
            </a:pPr>
            <a:r>
              <a:rPr dirty="0" sz="1850">
                <a:latin typeface="Times New Roman"/>
                <a:cs typeface="Times New Roman"/>
              </a:rPr>
              <a:t>Enhance</a:t>
            </a:r>
            <a:r>
              <a:rPr dirty="0" sz="1850" spc="25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model</a:t>
            </a:r>
            <a:r>
              <a:rPr dirty="0" sz="1850" spc="25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generalization</a:t>
            </a:r>
            <a:r>
              <a:rPr dirty="0" sz="1850" spc="30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using</a:t>
            </a:r>
            <a:r>
              <a:rPr dirty="0" sz="1850" spc="25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advanced</a:t>
            </a:r>
            <a:r>
              <a:rPr dirty="0" sz="1850" spc="30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data</a:t>
            </a:r>
            <a:r>
              <a:rPr dirty="0" sz="1850" spc="25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augmentation</a:t>
            </a:r>
            <a:r>
              <a:rPr dirty="0" sz="1850" spc="30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and</a:t>
            </a:r>
            <a:r>
              <a:rPr dirty="0" sz="1850" spc="25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transfer</a:t>
            </a:r>
            <a:r>
              <a:rPr dirty="0" sz="1850" spc="30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learning</a:t>
            </a:r>
            <a:r>
              <a:rPr dirty="0" sz="1850" spc="25">
                <a:latin typeface="Times New Roman"/>
                <a:cs typeface="Times New Roman"/>
              </a:rPr>
              <a:t> </a:t>
            </a:r>
            <a:r>
              <a:rPr dirty="0" sz="1850" spc="-10">
                <a:latin typeface="Times New Roman"/>
                <a:cs typeface="Times New Roman"/>
              </a:rPr>
              <a:t>techniques.</a:t>
            </a:r>
            <a:endParaRPr sz="18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650"/>
              </a:spcBef>
              <a:buFont typeface="Segoe UI Symbol"/>
              <a:buChar char="❖"/>
            </a:pPr>
            <a:endParaRPr sz="1850">
              <a:latin typeface="Times New Roman"/>
              <a:cs typeface="Times New Roman"/>
            </a:endParaRPr>
          </a:p>
          <a:p>
            <a:pPr marL="335915" marR="5080" indent="-316230">
              <a:lnSpc>
                <a:spcPts val="1800"/>
              </a:lnSpc>
              <a:spcBef>
                <a:spcPts val="5"/>
              </a:spcBef>
              <a:buFont typeface="Segoe UI Symbol"/>
              <a:buChar char="❖"/>
              <a:tabLst>
                <a:tab pos="335915" algn="l"/>
              </a:tabLst>
            </a:pPr>
            <a:r>
              <a:rPr dirty="0" sz="1850">
                <a:latin typeface="Times New Roman"/>
                <a:cs typeface="Times New Roman"/>
              </a:rPr>
              <a:t>Incorporate</a:t>
            </a:r>
            <a:r>
              <a:rPr dirty="0" sz="1850" spc="30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LIME-based</a:t>
            </a:r>
            <a:r>
              <a:rPr dirty="0" sz="1850" spc="30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explainability</a:t>
            </a:r>
            <a:r>
              <a:rPr dirty="0" sz="1850" spc="35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to</a:t>
            </a:r>
            <a:r>
              <a:rPr dirty="0" sz="1850" spc="30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highlight</a:t>
            </a:r>
            <a:r>
              <a:rPr dirty="0" sz="1850" spc="30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lesion</a:t>
            </a:r>
            <a:r>
              <a:rPr dirty="0" sz="1850" spc="35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regions</a:t>
            </a:r>
            <a:r>
              <a:rPr dirty="0" sz="1850" spc="30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influencing</a:t>
            </a:r>
            <a:r>
              <a:rPr dirty="0" sz="1850" spc="30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model</a:t>
            </a:r>
            <a:r>
              <a:rPr dirty="0" sz="1850" spc="35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predictions,</a:t>
            </a:r>
            <a:r>
              <a:rPr dirty="0" sz="1850" spc="30">
                <a:latin typeface="Times New Roman"/>
                <a:cs typeface="Times New Roman"/>
              </a:rPr>
              <a:t> </a:t>
            </a:r>
            <a:r>
              <a:rPr dirty="0" sz="1850" spc="-10">
                <a:latin typeface="Times New Roman"/>
                <a:cs typeface="Times New Roman"/>
              </a:rPr>
              <a:t>ensuring </a:t>
            </a:r>
            <a:r>
              <a:rPr dirty="0" sz="1850">
                <a:latin typeface="Times New Roman"/>
                <a:cs typeface="Times New Roman"/>
              </a:rPr>
              <a:t>interpretability</a:t>
            </a:r>
            <a:r>
              <a:rPr dirty="0" sz="1850" spc="25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and</a:t>
            </a:r>
            <a:r>
              <a:rPr dirty="0" sz="1850" spc="25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clinical</a:t>
            </a:r>
            <a:r>
              <a:rPr dirty="0" sz="1850" spc="25">
                <a:latin typeface="Times New Roman"/>
                <a:cs typeface="Times New Roman"/>
              </a:rPr>
              <a:t> </a:t>
            </a:r>
            <a:r>
              <a:rPr dirty="0" sz="1850" spc="-10">
                <a:latin typeface="Times New Roman"/>
                <a:cs typeface="Times New Roman"/>
              </a:rPr>
              <a:t>trust.</a:t>
            </a:r>
            <a:endParaRPr sz="18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45"/>
              </a:spcBef>
              <a:buFont typeface="Segoe UI Symbol"/>
              <a:buChar char="❖"/>
            </a:pPr>
            <a:endParaRPr sz="1850">
              <a:latin typeface="Times New Roman"/>
              <a:cs typeface="Times New Roman"/>
            </a:endParaRPr>
          </a:p>
          <a:p>
            <a:pPr marL="336550" indent="-316865">
              <a:lnSpc>
                <a:spcPct val="100000"/>
              </a:lnSpc>
              <a:buFont typeface="Segoe UI Symbol"/>
              <a:buChar char="❖"/>
              <a:tabLst>
                <a:tab pos="336550" algn="l"/>
              </a:tabLst>
            </a:pPr>
            <a:r>
              <a:rPr dirty="0" sz="1850">
                <a:latin typeface="Times New Roman"/>
                <a:cs typeface="Times New Roman"/>
              </a:rPr>
              <a:t>Compare</a:t>
            </a:r>
            <a:r>
              <a:rPr dirty="0" sz="1850" spc="30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model</a:t>
            </a:r>
            <a:r>
              <a:rPr dirty="0" sz="1850" spc="35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performance</a:t>
            </a:r>
            <a:r>
              <a:rPr dirty="0" sz="1850" spc="35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using</a:t>
            </a:r>
            <a:r>
              <a:rPr dirty="0" sz="1850" spc="35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metrics</a:t>
            </a:r>
            <a:r>
              <a:rPr dirty="0" sz="1850" spc="30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such</a:t>
            </a:r>
            <a:r>
              <a:rPr dirty="0" sz="1850" spc="35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as</a:t>
            </a:r>
            <a:r>
              <a:rPr dirty="0" sz="1850" spc="-75">
                <a:latin typeface="Times New Roman"/>
                <a:cs typeface="Times New Roman"/>
              </a:rPr>
              <a:t> </a:t>
            </a:r>
            <a:r>
              <a:rPr dirty="0" sz="1850" spc="-10">
                <a:latin typeface="Times New Roman"/>
                <a:cs typeface="Times New Roman"/>
              </a:rPr>
              <a:t>Accuracy,</a:t>
            </a:r>
            <a:r>
              <a:rPr dirty="0" sz="1850" spc="30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Precision,</a:t>
            </a:r>
            <a:r>
              <a:rPr dirty="0" sz="1850" spc="35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Recall,</a:t>
            </a:r>
            <a:r>
              <a:rPr dirty="0" sz="1850" spc="35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and</a:t>
            </a:r>
            <a:r>
              <a:rPr dirty="0" sz="1850" spc="35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F1-</a:t>
            </a:r>
            <a:r>
              <a:rPr dirty="0" sz="1850" spc="-10">
                <a:latin typeface="Times New Roman"/>
                <a:cs typeface="Times New Roman"/>
              </a:rPr>
              <a:t>Score.</a:t>
            </a:r>
            <a:endParaRPr sz="18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45"/>
              </a:spcBef>
              <a:buFont typeface="Segoe UI Symbol"/>
              <a:buChar char="❖"/>
            </a:pPr>
            <a:endParaRPr sz="1850">
              <a:latin typeface="Times New Roman"/>
              <a:cs typeface="Times New Roman"/>
            </a:endParaRPr>
          </a:p>
          <a:p>
            <a:pPr marL="335915" indent="-323215">
              <a:lnSpc>
                <a:spcPct val="100000"/>
              </a:lnSpc>
              <a:buFont typeface="Yu Gothic UI"/>
              <a:buChar char="❖"/>
              <a:tabLst>
                <a:tab pos="335915" algn="l"/>
              </a:tabLst>
            </a:pPr>
            <a:r>
              <a:rPr dirty="0" sz="1850">
                <a:latin typeface="Times New Roman"/>
                <a:cs typeface="Times New Roman"/>
              </a:rPr>
              <a:t>Design</a:t>
            </a:r>
            <a:r>
              <a:rPr dirty="0" sz="1850" spc="25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a</a:t>
            </a:r>
            <a:r>
              <a:rPr dirty="0" sz="1850" spc="25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lightweight</a:t>
            </a:r>
            <a:r>
              <a:rPr dirty="0" sz="1850" spc="25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and</a:t>
            </a:r>
            <a:r>
              <a:rPr dirty="0" sz="1850" spc="30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deployable</a:t>
            </a:r>
            <a:r>
              <a:rPr dirty="0" sz="1850" spc="25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solution</a:t>
            </a:r>
            <a:r>
              <a:rPr dirty="0" sz="1850" spc="25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suitable</a:t>
            </a:r>
            <a:r>
              <a:rPr dirty="0" sz="1850" spc="30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for</a:t>
            </a:r>
            <a:r>
              <a:rPr dirty="0" sz="1850" spc="25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mobile</a:t>
            </a:r>
            <a:r>
              <a:rPr dirty="0" sz="1850" spc="25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or</a:t>
            </a:r>
            <a:r>
              <a:rPr dirty="0" sz="1850" spc="30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remote</a:t>
            </a:r>
            <a:r>
              <a:rPr dirty="0" sz="1850" spc="25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healthcare</a:t>
            </a:r>
            <a:r>
              <a:rPr dirty="0" sz="1850" spc="25">
                <a:latin typeface="Times New Roman"/>
                <a:cs typeface="Times New Roman"/>
              </a:rPr>
              <a:t> </a:t>
            </a:r>
            <a:r>
              <a:rPr dirty="0" sz="1850" spc="-10">
                <a:latin typeface="Times New Roman"/>
                <a:cs typeface="Times New Roman"/>
              </a:rPr>
              <a:t>environments.</a:t>
            </a:r>
            <a:endParaRPr sz="18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80282" y="785933"/>
            <a:ext cx="1184910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Dataset</a:t>
            </a:r>
            <a:r>
              <a:rPr dirty="0" spc="-80"/>
              <a:t> </a:t>
            </a:r>
            <a:r>
              <a:rPr dirty="0" spc="-50"/>
              <a:t>: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649549" y="1520500"/>
            <a:ext cx="10768330" cy="22199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431165" marR="77470" indent="-419100">
              <a:lnSpc>
                <a:spcPct val="100000"/>
              </a:lnSpc>
              <a:spcBef>
                <a:spcPts val="100"/>
              </a:spcBef>
              <a:buAutoNum type="arabicParenR"/>
              <a:tabLst>
                <a:tab pos="431165" algn="l"/>
              </a:tabLst>
            </a:pPr>
            <a:r>
              <a:rPr dirty="0" sz="1800" spc="-75">
                <a:latin typeface="Times New Roman"/>
                <a:cs typeface="Times New Roman"/>
              </a:rPr>
              <a:t>We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used</a:t>
            </a:r>
            <a:r>
              <a:rPr dirty="0" sz="1800" spc="-4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publicly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accessible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dataset</a:t>
            </a:r>
            <a:r>
              <a:rPr dirty="0" sz="1800" spc="-4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of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images</a:t>
            </a:r>
            <a:r>
              <a:rPr dirty="0" sz="1800" spc="-4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of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monkeypox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that</a:t>
            </a:r>
            <a:r>
              <a:rPr dirty="0" sz="1800" spc="-4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was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divided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into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two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categories: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normal</a:t>
            </a:r>
            <a:r>
              <a:rPr dirty="0" sz="1800" spc="-45">
                <a:latin typeface="Times New Roman"/>
                <a:cs typeface="Times New Roman"/>
              </a:rPr>
              <a:t> </a:t>
            </a:r>
            <a:r>
              <a:rPr dirty="0" sz="1800" spc="-25">
                <a:latin typeface="Times New Roman"/>
                <a:cs typeface="Times New Roman"/>
              </a:rPr>
              <a:t>and </a:t>
            </a:r>
            <a:r>
              <a:rPr dirty="0" sz="1800" spc="-10">
                <a:latin typeface="Times New Roman"/>
                <a:cs typeface="Times New Roman"/>
              </a:rPr>
              <a:t>monkeypox.</a:t>
            </a:r>
            <a:r>
              <a:rPr dirty="0" sz="1800" spc="-6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The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dataset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was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divided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in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an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80/20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ratio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between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train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and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validation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sets.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Prior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to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training,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 spc="-25">
                <a:latin typeface="Times New Roman"/>
                <a:cs typeface="Times New Roman"/>
              </a:rPr>
              <a:t>all </a:t>
            </a:r>
            <a:r>
              <a:rPr dirty="0" sz="1800">
                <a:latin typeface="Times New Roman"/>
                <a:cs typeface="Times New Roman"/>
              </a:rPr>
              <a:t>images</a:t>
            </a:r>
            <a:r>
              <a:rPr dirty="0" sz="1800" spc="-4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were</a:t>
            </a:r>
            <a:r>
              <a:rPr dirty="0" sz="1800" spc="-4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normalized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to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scale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pixel</a:t>
            </a:r>
            <a:r>
              <a:rPr dirty="0" sz="1800" spc="-4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values</a:t>
            </a:r>
            <a:r>
              <a:rPr dirty="0" sz="1800" spc="-4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to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0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and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1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and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resized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to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the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input</a:t>
            </a:r>
            <a:r>
              <a:rPr dirty="0" sz="1800" spc="-4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size</a:t>
            </a:r>
            <a:r>
              <a:rPr dirty="0" sz="1800" spc="-4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each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model</a:t>
            </a:r>
            <a:r>
              <a:rPr dirty="0" sz="1800" spc="-4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requires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(e.g., </a:t>
            </a:r>
            <a:r>
              <a:rPr dirty="0" sz="1800">
                <a:latin typeface="Times New Roman"/>
                <a:cs typeface="Times New Roman"/>
              </a:rPr>
              <a:t>224×224 </a:t>
            </a:r>
            <a:r>
              <a:rPr dirty="0" sz="1800" spc="-10">
                <a:latin typeface="Times New Roman"/>
                <a:cs typeface="Times New Roman"/>
              </a:rPr>
              <a:t>pixels).</a:t>
            </a:r>
            <a:endParaRPr sz="1800">
              <a:latin typeface="Times New Roman"/>
              <a:cs typeface="Times New Roman"/>
            </a:endParaRPr>
          </a:p>
          <a:p>
            <a:pPr marL="431165" marR="5080" indent="-419100">
              <a:lnSpc>
                <a:spcPct val="100000"/>
              </a:lnSpc>
              <a:buAutoNum type="arabicParenR"/>
              <a:tabLst>
                <a:tab pos="431165" algn="l"/>
              </a:tabLst>
            </a:pPr>
            <a:r>
              <a:rPr dirty="0" sz="1800">
                <a:latin typeface="Times New Roman"/>
                <a:cs typeface="Times New Roman"/>
              </a:rPr>
              <a:t>The</a:t>
            </a:r>
            <a:r>
              <a:rPr dirty="0" sz="1800" spc="-5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dataset</a:t>
            </a:r>
            <a:r>
              <a:rPr dirty="0" sz="1800" spc="-5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can</a:t>
            </a:r>
            <a:r>
              <a:rPr dirty="0" sz="1800" spc="-5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be</a:t>
            </a:r>
            <a:r>
              <a:rPr dirty="0" sz="1800" spc="-5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used</a:t>
            </a:r>
            <a:r>
              <a:rPr dirty="0" sz="1800" spc="-4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for</a:t>
            </a:r>
            <a:r>
              <a:rPr dirty="0" sz="1800" spc="-5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valuable</a:t>
            </a:r>
            <a:r>
              <a:rPr dirty="0" sz="1800" spc="-5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benchmark</a:t>
            </a:r>
            <a:r>
              <a:rPr dirty="0" sz="1800" spc="-5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for</a:t>
            </a:r>
            <a:r>
              <a:rPr dirty="0" sz="1800" spc="-4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monkeypox</a:t>
            </a:r>
            <a:r>
              <a:rPr dirty="0" sz="1800" spc="-5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detection,</a:t>
            </a:r>
            <a:r>
              <a:rPr dirty="0" sz="1800" spc="-4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it’s</a:t>
            </a:r>
            <a:r>
              <a:rPr dirty="0" sz="1800" spc="-5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in</a:t>
            </a:r>
            <a:r>
              <a:rPr dirty="0" sz="1800" spc="-5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small</a:t>
            </a:r>
            <a:r>
              <a:rPr dirty="0" sz="1800" spc="-5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size</a:t>
            </a:r>
            <a:r>
              <a:rPr dirty="0" sz="1800" spc="-5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(716</a:t>
            </a:r>
            <a:r>
              <a:rPr dirty="0" sz="1800" spc="-4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images)</a:t>
            </a:r>
            <a:r>
              <a:rPr dirty="0" sz="1800" spc="-50">
                <a:latin typeface="Times New Roman"/>
                <a:cs typeface="Times New Roman"/>
              </a:rPr>
              <a:t> </a:t>
            </a:r>
            <a:r>
              <a:rPr dirty="0" sz="1800" spc="-25">
                <a:latin typeface="Times New Roman"/>
                <a:cs typeface="Times New Roman"/>
              </a:rPr>
              <a:t>may </a:t>
            </a:r>
            <a:r>
              <a:rPr dirty="0" sz="1800">
                <a:latin typeface="Times New Roman"/>
                <a:cs typeface="Times New Roman"/>
              </a:rPr>
              <a:t>limit</a:t>
            </a:r>
            <a:r>
              <a:rPr dirty="0" sz="1800" spc="-5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the</a:t>
            </a:r>
            <a:r>
              <a:rPr dirty="0" sz="1800" spc="-5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generalizability</a:t>
            </a:r>
            <a:r>
              <a:rPr dirty="0" sz="1800" spc="-4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of</a:t>
            </a:r>
            <a:r>
              <a:rPr dirty="0" sz="1800" spc="-4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the</a:t>
            </a:r>
            <a:r>
              <a:rPr dirty="0" sz="1800" spc="-5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models</a:t>
            </a:r>
            <a:r>
              <a:rPr dirty="0" sz="1800" spc="-4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to</a:t>
            </a:r>
            <a:r>
              <a:rPr dirty="0" sz="1800" spc="-4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larger</a:t>
            </a:r>
            <a:r>
              <a:rPr dirty="0" sz="1800" spc="-4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clinical</a:t>
            </a:r>
            <a:r>
              <a:rPr dirty="0" sz="1800" spc="-5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scenarios.</a:t>
            </a:r>
            <a:r>
              <a:rPr dirty="0" sz="1800" spc="-4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Future</a:t>
            </a:r>
            <a:r>
              <a:rPr dirty="0" sz="1800" spc="-4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work</a:t>
            </a:r>
            <a:r>
              <a:rPr dirty="0" sz="1800" spc="-4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will</a:t>
            </a:r>
            <a:r>
              <a:rPr dirty="0" sz="1800" spc="-5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be</a:t>
            </a:r>
            <a:r>
              <a:rPr dirty="0" sz="1800" spc="-5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focused</a:t>
            </a:r>
            <a:r>
              <a:rPr dirty="0" sz="1800" spc="-4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on</a:t>
            </a:r>
            <a:r>
              <a:rPr dirty="0" sz="1800" spc="-4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expanding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 spc="-25">
                <a:latin typeface="Times New Roman"/>
                <a:cs typeface="Times New Roman"/>
              </a:rPr>
              <a:t>the </a:t>
            </a:r>
            <a:r>
              <a:rPr dirty="0" sz="1800">
                <a:latin typeface="Times New Roman"/>
                <a:cs typeface="Times New Roman"/>
              </a:rPr>
              <a:t>dataset</a:t>
            </a:r>
            <a:r>
              <a:rPr dirty="0" sz="1800" spc="-6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through</a:t>
            </a:r>
            <a:r>
              <a:rPr dirty="0" sz="1800" spc="-5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collaboration</a:t>
            </a:r>
            <a:r>
              <a:rPr dirty="0" sz="1800" spc="-5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with</a:t>
            </a:r>
            <a:r>
              <a:rPr dirty="0" sz="1800" spc="-5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medical</a:t>
            </a:r>
            <a:r>
              <a:rPr dirty="0" sz="1800" spc="-6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institutions</a:t>
            </a:r>
            <a:r>
              <a:rPr dirty="0" sz="1800" spc="-6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or</a:t>
            </a:r>
            <a:r>
              <a:rPr dirty="0" sz="1800" spc="-5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public</a:t>
            </a:r>
            <a:r>
              <a:rPr dirty="0" sz="1800" spc="-6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health</a:t>
            </a:r>
            <a:r>
              <a:rPr dirty="0" sz="1800" spc="-5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repositories,</a:t>
            </a:r>
            <a:r>
              <a:rPr dirty="0" sz="1800" spc="-5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and</a:t>
            </a:r>
            <a:r>
              <a:rPr dirty="0" sz="1800" spc="-5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incorporating</a:t>
            </a:r>
            <a:r>
              <a:rPr dirty="0" sz="1800" spc="-5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external </a:t>
            </a:r>
            <a:r>
              <a:rPr dirty="0" sz="1800">
                <a:latin typeface="Times New Roman"/>
                <a:cs typeface="Times New Roman"/>
              </a:rPr>
              <a:t>validation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to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strengthen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the</a:t>
            </a:r>
            <a:r>
              <a:rPr dirty="0" sz="1800" spc="-4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robustness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of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the</a:t>
            </a:r>
            <a:r>
              <a:rPr dirty="0" sz="1800" spc="-4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findings.</a:t>
            </a:r>
            <a:endParaRPr sz="1800">
              <a:latin typeface="Times New Roman"/>
              <a:cs typeface="Times New Roman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46774" y="4326626"/>
            <a:ext cx="5647179" cy="1532639"/>
          </a:xfrm>
          <a:prstGeom prst="rect">
            <a:avLst/>
          </a:prstGeom>
        </p:spPr>
      </p:pic>
      <p:sp>
        <p:nvSpPr>
          <p:cNvPr id="5" name="object 5" descr=""/>
          <p:cNvSpPr txBox="1"/>
          <p:nvPr/>
        </p:nvSpPr>
        <p:spPr>
          <a:xfrm>
            <a:off x="4246277" y="6445270"/>
            <a:ext cx="868044" cy="19431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 sz="1200">
                <a:solidFill>
                  <a:srgbClr val="888888"/>
                </a:solidFill>
                <a:latin typeface="Times New Roman"/>
                <a:cs typeface="Times New Roman"/>
              </a:rPr>
              <a:t>Review</a:t>
            </a:r>
            <a:r>
              <a:rPr dirty="0" sz="1200" spc="-4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888888"/>
                </a:solidFill>
                <a:latin typeface="Times New Roman"/>
                <a:cs typeface="Times New Roman"/>
              </a:rPr>
              <a:t>No.</a:t>
            </a:r>
            <a:r>
              <a:rPr dirty="0" sz="1200" spc="-3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dirty="0" sz="1200" spc="-50">
                <a:solidFill>
                  <a:srgbClr val="888888"/>
                </a:solidFill>
                <a:latin typeface="Times New Roman"/>
                <a:cs typeface="Times New Roman"/>
              </a:rPr>
              <a:t>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6" name="object 6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69850">
              <a:lnSpc>
                <a:spcPts val="1410"/>
              </a:lnSpc>
            </a:pPr>
            <a:r>
              <a:rPr dirty="0"/>
              <a:t>Batch</a:t>
            </a:r>
            <a:r>
              <a:rPr dirty="0" spc="-30"/>
              <a:t> </a:t>
            </a:r>
            <a:r>
              <a:rPr dirty="0" spc="-10"/>
              <a:t>No.DB4</a:t>
            </a:r>
          </a:p>
        </p:txBody>
      </p:sp>
      <p:sp>
        <p:nvSpPr>
          <p:cNvPr id="7" name="object 7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79375">
              <a:lnSpc>
                <a:spcPts val="1410"/>
              </a:lnSpc>
            </a:pPr>
            <a:r>
              <a:rPr dirty="0" spc="-10"/>
              <a:t>Department</a:t>
            </a:r>
            <a:r>
              <a:rPr dirty="0" spc="-15"/>
              <a:t> </a:t>
            </a:r>
            <a:r>
              <a:rPr dirty="0"/>
              <a:t>of</a:t>
            </a:r>
            <a:r>
              <a:rPr dirty="0" spc="-5"/>
              <a:t> </a:t>
            </a:r>
            <a:r>
              <a:rPr dirty="0" spc="-25"/>
              <a:t>CSE</a:t>
            </a:r>
          </a:p>
        </p:txBody>
      </p:sp>
      <p:sp>
        <p:nvSpPr>
          <p:cNvPr id="8" name="object 8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40005">
              <a:lnSpc>
                <a:spcPts val="1410"/>
              </a:lnSpc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32750" y="792608"/>
            <a:ext cx="6320155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20"/>
              <a:t>Data</a:t>
            </a:r>
            <a:r>
              <a:rPr dirty="0" spc="-140"/>
              <a:t> </a:t>
            </a:r>
            <a:r>
              <a:rPr dirty="0" spc="-20"/>
              <a:t>Augmentation</a:t>
            </a:r>
            <a:r>
              <a:rPr dirty="0" spc="-105"/>
              <a:t> </a:t>
            </a:r>
            <a:r>
              <a:rPr dirty="0"/>
              <a:t>(Happens</a:t>
            </a:r>
            <a:r>
              <a:rPr dirty="0" spc="-55"/>
              <a:t> </a:t>
            </a:r>
            <a:r>
              <a:rPr dirty="0"/>
              <a:t>during</a:t>
            </a:r>
            <a:r>
              <a:rPr dirty="0" spc="-125"/>
              <a:t> </a:t>
            </a:r>
            <a:r>
              <a:rPr dirty="0" spc="-10"/>
              <a:t>Training)</a:t>
            </a:r>
            <a:r>
              <a:rPr dirty="0" spc="-55"/>
              <a:t> </a:t>
            </a:r>
            <a:r>
              <a:rPr dirty="0" spc="-50"/>
              <a:t>:</a:t>
            </a:r>
          </a:p>
        </p:txBody>
      </p:sp>
      <p:sp>
        <p:nvSpPr>
          <p:cNvPr id="4" name="object 4" descr=""/>
          <p:cNvSpPr txBox="1"/>
          <p:nvPr/>
        </p:nvSpPr>
        <p:spPr>
          <a:xfrm>
            <a:off x="4246277" y="6445270"/>
            <a:ext cx="868044" cy="19431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 sz="1200">
                <a:solidFill>
                  <a:srgbClr val="888888"/>
                </a:solidFill>
                <a:latin typeface="Times New Roman"/>
                <a:cs typeface="Times New Roman"/>
              </a:rPr>
              <a:t>Review</a:t>
            </a:r>
            <a:r>
              <a:rPr dirty="0" sz="1200" spc="-4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888888"/>
                </a:solidFill>
                <a:latin typeface="Times New Roman"/>
                <a:cs typeface="Times New Roman"/>
              </a:rPr>
              <a:t>No.</a:t>
            </a:r>
            <a:r>
              <a:rPr dirty="0" sz="1200" spc="-3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dirty="0" sz="1200" spc="-50">
                <a:solidFill>
                  <a:srgbClr val="888888"/>
                </a:solidFill>
                <a:latin typeface="Times New Roman"/>
                <a:cs typeface="Times New Roman"/>
              </a:rPr>
              <a:t>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5" name="object 5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69850">
              <a:lnSpc>
                <a:spcPts val="1410"/>
              </a:lnSpc>
            </a:pPr>
            <a:r>
              <a:rPr dirty="0"/>
              <a:t>Batch</a:t>
            </a:r>
            <a:r>
              <a:rPr dirty="0" spc="-30"/>
              <a:t> </a:t>
            </a:r>
            <a:r>
              <a:rPr dirty="0" spc="-10"/>
              <a:t>No.DB4</a:t>
            </a:r>
          </a:p>
        </p:txBody>
      </p:sp>
      <p:sp>
        <p:nvSpPr>
          <p:cNvPr id="6" name="object 6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79375">
              <a:lnSpc>
                <a:spcPts val="1410"/>
              </a:lnSpc>
            </a:pPr>
            <a:r>
              <a:rPr dirty="0" spc="-10"/>
              <a:t>Department</a:t>
            </a:r>
            <a:r>
              <a:rPr dirty="0" spc="-15"/>
              <a:t> </a:t>
            </a:r>
            <a:r>
              <a:rPr dirty="0"/>
              <a:t>of</a:t>
            </a:r>
            <a:r>
              <a:rPr dirty="0" spc="-5"/>
              <a:t> </a:t>
            </a:r>
            <a:r>
              <a:rPr dirty="0" spc="-25"/>
              <a:t>CSE</a:t>
            </a:r>
          </a:p>
        </p:txBody>
      </p:sp>
      <p:sp>
        <p:nvSpPr>
          <p:cNvPr id="7" name="object 7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40005">
              <a:lnSpc>
                <a:spcPts val="1410"/>
              </a:lnSpc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3" name="object 3" descr=""/>
          <p:cNvSpPr txBox="1"/>
          <p:nvPr/>
        </p:nvSpPr>
        <p:spPr>
          <a:xfrm>
            <a:off x="1315800" y="1377177"/>
            <a:ext cx="10114280" cy="41967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53975">
              <a:lnSpc>
                <a:spcPct val="114999"/>
              </a:lnSpc>
              <a:spcBef>
                <a:spcPts val="100"/>
              </a:spcBef>
            </a:pPr>
            <a:r>
              <a:rPr dirty="0" sz="1700">
                <a:latin typeface="Times New Roman"/>
                <a:cs typeface="Times New Roman"/>
              </a:rPr>
              <a:t>For</a:t>
            </a:r>
            <a:r>
              <a:rPr dirty="0" sz="1700" spc="-2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this</a:t>
            </a:r>
            <a:r>
              <a:rPr dirty="0" sz="1700" spc="-2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project,</a:t>
            </a:r>
            <a:r>
              <a:rPr dirty="0" sz="1700" spc="-2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we</a:t>
            </a:r>
            <a:r>
              <a:rPr dirty="0" sz="1700" spc="-2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didn’t</a:t>
            </a:r>
            <a:r>
              <a:rPr dirty="0" sz="1700" spc="-2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reinvent</a:t>
            </a:r>
            <a:r>
              <a:rPr dirty="0" sz="1700" spc="-1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the</a:t>
            </a:r>
            <a:r>
              <a:rPr dirty="0" sz="1700" spc="-2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wheel.</a:t>
            </a:r>
            <a:r>
              <a:rPr dirty="0" sz="1700" spc="-2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Instead,</a:t>
            </a:r>
            <a:r>
              <a:rPr dirty="0" sz="1700" spc="-2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we</a:t>
            </a:r>
            <a:r>
              <a:rPr dirty="0" sz="1700" spc="-2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fired</a:t>
            </a:r>
            <a:r>
              <a:rPr dirty="0" sz="1700" spc="-2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up</a:t>
            </a:r>
            <a:r>
              <a:rPr dirty="0" sz="1700" spc="-1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Keras</a:t>
            </a:r>
            <a:r>
              <a:rPr dirty="0" sz="1700" spc="-2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Image</a:t>
            </a:r>
            <a:r>
              <a:rPr dirty="0" sz="1700" spc="-2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Data</a:t>
            </a:r>
            <a:r>
              <a:rPr dirty="0" sz="1700" spc="-2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Generator—think</a:t>
            </a:r>
            <a:r>
              <a:rPr dirty="0" sz="1700" spc="-2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of</a:t>
            </a:r>
            <a:r>
              <a:rPr dirty="0" sz="1700" spc="-2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it</a:t>
            </a:r>
            <a:r>
              <a:rPr dirty="0" sz="1700" spc="-15">
                <a:latin typeface="Times New Roman"/>
                <a:cs typeface="Times New Roman"/>
              </a:rPr>
              <a:t> </a:t>
            </a:r>
            <a:r>
              <a:rPr dirty="0" sz="1700" spc="-25">
                <a:latin typeface="Times New Roman"/>
                <a:cs typeface="Times New Roman"/>
              </a:rPr>
              <a:t>as </a:t>
            </a:r>
            <a:r>
              <a:rPr dirty="0" sz="1700">
                <a:latin typeface="Times New Roman"/>
                <a:cs typeface="Times New Roman"/>
              </a:rPr>
              <a:t>Photoshop</a:t>
            </a:r>
            <a:r>
              <a:rPr dirty="0" sz="1700" spc="-2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on</a:t>
            </a:r>
            <a:r>
              <a:rPr dirty="0" sz="1700" spc="-2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autopilot,</a:t>
            </a:r>
            <a:r>
              <a:rPr dirty="0" sz="1700" spc="-2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dicing</a:t>
            </a:r>
            <a:r>
              <a:rPr dirty="0" sz="1700" spc="-2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up</a:t>
            </a:r>
            <a:r>
              <a:rPr dirty="0" sz="1700" spc="-2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your</a:t>
            </a:r>
            <a:r>
              <a:rPr dirty="0" sz="1700" spc="-2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images</a:t>
            </a:r>
            <a:r>
              <a:rPr dirty="0" sz="1700" spc="-2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with</a:t>
            </a:r>
            <a:r>
              <a:rPr dirty="0" sz="1700" spc="-2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new</a:t>
            </a:r>
            <a:r>
              <a:rPr dirty="0" sz="1700" spc="-2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looks</a:t>
            </a:r>
            <a:r>
              <a:rPr dirty="0" sz="1700" spc="-2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on</a:t>
            </a:r>
            <a:r>
              <a:rPr dirty="0" sz="1700" spc="-2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the</a:t>
            </a:r>
            <a:r>
              <a:rPr dirty="0" sz="1700" spc="-25">
                <a:latin typeface="Times New Roman"/>
                <a:cs typeface="Times New Roman"/>
              </a:rPr>
              <a:t> </a:t>
            </a:r>
            <a:r>
              <a:rPr dirty="0" sz="1700" spc="-35">
                <a:latin typeface="Times New Roman"/>
                <a:cs typeface="Times New Roman"/>
              </a:rPr>
              <a:t>fly.</a:t>
            </a:r>
            <a:r>
              <a:rPr dirty="0" sz="1700" spc="-2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So</a:t>
            </a:r>
            <a:r>
              <a:rPr dirty="0" sz="1700" spc="-2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as</a:t>
            </a:r>
            <a:r>
              <a:rPr dirty="0" sz="1700" spc="-2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the</a:t>
            </a:r>
            <a:r>
              <a:rPr dirty="0" sz="1700" spc="-2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model</a:t>
            </a:r>
            <a:r>
              <a:rPr dirty="0" sz="1700" spc="-2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trains,</a:t>
            </a:r>
            <a:r>
              <a:rPr dirty="0" sz="1700" spc="-20">
                <a:latin typeface="Times New Roman"/>
                <a:cs typeface="Times New Roman"/>
              </a:rPr>
              <a:t> </a:t>
            </a:r>
            <a:r>
              <a:rPr dirty="0" sz="1700" spc="-10">
                <a:latin typeface="Times New Roman"/>
                <a:cs typeface="Times New Roman"/>
              </a:rPr>
              <a:t>it’s</a:t>
            </a:r>
            <a:r>
              <a:rPr dirty="0" sz="1700" spc="-2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getting</a:t>
            </a:r>
            <a:r>
              <a:rPr dirty="0" sz="1700" spc="-2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hit</a:t>
            </a:r>
            <a:r>
              <a:rPr dirty="0" sz="1700" spc="-25">
                <a:latin typeface="Times New Roman"/>
                <a:cs typeface="Times New Roman"/>
              </a:rPr>
              <a:t> </a:t>
            </a:r>
            <a:r>
              <a:rPr dirty="0" sz="1700" spc="-20">
                <a:latin typeface="Times New Roman"/>
                <a:cs typeface="Times New Roman"/>
              </a:rPr>
              <a:t>with </a:t>
            </a:r>
            <a:r>
              <a:rPr dirty="0" sz="1700">
                <a:latin typeface="Times New Roman"/>
                <a:cs typeface="Times New Roman"/>
              </a:rPr>
              <a:t>a</a:t>
            </a:r>
            <a:r>
              <a:rPr dirty="0" sz="1700" spc="-1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parade</a:t>
            </a:r>
            <a:r>
              <a:rPr dirty="0" sz="1700" spc="-1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of</a:t>
            </a:r>
            <a:r>
              <a:rPr dirty="0" sz="1700" spc="-1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fresh,</a:t>
            </a:r>
            <a:r>
              <a:rPr dirty="0" sz="1700" spc="-1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slightly</a:t>
            </a:r>
            <a:r>
              <a:rPr dirty="0" sz="1700" spc="-1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tweaked</a:t>
            </a:r>
            <a:r>
              <a:rPr dirty="0" sz="1700" spc="-1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pictures.</a:t>
            </a:r>
            <a:r>
              <a:rPr dirty="0" sz="1700" spc="-1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Keeps</a:t>
            </a:r>
            <a:r>
              <a:rPr dirty="0" sz="1700" spc="-1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things</a:t>
            </a:r>
            <a:r>
              <a:rPr dirty="0" sz="1700" spc="-1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interesting,</a:t>
            </a:r>
            <a:r>
              <a:rPr dirty="0" sz="1700" spc="-1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keeps</a:t>
            </a:r>
            <a:r>
              <a:rPr dirty="0" sz="1700" spc="-1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the</a:t>
            </a:r>
            <a:r>
              <a:rPr dirty="0" sz="1700" spc="-1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model</a:t>
            </a:r>
            <a:r>
              <a:rPr dirty="0" sz="1700" spc="-1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on</a:t>
            </a:r>
            <a:r>
              <a:rPr dirty="0" sz="1700" spc="-1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its</a:t>
            </a:r>
            <a:r>
              <a:rPr dirty="0" sz="1700" spc="-1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toes.</a:t>
            </a:r>
            <a:r>
              <a:rPr dirty="0" sz="1700" spc="-15">
                <a:latin typeface="Times New Roman"/>
                <a:cs typeface="Times New Roman"/>
              </a:rPr>
              <a:t> </a:t>
            </a:r>
            <a:r>
              <a:rPr dirty="0" sz="1700" spc="-10">
                <a:latin typeface="Times New Roman"/>
                <a:cs typeface="Times New Roman"/>
              </a:rPr>
              <a:t>Here’s</a:t>
            </a:r>
            <a:r>
              <a:rPr dirty="0" sz="1700" spc="-1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the</a:t>
            </a:r>
            <a:r>
              <a:rPr dirty="0" sz="1700" spc="-1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menu</a:t>
            </a:r>
            <a:r>
              <a:rPr dirty="0" sz="1700" spc="-15">
                <a:latin typeface="Times New Roman"/>
                <a:cs typeface="Times New Roman"/>
              </a:rPr>
              <a:t> </a:t>
            </a:r>
            <a:r>
              <a:rPr dirty="0" sz="1700" spc="-25">
                <a:latin typeface="Times New Roman"/>
                <a:cs typeface="Times New Roman"/>
              </a:rPr>
              <a:t>of </a:t>
            </a:r>
            <a:r>
              <a:rPr dirty="0" sz="1700">
                <a:latin typeface="Times New Roman"/>
                <a:cs typeface="Times New Roman"/>
              </a:rPr>
              <a:t>augmentations</a:t>
            </a:r>
            <a:r>
              <a:rPr dirty="0" sz="1700" spc="-2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we</a:t>
            </a:r>
            <a:r>
              <a:rPr dirty="0" sz="1700" spc="-1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served</a:t>
            </a:r>
            <a:r>
              <a:rPr dirty="0" sz="1700" spc="-10">
                <a:latin typeface="Times New Roman"/>
                <a:cs typeface="Times New Roman"/>
              </a:rPr>
              <a:t> </a:t>
            </a:r>
            <a:r>
              <a:rPr dirty="0" sz="1700" spc="-25">
                <a:latin typeface="Times New Roman"/>
                <a:cs typeface="Times New Roman"/>
              </a:rPr>
              <a:t>up:</a:t>
            </a:r>
            <a:endParaRPr sz="1700">
              <a:latin typeface="Times New Roman"/>
              <a:cs typeface="Times New Roman"/>
            </a:endParaRPr>
          </a:p>
          <a:p>
            <a:pPr marL="246379" indent="-233679">
              <a:lnSpc>
                <a:spcPct val="100000"/>
              </a:lnSpc>
              <a:spcBef>
                <a:spcPts val="305"/>
              </a:spcBef>
              <a:buAutoNum type="arabicParenR"/>
              <a:tabLst>
                <a:tab pos="246379" algn="l"/>
              </a:tabLst>
            </a:pPr>
            <a:r>
              <a:rPr dirty="0" sz="1700" spc="-10" b="1">
                <a:latin typeface="Times New Roman"/>
                <a:cs typeface="Times New Roman"/>
              </a:rPr>
              <a:t>RESCALING:</a:t>
            </a:r>
            <a:r>
              <a:rPr dirty="0" sz="1700" spc="-40" b="1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Input</a:t>
            </a:r>
            <a:r>
              <a:rPr dirty="0" sz="1700" spc="-2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img</a:t>
            </a:r>
            <a:r>
              <a:rPr dirty="0" sz="1700" spc="-1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pixel</a:t>
            </a:r>
            <a:r>
              <a:rPr dirty="0" sz="1700" spc="-2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values</a:t>
            </a:r>
            <a:r>
              <a:rPr dirty="0" sz="1700" spc="-2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were</a:t>
            </a:r>
            <a:r>
              <a:rPr dirty="0" sz="1700" spc="-1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all</a:t>
            </a:r>
            <a:r>
              <a:rPr dirty="0" sz="1700" spc="-2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rescaled</a:t>
            </a:r>
            <a:r>
              <a:rPr dirty="0" sz="1700" spc="-1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to</a:t>
            </a:r>
            <a:r>
              <a:rPr dirty="0" sz="1700" spc="-2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[0,</a:t>
            </a:r>
            <a:r>
              <a:rPr dirty="0" sz="1700" spc="-2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1]</a:t>
            </a:r>
            <a:r>
              <a:rPr dirty="0" sz="1700" spc="-1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by</a:t>
            </a:r>
            <a:r>
              <a:rPr dirty="0" sz="1700" spc="-2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dividing</a:t>
            </a:r>
            <a:r>
              <a:rPr dirty="0" sz="1700" spc="-2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each</a:t>
            </a:r>
            <a:r>
              <a:rPr dirty="0" sz="1700" spc="-1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value</a:t>
            </a:r>
            <a:r>
              <a:rPr dirty="0" sz="1700" spc="-2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by</a:t>
            </a:r>
            <a:r>
              <a:rPr dirty="0" sz="1700" spc="-15">
                <a:latin typeface="Times New Roman"/>
                <a:cs typeface="Times New Roman"/>
              </a:rPr>
              <a:t> </a:t>
            </a:r>
            <a:r>
              <a:rPr dirty="0" sz="1700" spc="-20">
                <a:latin typeface="Times New Roman"/>
                <a:cs typeface="Times New Roman"/>
              </a:rPr>
              <a:t>255.</a:t>
            </a:r>
            <a:endParaRPr sz="1700">
              <a:latin typeface="Times New Roman"/>
              <a:cs typeface="Times New Roman"/>
            </a:endParaRPr>
          </a:p>
          <a:p>
            <a:pPr marL="246379" indent="-233679">
              <a:lnSpc>
                <a:spcPct val="100000"/>
              </a:lnSpc>
              <a:spcBef>
                <a:spcPts val="305"/>
              </a:spcBef>
              <a:buAutoNum type="arabicParenR"/>
              <a:tabLst>
                <a:tab pos="246379" algn="l"/>
              </a:tabLst>
            </a:pPr>
            <a:r>
              <a:rPr dirty="0" sz="1700" b="1">
                <a:latin typeface="Times New Roman"/>
                <a:cs typeface="Times New Roman"/>
              </a:rPr>
              <a:t>RANDOM</a:t>
            </a:r>
            <a:r>
              <a:rPr dirty="0" sz="1700" spc="-10" b="1">
                <a:latin typeface="Times New Roman"/>
                <a:cs typeface="Times New Roman"/>
              </a:rPr>
              <a:t> </a:t>
            </a:r>
            <a:r>
              <a:rPr dirty="0" sz="1700" spc="-55" b="1">
                <a:latin typeface="Times New Roman"/>
                <a:cs typeface="Times New Roman"/>
              </a:rPr>
              <a:t>ROTATIONS</a:t>
            </a:r>
            <a:r>
              <a:rPr dirty="0" sz="1700" spc="-55">
                <a:latin typeface="Times New Roman"/>
                <a:cs typeface="Times New Roman"/>
              </a:rPr>
              <a:t>:</a:t>
            </a:r>
            <a:r>
              <a:rPr dirty="0" sz="1700" spc="-4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The</a:t>
            </a:r>
            <a:r>
              <a:rPr dirty="0" sz="1700" spc="-1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Images</a:t>
            </a:r>
            <a:r>
              <a:rPr dirty="0" sz="1700" spc="-1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are</a:t>
            </a:r>
            <a:r>
              <a:rPr dirty="0" sz="1700" spc="-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rotated</a:t>
            </a:r>
            <a:r>
              <a:rPr dirty="0" sz="1700" spc="-1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in</a:t>
            </a:r>
            <a:r>
              <a:rPr dirty="0" sz="1700" spc="-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a</a:t>
            </a:r>
            <a:r>
              <a:rPr dirty="0" sz="1700" spc="-1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random</a:t>
            </a:r>
            <a:r>
              <a:rPr dirty="0" sz="1700" spc="-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manner</a:t>
            </a:r>
            <a:r>
              <a:rPr dirty="0" sz="1700" spc="-1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so</a:t>
            </a:r>
            <a:r>
              <a:rPr dirty="0" sz="1700" spc="-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that</a:t>
            </a:r>
            <a:r>
              <a:rPr dirty="0" sz="1700" spc="-1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it</a:t>
            </a:r>
            <a:r>
              <a:rPr dirty="0" sz="1700" spc="-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is</a:t>
            </a:r>
            <a:r>
              <a:rPr dirty="0" sz="1700" spc="-1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clear</a:t>
            </a:r>
            <a:r>
              <a:rPr dirty="0" sz="1700" spc="-1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to</a:t>
            </a:r>
            <a:r>
              <a:rPr dirty="0" sz="1700" spc="-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identify</a:t>
            </a:r>
            <a:r>
              <a:rPr dirty="0" sz="1700" spc="-1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the</a:t>
            </a:r>
            <a:r>
              <a:rPr dirty="0" sz="1700" spc="-5">
                <a:latin typeface="Times New Roman"/>
                <a:cs typeface="Times New Roman"/>
              </a:rPr>
              <a:t> </a:t>
            </a:r>
            <a:r>
              <a:rPr dirty="0" sz="1700" spc="-10">
                <a:latin typeface="Times New Roman"/>
                <a:cs typeface="Times New Roman"/>
              </a:rPr>
              <a:t>image.</a:t>
            </a:r>
            <a:endParaRPr sz="1700">
              <a:latin typeface="Times New Roman"/>
              <a:cs typeface="Times New Roman"/>
            </a:endParaRPr>
          </a:p>
          <a:p>
            <a:pPr marL="12700" marR="532130" indent="233679">
              <a:lnSpc>
                <a:spcPct val="114999"/>
              </a:lnSpc>
              <a:buAutoNum type="arabicParenR"/>
              <a:tabLst>
                <a:tab pos="246379" algn="l"/>
              </a:tabLst>
            </a:pPr>
            <a:r>
              <a:rPr dirty="0" sz="1700" spc="-20" b="1">
                <a:latin typeface="Times New Roman"/>
                <a:cs typeface="Times New Roman"/>
              </a:rPr>
              <a:t>ZOOMING</a:t>
            </a:r>
            <a:r>
              <a:rPr dirty="0" sz="1700" spc="-20">
                <a:latin typeface="Times New Roman"/>
                <a:cs typeface="Times New Roman"/>
              </a:rPr>
              <a:t>:</a:t>
            </a:r>
            <a:r>
              <a:rPr dirty="0" sz="1700" spc="-9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A</a:t>
            </a:r>
            <a:r>
              <a:rPr dirty="0" sz="1700" spc="-2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20</a:t>
            </a:r>
            <a:r>
              <a:rPr dirty="0" sz="1700" spc="-1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percent</a:t>
            </a:r>
            <a:r>
              <a:rPr dirty="0" sz="1700" spc="-1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zoom</a:t>
            </a:r>
            <a:r>
              <a:rPr dirty="0" sz="1700" spc="-1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was</a:t>
            </a:r>
            <a:r>
              <a:rPr dirty="0" sz="1700" spc="-1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imposed</a:t>
            </a:r>
            <a:r>
              <a:rPr dirty="0" sz="1700" spc="-1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to</a:t>
            </a:r>
            <a:r>
              <a:rPr dirty="0" sz="1700" spc="-1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mimic</a:t>
            </a:r>
            <a:r>
              <a:rPr dirty="0" sz="1700" spc="-1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diﬀerences</a:t>
            </a:r>
            <a:r>
              <a:rPr dirty="0" sz="1700" spc="-1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in</a:t>
            </a:r>
            <a:r>
              <a:rPr dirty="0" sz="1700" spc="-1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the</a:t>
            </a:r>
            <a:r>
              <a:rPr dirty="0" sz="1700" spc="-1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distance</a:t>
            </a:r>
            <a:r>
              <a:rPr dirty="0" sz="1700" spc="-1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or</a:t>
            </a:r>
            <a:r>
              <a:rPr dirty="0" sz="1700" spc="-1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closeness</a:t>
            </a:r>
            <a:r>
              <a:rPr dirty="0" sz="1700" spc="-1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the</a:t>
            </a:r>
            <a:r>
              <a:rPr dirty="0" sz="1700" spc="-1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lesion</a:t>
            </a:r>
            <a:r>
              <a:rPr dirty="0" sz="1700" spc="-10">
                <a:latin typeface="Times New Roman"/>
                <a:cs typeface="Times New Roman"/>
              </a:rPr>
              <a:t> </a:t>
            </a:r>
            <a:r>
              <a:rPr dirty="0" sz="1700" spc="-25">
                <a:latin typeface="Times New Roman"/>
                <a:cs typeface="Times New Roman"/>
              </a:rPr>
              <a:t>is </a:t>
            </a:r>
            <a:r>
              <a:rPr dirty="0" sz="1700">
                <a:latin typeface="Times New Roman"/>
                <a:cs typeface="Times New Roman"/>
              </a:rPr>
              <a:t>viewed</a:t>
            </a:r>
            <a:r>
              <a:rPr dirty="0" sz="1700" spc="-2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in</a:t>
            </a:r>
            <a:r>
              <a:rPr dirty="0" sz="1700" spc="-1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each</a:t>
            </a:r>
            <a:r>
              <a:rPr dirty="0" sz="1700" spc="-1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photo</a:t>
            </a:r>
            <a:r>
              <a:rPr dirty="0" sz="1700" spc="-2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so</a:t>
            </a:r>
            <a:r>
              <a:rPr dirty="0" sz="1700" spc="-1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that</a:t>
            </a:r>
            <a:r>
              <a:rPr dirty="0" sz="1700" spc="-1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patterns</a:t>
            </a:r>
            <a:r>
              <a:rPr dirty="0" sz="1700" spc="-1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at</a:t>
            </a:r>
            <a:r>
              <a:rPr dirty="0" sz="1700" spc="-2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various</a:t>
            </a:r>
            <a:r>
              <a:rPr dirty="0" sz="1700" spc="-1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scales</a:t>
            </a:r>
            <a:r>
              <a:rPr dirty="0" sz="1700" spc="-1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can</a:t>
            </a:r>
            <a:r>
              <a:rPr dirty="0" sz="1700" spc="-2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be</a:t>
            </a:r>
            <a:r>
              <a:rPr dirty="0" sz="1700" spc="-15">
                <a:latin typeface="Times New Roman"/>
                <a:cs typeface="Times New Roman"/>
              </a:rPr>
              <a:t> </a:t>
            </a:r>
            <a:r>
              <a:rPr dirty="0" sz="1700" spc="-10">
                <a:latin typeface="Times New Roman"/>
                <a:cs typeface="Times New Roman"/>
              </a:rPr>
              <a:t>identified</a:t>
            </a:r>
            <a:r>
              <a:rPr dirty="0" sz="1700" spc="-1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by</a:t>
            </a:r>
            <a:r>
              <a:rPr dirty="0" sz="1700" spc="-1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the</a:t>
            </a:r>
            <a:r>
              <a:rPr dirty="0" sz="1700" spc="-20">
                <a:latin typeface="Times New Roman"/>
                <a:cs typeface="Times New Roman"/>
              </a:rPr>
              <a:t> </a:t>
            </a:r>
            <a:r>
              <a:rPr dirty="0" sz="1700" spc="-10">
                <a:latin typeface="Times New Roman"/>
                <a:cs typeface="Times New Roman"/>
              </a:rPr>
              <a:t>model.</a:t>
            </a:r>
            <a:endParaRPr sz="1700">
              <a:latin typeface="Times New Roman"/>
              <a:cs typeface="Times New Roman"/>
            </a:endParaRPr>
          </a:p>
          <a:p>
            <a:pPr marL="12700" marR="95885" indent="233679">
              <a:lnSpc>
                <a:spcPct val="114999"/>
              </a:lnSpc>
              <a:buAutoNum type="arabicParenR"/>
              <a:tabLst>
                <a:tab pos="246379" algn="l"/>
              </a:tabLst>
            </a:pPr>
            <a:r>
              <a:rPr dirty="0" sz="1700" spc="-25" b="1">
                <a:latin typeface="Times New Roman"/>
                <a:cs typeface="Times New Roman"/>
              </a:rPr>
              <a:t>HORIZONTAL</a:t>
            </a:r>
            <a:r>
              <a:rPr dirty="0" sz="1700" spc="-20" b="1">
                <a:latin typeface="Times New Roman"/>
                <a:cs typeface="Times New Roman"/>
              </a:rPr>
              <a:t> </a:t>
            </a:r>
            <a:r>
              <a:rPr dirty="0" sz="1700" b="1">
                <a:latin typeface="Times New Roman"/>
                <a:cs typeface="Times New Roman"/>
              </a:rPr>
              <a:t>FLIPPING</a:t>
            </a:r>
            <a:r>
              <a:rPr dirty="0" sz="1700">
                <a:latin typeface="Times New Roman"/>
                <a:cs typeface="Times New Roman"/>
              </a:rPr>
              <a:t>:</a:t>
            </a:r>
            <a:r>
              <a:rPr dirty="0" sz="1700" spc="-2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Horizontal</a:t>
            </a:r>
            <a:r>
              <a:rPr dirty="0" sz="1700" spc="-2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random</a:t>
            </a:r>
            <a:r>
              <a:rPr dirty="0" sz="1700" spc="-15">
                <a:latin typeface="Times New Roman"/>
                <a:cs typeface="Times New Roman"/>
              </a:rPr>
              <a:t> </a:t>
            </a:r>
            <a:r>
              <a:rPr dirty="0" sz="1700" spc="-20">
                <a:latin typeface="Times New Roman"/>
                <a:cs typeface="Times New Roman"/>
              </a:rPr>
              <a:t>flips </a:t>
            </a:r>
            <a:r>
              <a:rPr dirty="0" sz="1700">
                <a:latin typeface="Times New Roman"/>
                <a:cs typeface="Times New Roman"/>
              </a:rPr>
              <a:t>were</a:t>
            </a:r>
            <a:r>
              <a:rPr dirty="0" sz="1700" spc="-2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applied</a:t>
            </a:r>
            <a:r>
              <a:rPr dirty="0" sz="1700" spc="-1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in</a:t>
            </a:r>
            <a:r>
              <a:rPr dirty="0" sz="1700" spc="-2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order</a:t>
            </a:r>
            <a:r>
              <a:rPr dirty="0" sz="1700" spc="-2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to</a:t>
            </a:r>
            <a:r>
              <a:rPr dirty="0" sz="1700" spc="-1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incorporate</a:t>
            </a:r>
            <a:r>
              <a:rPr dirty="0" sz="1700" spc="-2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more</a:t>
            </a:r>
            <a:r>
              <a:rPr dirty="0" sz="1700" spc="-20">
                <a:latin typeface="Times New Roman"/>
                <a:cs typeface="Times New Roman"/>
              </a:rPr>
              <a:t> </a:t>
            </a:r>
            <a:r>
              <a:rPr dirty="0" sz="1700" spc="-10">
                <a:latin typeface="Times New Roman"/>
                <a:cs typeface="Times New Roman"/>
              </a:rPr>
              <a:t>variability</a:t>
            </a:r>
            <a:r>
              <a:rPr dirty="0" sz="1700" spc="-15">
                <a:latin typeface="Times New Roman"/>
                <a:cs typeface="Times New Roman"/>
              </a:rPr>
              <a:t> </a:t>
            </a:r>
            <a:r>
              <a:rPr dirty="0" sz="1700" spc="-25">
                <a:latin typeface="Times New Roman"/>
                <a:cs typeface="Times New Roman"/>
              </a:rPr>
              <a:t>and </a:t>
            </a:r>
            <a:r>
              <a:rPr dirty="0" sz="1700">
                <a:latin typeface="Times New Roman"/>
                <a:cs typeface="Times New Roman"/>
              </a:rPr>
              <a:t>make</a:t>
            </a:r>
            <a:r>
              <a:rPr dirty="0" sz="1700" spc="-1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the</a:t>
            </a:r>
            <a:r>
              <a:rPr dirty="0" sz="1700" spc="-1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model</a:t>
            </a:r>
            <a:r>
              <a:rPr dirty="0" sz="1700" spc="-1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understand</a:t>
            </a:r>
            <a:r>
              <a:rPr dirty="0" sz="1700" spc="-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that</a:t>
            </a:r>
            <a:r>
              <a:rPr dirty="0" sz="1700" spc="-1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the</a:t>
            </a:r>
            <a:r>
              <a:rPr dirty="0" sz="1700" spc="-1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side</a:t>
            </a:r>
            <a:r>
              <a:rPr dirty="0" sz="1700" spc="-1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of</a:t>
            </a:r>
            <a:r>
              <a:rPr dirty="0" sz="1700" spc="-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a</a:t>
            </a:r>
            <a:r>
              <a:rPr dirty="0" sz="1700" spc="-1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lesion</a:t>
            </a:r>
            <a:r>
              <a:rPr dirty="0" sz="1700" spc="-1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(left</a:t>
            </a:r>
            <a:r>
              <a:rPr dirty="0" sz="1700" spc="-1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or</a:t>
            </a:r>
            <a:r>
              <a:rPr dirty="0" sz="1700" spc="-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right)</a:t>
            </a:r>
            <a:r>
              <a:rPr dirty="0" sz="1700" spc="-1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should</a:t>
            </a:r>
            <a:r>
              <a:rPr dirty="0" sz="1700" spc="-1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not</a:t>
            </a:r>
            <a:r>
              <a:rPr dirty="0" sz="1700" spc="-5">
                <a:latin typeface="Times New Roman"/>
                <a:cs typeface="Times New Roman"/>
              </a:rPr>
              <a:t> </a:t>
            </a:r>
            <a:r>
              <a:rPr dirty="0" sz="1700" spc="-10">
                <a:latin typeface="Times New Roman"/>
                <a:cs typeface="Times New Roman"/>
              </a:rPr>
              <a:t>influence </a:t>
            </a:r>
            <a:r>
              <a:rPr dirty="0" sz="1700">
                <a:latin typeface="Times New Roman"/>
                <a:cs typeface="Times New Roman"/>
              </a:rPr>
              <a:t>the</a:t>
            </a:r>
            <a:r>
              <a:rPr dirty="0" sz="1700" spc="-1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prediction.</a:t>
            </a:r>
            <a:r>
              <a:rPr dirty="0" sz="1700" spc="-4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These</a:t>
            </a:r>
            <a:r>
              <a:rPr dirty="0" sz="1700" spc="-5">
                <a:latin typeface="Times New Roman"/>
                <a:cs typeface="Times New Roman"/>
              </a:rPr>
              <a:t> </a:t>
            </a:r>
            <a:r>
              <a:rPr dirty="0" sz="1700" spc="-10">
                <a:latin typeface="Times New Roman"/>
                <a:cs typeface="Times New Roman"/>
              </a:rPr>
              <a:t>above </a:t>
            </a:r>
            <a:r>
              <a:rPr dirty="0" sz="1700">
                <a:latin typeface="Times New Roman"/>
                <a:cs typeface="Times New Roman"/>
              </a:rPr>
              <a:t>steps</a:t>
            </a:r>
            <a:r>
              <a:rPr dirty="0" sz="1700" spc="-1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were</a:t>
            </a:r>
            <a:r>
              <a:rPr dirty="0" sz="1700" spc="-1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only</a:t>
            </a:r>
            <a:r>
              <a:rPr dirty="0" sz="1700" spc="-1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implemented</a:t>
            </a:r>
            <a:r>
              <a:rPr dirty="0" sz="1700" spc="-1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in</a:t>
            </a:r>
            <a:r>
              <a:rPr dirty="0" sz="1700" spc="-1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the</a:t>
            </a:r>
            <a:r>
              <a:rPr dirty="0" sz="1700" spc="-1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training</a:t>
            </a:r>
            <a:r>
              <a:rPr dirty="0" sz="1700" spc="-1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data</a:t>
            </a:r>
            <a:r>
              <a:rPr dirty="0" sz="1700" spc="-1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only</a:t>
            </a:r>
            <a:r>
              <a:rPr dirty="0" sz="1700" spc="-1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keeping</a:t>
            </a:r>
            <a:r>
              <a:rPr dirty="0" sz="1700" spc="-1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the</a:t>
            </a:r>
            <a:r>
              <a:rPr dirty="0" sz="1700" spc="-10">
                <a:latin typeface="Times New Roman"/>
                <a:cs typeface="Times New Roman"/>
              </a:rPr>
              <a:t> validation</a:t>
            </a:r>
            <a:r>
              <a:rPr dirty="0" sz="1700" spc="-1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set</a:t>
            </a:r>
            <a:r>
              <a:rPr dirty="0" sz="1700" spc="-1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not</a:t>
            </a:r>
            <a:r>
              <a:rPr dirty="0" sz="1700" spc="-1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changes</a:t>
            </a:r>
            <a:r>
              <a:rPr dirty="0" sz="1700" spc="-1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.</a:t>
            </a:r>
            <a:r>
              <a:rPr dirty="0" sz="1700" spc="-4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The</a:t>
            </a:r>
            <a:r>
              <a:rPr dirty="0" sz="1700" spc="-1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utilization</a:t>
            </a:r>
            <a:r>
              <a:rPr dirty="0" sz="1700" spc="-15">
                <a:latin typeface="Times New Roman"/>
                <a:cs typeface="Times New Roman"/>
              </a:rPr>
              <a:t> </a:t>
            </a:r>
            <a:r>
              <a:rPr dirty="0" sz="1700" spc="-25">
                <a:latin typeface="Times New Roman"/>
                <a:cs typeface="Times New Roman"/>
              </a:rPr>
              <a:t>of </a:t>
            </a:r>
            <a:r>
              <a:rPr dirty="0" sz="1700">
                <a:latin typeface="Times New Roman"/>
                <a:cs typeface="Times New Roman"/>
              </a:rPr>
              <a:t>augmentation</a:t>
            </a:r>
            <a:r>
              <a:rPr dirty="0" sz="1700" spc="-2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greatly</a:t>
            </a:r>
            <a:r>
              <a:rPr dirty="0" sz="1700" spc="-2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improved</a:t>
            </a:r>
            <a:r>
              <a:rPr dirty="0" sz="1700" spc="-1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the</a:t>
            </a:r>
            <a:r>
              <a:rPr dirty="0" sz="1700" spc="-2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generalization</a:t>
            </a:r>
            <a:r>
              <a:rPr dirty="0" sz="1700" spc="-1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capability</a:t>
            </a:r>
            <a:r>
              <a:rPr dirty="0" sz="1700" spc="-2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of</a:t>
            </a:r>
            <a:r>
              <a:rPr dirty="0" sz="1700" spc="-2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the</a:t>
            </a:r>
            <a:r>
              <a:rPr dirty="0" sz="1700" spc="-1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model,</a:t>
            </a:r>
            <a:r>
              <a:rPr dirty="0" sz="1700" spc="-2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especially</a:t>
            </a:r>
            <a:r>
              <a:rPr dirty="0" sz="1700" spc="-1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on</a:t>
            </a:r>
            <a:r>
              <a:rPr dirty="0" sz="1700" spc="-2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a</a:t>
            </a:r>
            <a:r>
              <a:rPr dirty="0" sz="1700" spc="-1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small</a:t>
            </a:r>
            <a:r>
              <a:rPr dirty="0" sz="1700" spc="-2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or</a:t>
            </a:r>
            <a:r>
              <a:rPr dirty="0" sz="1700" spc="-20">
                <a:latin typeface="Times New Roman"/>
                <a:cs typeface="Times New Roman"/>
              </a:rPr>
              <a:t> </a:t>
            </a:r>
            <a:r>
              <a:rPr dirty="0" sz="1700" spc="-10">
                <a:latin typeface="Times New Roman"/>
                <a:cs typeface="Times New Roman"/>
              </a:rPr>
              <a:t>slightly </a:t>
            </a:r>
            <a:r>
              <a:rPr dirty="0" sz="1700">
                <a:latin typeface="Times New Roman"/>
                <a:cs typeface="Times New Roman"/>
              </a:rPr>
              <a:t>unbalanced</a:t>
            </a:r>
            <a:r>
              <a:rPr dirty="0" sz="1700" spc="-2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dataset.</a:t>
            </a:r>
            <a:r>
              <a:rPr dirty="0" sz="1700" spc="-2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By</a:t>
            </a:r>
            <a:r>
              <a:rPr dirty="0" sz="1700" spc="-2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enlarging</a:t>
            </a:r>
            <a:r>
              <a:rPr dirty="0" sz="1700" spc="-2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the</a:t>
            </a:r>
            <a:r>
              <a:rPr dirty="0" sz="1700" spc="-2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variety</a:t>
            </a:r>
            <a:r>
              <a:rPr dirty="0" sz="1700" spc="-2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of</a:t>
            </a:r>
            <a:r>
              <a:rPr dirty="0" sz="1700" spc="-2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inputs,</a:t>
            </a:r>
            <a:r>
              <a:rPr dirty="0" sz="1700" spc="-2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the</a:t>
            </a:r>
            <a:r>
              <a:rPr dirty="0" sz="1700" spc="-2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models</a:t>
            </a:r>
            <a:r>
              <a:rPr dirty="0" sz="1700" spc="-2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were</a:t>
            </a:r>
            <a:r>
              <a:rPr dirty="0" sz="1700" spc="-2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more</a:t>
            </a:r>
            <a:r>
              <a:rPr dirty="0" sz="1700" spc="-2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capable</a:t>
            </a:r>
            <a:r>
              <a:rPr dirty="0" sz="1700" spc="-2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of</a:t>
            </a:r>
            <a:r>
              <a:rPr dirty="0" sz="1700" spc="-2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dealing</a:t>
            </a:r>
            <a:r>
              <a:rPr dirty="0" sz="1700" spc="-2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with</a:t>
            </a:r>
            <a:r>
              <a:rPr dirty="0" sz="1700" spc="-2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unknown</a:t>
            </a:r>
            <a:r>
              <a:rPr dirty="0" sz="1700" spc="-25">
                <a:latin typeface="Times New Roman"/>
                <a:cs typeface="Times New Roman"/>
              </a:rPr>
              <a:t> </a:t>
            </a:r>
            <a:r>
              <a:rPr dirty="0" sz="1700" spc="-20">
                <a:latin typeface="Times New Roman"/>
                <a:cs typeface="Times New Roman"/>
              </a:rPr>
              <a:t>skin </a:t>
            </a:r>
            <a:r>
              <a:rPr dirty="0" sz="1700">
                <a:latin typeface="Times New Roman"/>
                <a:cs typeface="Times New Roman"/>
              </a:rPr>
              <a:t>lesion</a:t>
            </a:r>
            <a:r>
              <a:rPr dirty="0" sz="1700" spc="-1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images</a:t>
            </a:r>
            <a:r>
              <a:rPr dirty="0" sz="1700" spc="-1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during</a:t>
            </a:r>
            <a:r>
              <a:rPr dirty="0" sz="1700" spc="-1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test</a:t>
            </a:r>
            <a:r>
              <a:rPr dirty="0" sz="1700" spc="-1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and</a:t>
            </a:r>
            <a:r>
              <a:rPr dirty="0" sz="1700" spc="-10">
                <a:latin typeface="Times New Roman"/>
                <a:cs typeface="Times New Roman"/>
              </a:rPr>
              <a:t> deployment.</a:t>
            </a:r>
            <a:endParaRPr sz="17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BLOCK</a:t>
            </a:r>
            <a:r>
              <a:rPr dirty="0" spc="-35"/>
              <a:t> </a:t>
            </a:r>
            <a:r>
              <a:rPr dirty="0" spc="-10"/>
              <a:t>DIAGRAM</a:t>
            </a:r>
            <a:r>
              <a:rPr dirty="0" spc="-30"/>
              <a:t> </a:t>
            </a:r>
            <a:r>
              <a:rPr dirty="0"/>
              <a:t>OR</a:t>
            </a:r>
            <a:r>
              <a:rPr dirty="0" spc="-35"/>
              <a:t> </a:t>
            </a:r>
            <a:r>
              <a:rPr dirty="0"/>
              <a:t>FLOW</a:t>
            </a:r>
            <a:r>
              <a:rPr dirty="0" spc="-70"/>
              <a:t> </a:t>
            </a:r>
            <a:r>
              <a:rPr dirty="0" spc="-10"/>
              <a:t>DIAGRAM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4246277" y="6565189"/>
            <a:ext cx="829944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888888"/>
                </a:solidFill>
                <a:latin typeface="Times New Roman"/>
                <a:cs typeface="Times New Roman"/>
              </a:rPr>
              <a:t>Review</a:t>
            </a:r>
            <a:r>
              <a:rPr dirty="0" sz="1200" spc="-7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dirty="0" sz="1200" spc="-20">
                <a:solidFill>
                  <a:srgbClr val="888888"/>
                </a:solidFill>
                <a:latin typeface="Times New Roman"/>
                <a:cs typeface="Times New Roman"/>
              </a:rPr>
              <a:t>No.1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5393216" y="6565189"/>
            <a:ext cx="931544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888888"/>
                </a:solidFill>
                <a:latin typeface="Times New Roman"/>
                <a:cs typeface="Times New Roman"/>
              </a:rPr>
              <a:t>Batch</a:t>
            </a:r>
            <a:r>
              <a:rPr dirty="0" sz="1200" spc="-3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dirty="0" sz="1200" spc="-10">
                <a:solidFill>
                  <a:srgbClr val="888888"/>
                </a:solidFill>
                <a:latin typeface="Times New Roman"/>
                <a:cs typeface="Times New Roman"/>
              </a:rPr>
              <a:t>No.DB4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6718158" y="6565189"/>
            <a:ext cx="122618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solidFill>
                  <a:srgbClr val="888888"/>
                </a:solidFill>
                <a:latin typeface="Times New Roman"/>
                <a:cs typeface="Times New Roman"/>
              </a:rPr>
              <a:t>Department</a:t>
            </a:r>
            <a:r>
              <a:rPr dirty="0" sz="1200" spc="-15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888888"/>
                </a:solidFill>
                <a:latin typeface="Times New Roman"/>
                <a:cs typeface="Times New Roman"/>
              </a:rPr>
              <a:t>of</a:t>
            </a:r>
            <a:r>
              <a:rPr dirty="0" sz="1200" spc="-5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dirty="0" sz="1200" spc="-25">
                <a:solidFill>
                  <a:srgbClr val="888888"/>
                </a:solidFill>
                <a:latin typeface="Times New Roman"/>
                <a:cs typeface="Times New Roman"/>
              </a:rPr>
              <a:t>CSE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11102975" y="6428676"/>
            <a:ext cx="17780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>
                <a:solidFill>
                  <a:srgbClr val="888888"/>
                </a:solidFill>
                <a:latin typeface="Times New Roman"/>
                <a:cs typeface="Times New Roman"/>
              </a:rPr>
              <a:t>12</a:t>
            </a:r>
            <a:endParaRPr sz="1200">
              <a:latin typeface="Times New Roman"/>
              <a:cs typeface="Times New Roman"/>
            </a:endParaRPr>
          </a:p>
        </p:txBody>
      </p:sp>
      <p:pic>
        <p:nvPicPr>
          <p:cNvPr id="7" name="object 7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36425" y="1176600"/>
            <a:ext cx="11135575" cy="5179749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823990" y="1047858"/>
            <a:ext cx="9114155" cy="3921760"/>
          </a:xfrm>
          <a:prstGeom prst="rect">
            <a:avLst/>
          </a:prstGeom>
        </p:spPr>
        <p:txBody>
          <a:bodyPr wrap="square" lIns="0" tIns="13589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70"/>
              </a:spcBef>
            </a:pPr>
            <a:r>
              <a:rPr dirty="0" sz="2400" b="1">
                <a:latin typeface="Times New Roman"/>
                <a:cs typeface="Times New Roman"/>
              </a:rPr>
              <a:t>Overview</a:t>
            </a:r>
            <a:r>
              <a:rPr dirty="0" sz="2400" spc="-50" b="1">
                <a:latin typeface="Times New Roman"/>
                <a:cs typeface="Times New Roman"/>
              </a:rPr>
              <a:t> :</a:t>
            </a:r>
            <a:endParaRPr sz="2400">
              <a:latin typeface="Times New Roman"/>
              <a:cs typeface="Times New Roman"/>
            </a:endParaRPr>
          </a:p>
          <a:p>
            <a:pPr marL="317500" indent="-304800">
              <a:lnSpc>
                <a:spcPct val="100000"/>
              </a:lnSpc>
              <a:spcBef>
                <a:spcPts val="975"/>
              </a:spcBef>
              <a:buAutoNum type="arabicPeriod"/>
              <a:tabLst>
                <a:tab pos="317500" algn="l"/>
              </a:tabLst>
            </a:pPr>
            <a:r>
              <a:rPr dirty="0" sz="2400" b="1">
                <a:latin typeface="Times New Roman"/>
                <a:cs typeface="Times New Roman"/>
              </a:rPr>
              <a:t>Data</a:t>
            </a:r>
            <a:r>
              <a:rPr dirty="0" sz="2400" spc="-85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Preprocessing</a:t>
            </a:r>
            <a:r>
              <a:rPr dirty="0" sz="2400" spc="-80" b="1">
                <a:latin typeface="Times New Roman"/>
                <a:cs typeface="Times New Roman"/>
              </a:rPr>
              <a:t> </a:t>
            </a:r>
            <a:r>
              <a:rPr dirty="0" sz="2400" spc="-50" b="1">
                <a:latin typeface="Times New Roman"/>
                <a:cs typeface="Times New Roman"/>
              </a:rPr>
              <a:t>:</a:t>
            </a:r>
            <a:endParaRPr sz="2400">
              <a:latin typeface="Times New Roman"/>
              <a:cs typeface="Times New Roman"/>
            </a:endParaRPr>
          </a:p>
          <a:p>
            <a:pPr marL="12700" marR="432434">
              <a:lnSpc>
                <a:spcPct val="100000"/>
              </a:lnSpc>
              <a:spcBef>
                <a:spcPts val="655"/>
              </a:spcBef>
            </a:pPr>
            <a:r>
              <a:rPr dirty="0" sz="1700">
                <a:latin typeface="Times New Roman"/>
                <a:cs typeface="Times New Roman"/>
              </a:rPr>
              <a:t>Before</a:t>
            </a:r>
            <a:r>
              <a:rPr dirty="0" sz="1700" spc="-1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training,</a:t>
            </a:r>
            <a:r>
              <a:rPr dirty="0" sz="1700" spc="-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all</a:t>
            </a:r>
            <a:r>
              <a:rPr dirty="0" sz="1700" spc="-1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images</a:t>
            </a:r>
            <a:r>
              <a:rPr dirty="0" sz="1700" spc="-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were</a:t>
            </a:r>
            <a:r>
              <a:rPr dirty="0" sz="1700" spc="-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preprocessed</a:t>
            </a:r>
            <a:r>
              <a:rPr dirty="0" sz="1700" spc="-1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to</a:t>
            </a:r>
            <a:r>
              <a:rPr dirty="0" sz="1700" spc="-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ensure</a:t>
            </a:r>
            <a:r>
              <a:rPr dirty="0" sz="1700" spc="-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uniformity</a:t>
            </a:r>
            <a:r>
              <a:rPr dirty="0" sz="1700" spc="-1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and</a:t>
            </a:r>
            <a:r>
              <a:rPr dirty="0" sz="1700" spc="-5">
                <a:latin typeface="Times New Roman"/>
                <a:cs typeface="Times New Roman"/>
              </a:rPr>
              <a:t> </a:t>
            </a:r>
            <a:r>
              <a:rPr dirty="0" sz="1700" spc="-10">
                <a:latin typeface="Times New Roman"/>
                <a:cs typeface="Times New Roman"/>
              </a:rPr>
              <a:t>compatibility</a:t>
            </a:r>
            <a:r>
              <a:rPr dirty="0" sz="1700" spc="-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across</a:t>
            </a:r>
            <a:r>
              <a:rPr dirty="0" sz="1700" spc="-10">
                <a:latin typeface="Times New Roman"/>
                <a:cs typeface="Times New Roman"/>
              </a:rPr>
              <a:t> models. </a:t>
            </a:r>
            <a:r>
              <a:rPr dirty="0" sz="1700">
                <a:latin typeface="Times New Roman"/>
                <a:cs typeface="Times New Roman"/>
              </a:rPr>
              <a:t>This</a:t>
            </a:r>
            <a:r>
              <a:rPr dirty="0" sz="1700" spc="-1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step</a:t>
            </a:r>
            <a:r>
              <a:rPr dirty="0" sz="1700" spc="-1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prepares</a:t>
            </a:r>
            <a:r>
              <a:rPr dirty="0" sz="1700" spc="-1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raw</a:t>
            </a:r>
            <a:r>
              <a:rPr dirty="0" sz="1700" spc="-1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input</a:t>
            </a:r>
            <a:r>
              <a:rPr dirty="0" sz="1700" spc="-1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data</a:t>
            </a:r>
            <a:r>
              <a:rPr dirty="0" sz="1700" spc="-1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for</a:t>
            </a:r>
            <a:r>
              <a:rPr dirty="0" sz="1700" spc="-1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eﬃcient</a:t>
            </a:r>
            <a:r>
              <a:rPr dirty="0" sz="1700" spc="-1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learning</a:t>
            </a:r>
            <a:r>
              <a:rPr dirty="0" sz="1700" spc="-1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and</a:t>
            </a:r>
            <a:r>
              <a:rPr dirty="0" sz="1700" spc="-1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stable</a:t>
            </a:r>
            <a:r>
              <a:rPr dirty="0" sz="1700" spc="-1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model</a:t>
            </a:r>
            <a:r>
              <a:rPr dirty="0" sz="1700" spc="-15">
                <a:latin typeface="Times New Roman"/>
                <a:cs typeface="Times New Roman"/>
              </a:rPr>
              <a:t> </a:t>
            </a:r>
            <a:r>
              <a:rPr dirty="0" sz="1700" spc="-10">
                <a:latin typeface="Times New Roman"/>
                <a:cs typeface="Times New Roman"/>
              </a:rPr>
              <a:t>convergence.</a:t>
            </a:r>
            <a:endParaRPr sz="17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dirty="0" sz="1700" b="1">
                <a:latin typeface="Times New Roman"/>
                <a:cs typeface="Times New Roman"/>
              </a:rPr>
              <a:t>Preprocessing</a:t>
            </a:r>
            <a:r>
              <a:rPr dirty="0" sz="1700" spc="-60" b="1">
                <a:latin typeface="Times New Roman"/>
                <a:cs typeface="Times New Roman"/>
              </a:rPr>
              <a:t> </a:t>
            </a:r>
            <a:r>
              <a:rPr dirty="0" sz="1700" spc="-10" b="1">
                <a:latin typeface="Times New Roman"/>
                <a:cs typeface="Times New Roman"/>
              </a:rPr>
              <a:t>Steps</a:t>
            </a:r>
            <a:r>
              <a:rPr dirty="0" sz="1700" spc="-100" b="1">
                <a:latin typeface="Times New Roman"/>
                <a:cs typeface="Times New Roman"/>
              </a:rPr>
              <a:t> </a:t>
            </a:r>
            <a:r>
              <a:rPr dirty="0" sz="1700" spc="-10" b="1">
                <a:latin typeface="Times New Roman"/>
                <a:cs typeface="Times New Roman"/>
              </a:rPr>
              <a:t>Applied:</a:t>
            </a:r>
            <a:endParaRPr sz="1700">
              <a:latin typeface="Times New Roman"/>
              <a:cs typeface="Times New Roman"/>
            </a:endParaRPr>
          </a:p>
          <a:p>
            <a:pPr lvl="1" marL="469265" indent="-408305">
              <a:lnSpc>
                <a:spcPct val="100000"/>
              </a:lnSpc>
              <a:spcBef>
                <a:spcPts val="1200"/>
              </a:spcBef>
              <a:buAutoNum type="arabicParenR"/>
              <a:tabLst>
                <a:tab pos="469265" algn="l"/>
              </a:tabLst>
            </a:pPr>
            <a:r>
              <a:rPr dirty="0" sz="1700" b="1">
                <a:latin typeface="Times New Roman"/>
                <a:cs typeface="Times New Roman"/>
              </a:rPr>
              <a:t>Image </a:t>
            </a:r>
            <a:r>
              <a:rPr dirty="0" sz="1700" spc="-10" b="1">
                <a:latin typeface="Times New Roman"/>
                <a:cs typeface="Times New Roman"/>
              </a:rPr>
              <a:t>Resizing:</a:t>
            </a:r>
            <a:endParaRPr sz="1700">
              <a:latin typeface="Times New Roman"/>
              <a:cs typeface="Times New Roman"/>
            </a:endParaRPr>
          </a:p>
          <a:p>
            <a:pPr lvl="2" marL="469900" marR="5080" indent="-359410">
              <a:lnSpc>
                <a:spcPct val="100000"/>
              </a:lnSpc>
              <a:spcBef>
                <a:spcPts val="1200"/>
              </a:spcBef>
              <a:buFont typeface="Tahoma"/>
              <a:buChar char="●"/>
              <a:tabLst>
                <a:tab pos="469900" algn="l"/>
              </a:tabLst>
            </a:pPr>
            <a:r>
              <a:rPr dirty="0" sz="1700">
                <a:latin typeface="Times New Roman"/>
                <a:cs typeface="Times New Roman"/>
              </a:rPr>
              <a:t>All</a:t>
            </a:r>
            <a:r>
              <a:rPr dirty="0" sz="1700" spc="-1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images</a:t>
            </a:r>
            <a:r>
              <a:rPr dirty="0" sz="1700" spc="-1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resized</a:t>
            </a:r>
            <a:r>
              <a:rPr dirty="0" sz="1700" spc="-1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to</a:t>
            </a:r>
            <a:r>
              <a:rPr dirty="0" sz="1700" spc="-1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224</a:t>
            </a:r>
            <a:r>
              <a:rPr dirty="0" sz="1700" spc="-1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×</a:t>
            </a:r>
            <a:r>
              <a:rPr dirty="0" sz="1700" spc="-1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224</a:t>
            </a:r>
            <a:r>
              <a:rPr dirty="0" sz="1700" spc="-1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pixels</a:t>
            </a:r>
            <a:r>
              <a:rPr dirty="0" sz="1700" spc="-1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to</a:t>
            </a:r>
            <a:r>
              <a:rPr dirty="0" sz="1700" spc="-1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match</a:t>
            </a:r>
            <a:r>
              <a:rPr dirty="0" sz="1700" spc="-1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the</a:t>
            </a:r>
            <a:r>
              <a:rPr dirty="0" sz="1700" spc="-1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input</a:t>
            </a:r>
            <a:r>
              <a:rPr dirty="0" sz="1700" spc="-1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dimensions</a:t>
            </a:r>
            <a:r>
              <a:rPr dirty="0" sz="1700" spc="-1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required</a:t>
            </a:r>
            <a:r>
              <a:rPr dirty="0" sz="1700" spc="-1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by</a:t>
            </a:r>
            <a:r>
              <a:rPr dirty="0" sz="1700" spc="-15">
                <a:latin typeface="Times New Roman"/>
                <a:cs typeface="Times New Roman"/>
              </a:rPr>
              <a:t> </a:t>
            </a:r>
            <a:r>
              <a:rPr dirty="0" sz="1700" spc="-10">
                <a:latin typeface="Times New Roman"/>
                <a:cs typeface="Times New Roman"/>
              </a:rPr>
              <a:t>EﬃcientNetV2-</a:t>
            </a:r>
            <a:r>
              <a:rPr dirty="0" sz="1700" spc="-25">
                <a:latin typeface="Times New Roman"/>
                <a:cs typeface="Times New Roman"/>
              </a:rPr>
              <a:t>S, </a:t>
            </a:r>
            <a:r>
              <a:rPr dirty="0" sz="1700">
                <a:latin typeface="Times New Roman"/>
                <a:cs typeface="Times New Roman"/>
              </a:rPr>
              <a:t>DenseNet121, and </a:t>
            </a:r>
            <a:r>
              <a:rPr dirty="0" sz="1700" spc="-10">
                <a:latin typeface="Times New Roman"/>
                <a:cs typeface="Times New Roman"/>
              </a:rPr>
              <a:t>InceptionV3.</a:t>
            </a:r>
            <a:endParaRPr sz="1700">
              <a:latin typeface="Times New Roman"/>
              <a:cs typeface="Times New Roman"/>
            </a:endParaRPr>
          </a:p>
          <a:p>
            <a:pPr marL="516255" indent="-503555">
              <a:lnSpc>
                <a:spcPct val="100000"/>
              </a:lnSpc>
              <a:spcBef>
                <a:spcPts val="1200"/>
              </a:spcBef>
              <a:buAutoNum type="arabicParenR" startAt="2"/>
              <a:tabLst>
                <a:tab pos="516255" algn="l"/>
              </a:tabLst>
            </a:pPr>
            <a:r>
              <a:rPr dirty="0" sz="1700" spc="-10" b="1">
                <a:latin typeface="Times New Roman"/>
                <a:cs typeface="Times New Roman"/>
              </a:rPr>
              <a:t>Normalization:</a:t>
            </a:r>
            <a:endParaRPr sz="1700">
              <a:latin typeface="Times New Roman"/>
              <a:cs typeface="Times New Roman"/>
            </a:endParaRPr>
          </a:p>
          <a:p>
            <a:pPr lvl="1" marL="469265" indent="-358775">
              <a:lnSpc>
                <a:spcPct val="100000"/>
              </a:lnSpc>
              <a:spcBef>
                <a:spcPts val="1200"/>
              </a:spcBef>
              <a:buFont typeface="Tahoma"/>
              <a:buChar char="●"/>
              <a:tabLst>
                <a:tab pos="469265" algn="l"/>
              </a:tabLst>
            </a:pPr>
            <a:r>
              <a:rPr dirty="0" sz="1700">
                <a:latin typeface="Times New Roman"/>
                <a:cs typeface="Times New Roman"/>
              </a:rPr>
              <a:t>Pixel</a:t>
            </a:r>
            <a:r>
              <a:rPr dirty="0" sz="1700" spc="-1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values</a:t>
            </a:r>
            <a:r>
              <a:rPr dirty="0" sz="1700" spc="-1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scaled</a:t>
            </a:r>
            <a:r>
              <a:rPr dirty="0" sz="1700" spc="-1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between</a:t>
            </a:r>
            <a:r>
              <a:rPr dirty="0" sz="1700" spc="-1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0</a:t>
            </a:r>
            <a:r>
              <a:rPr dirty="0" sz="1700" spc="-1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and</a:t>
            </a:r>
            <a:r>
              <a:rPr dirty="0" sz="1700" spc="-1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1</a:t>
            </a:r>
            <a:r>
              <a:rPr dirty="0" sz="1700" spc="-1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to</a:t>
            </a:r>
            <a:r>
              <a:rPr dirty="0" sz="1700" spc="-1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standardize</a:t>
            </a:r>
            <a:r>
              <a:rPr dirty="0" sz="1700" spc="-1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input</a:t>
            </a:r>
            <a:r>
              <a:rPr dirty="0" sz="1700" spc="-1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intensity</a:t>
            </a:r>
            <a:r>
              <a:rPr dirty="0" sz="1700" spc="-1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and</a:t>
            </a:r>
            <a:r>
              <a:rPr dirty="0" sz="1700" spc="-1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speed</a:t>
            </a:r>
            <a:r>
              <a:rPr dirty="0" sz="1700" spc="-1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up</a:t>
            </a:r>
            <a:r>
              <a:rPr dirty="0" sz="1700" spc="-15">
                <a:latin typeface="Times New Roman"/>
                <a:cs typeface="Times New Roman"/>
              </a:rPr>
              <a:t> </a:t>
            </a:r>
            <a:r>
              <a:rPr dirty="0" sz="1700" spc="-10">
                <a:latin typeface="Times New Roman"/>
                <a:cs typeface="Times New Roman"/>
              </a:rPr>
              <a:t>training.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4216202" y="6354983"/>
            <a:ext cx="829944" cy="19431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 sz="1200">
                <a:solidFill>
                  <a:srgbClr val="888888"/>
                </a:solidFill>
                <a:latin typeface="Times New Roman"/>
                <a:cs typeface="Times New Roman"/>
              </a:rPr>
              <a:t>Review</a:t>
            </a:r>
            <a:r>
              <a:rPr dirty="0" sz="1200" spc="-7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dirty="0" sz="1200" spc="-20">
                <a:solidFill>
                  <a:srgbClr val="888888"/>
                </a:solidFill>
                <a:latin typeface="Times New Roman"/>
                <a:cs typeface="Times New Roman"/>
              </a:rPr>
              <a:t>No.1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5248841" y="6354983"/>
            <a:ext cx="969644" cy="19431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 sz="1200">
                <a:solidFill>
                  <a:srgbClr val="888888"/>
                </a:solidFill>
                <a:latin typeface="Times New Roman"/>
                <a:cs typeface="Times New Roman"/>
              </a:rPr>
              <a:t>Batch</a:t>
            </a:r>
            <a:r>
              <a:rPr dirty="0" sz="1200" spc="-15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888888"/>
                </a:solidFill>
                <a:latin typeface="Times New Roman"/>
                <a:cs typeface="Times New Roman"/>
              </a:rPr>
              <a:t>No.</a:t>
            </a:r>
            <a:r>
              <a:rPr dirty="0" sz="1200" spc="-15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dirty="0" sz="1200" spc="-25">
                <a:solidFill>
                  <a:srgbClr val="888888"/>
                </a:solidFill>
                <a:latin typeface="Times New Roman"/>
                <a:cs typeface="Times New Roman"/>
              </a:rPr>
              <a:t>DB4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6573784" y="6354983"/>
            <a:ext cx="1226185" cy="19431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 sz="1200" spc="-10">
                <a:solidFill>
                  <a:srgbClr val="888888"/>
                </a:solidFill>
                <a:latin typeface="Times New Roman"/>
                <a:cs typeface="Times New Roman"/>
              </a:rPr>
              <a:t>Department</a:t>
            </a:r>
            <a:r>
              <a:rPr dirty="0" sz="1200" spc="-15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888888"/>
                </a:solidFill>
                <a:latin typeface="Times New Roman"/>
                <a:cs typeface="Times New Roman"/>
              </a:rPr>
              <a:t>of</a:t>
            </a:r>
            <a:r>
              <a:rPr dirty="0" sz="1200" spc="-5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dirty="0" sz="1200" spc="-25">
                <a:solidFill>
                  <a:srgbClr val="888888"/>
                </a:solidFill>
                <a:latin typeface="Times New Roman"/>
                <a:cs typeface="Times New Roman"/>
              </a:rPr>
              <a:t>CSE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11102975" y="6445270"/>
            <a:ext cx="177800" cy="19431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 sz="1200" spc="-25">
                <a:solidFill>
                  <a:srgbClr val="888888"/>
                </a:solidFill>
                <a:latin typeface="Times New Roman"/>
                <a:cs typeface="Times New Roman"/>
              </a:rPr>
              <a:t>13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596575" y="535382"/>
            <a:ext cx="2548890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METHODOLOGY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91362" y="837857"/>
            <a:ext cx="4933950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2.</a:t>
            </a:r>
            <a:r>
              <a:rPr dirty="0" spc="-25"/>
              <a:t> </a:t>
            </a:r>
            <a:r>
              <a:rPr dirty="0"/>
              <a:t>Model</a:t>
            </a:r>
            <a:r>
              <a:rPr dirty="0" spc="-25"/>
              <a:t> </a:t>
            </a:r>
            <a:r>
              <a:rPr dirty="0"/>
              <a:t>Selection</a:t>
            </a:r>
            <a:r>
              <a:rPr dirty="0" spc="-30"/>
              <a:t> </a:t>
            </a:r>
            <a:r>
              <a:rPr dirty="0"/>
              <a:t>and</a:t>
            </a:r>
            <a:r>
              <a:rPr dirty="0" spc="-25"/>
              <a:t> </a:t>
            </a:r>
            <a:r>
              <a:rPr dirty="0"/>
              <a:t>Development</a:t>
            </a:r>
            <a:r>
              <a:rPr dirty="0" spc="-20"/>
              <a:t> </a:t>
            </a:r>
            <a:r>
              <a:rPr dirty="0" spc="-50"/>
              <a:t>:</a:t>
            </a:r>
          </a:p>
        </p:txBody>
      </p:sp>
      <p:sp>
        <p:nvSpPr>
          <p:cNvPr id="4" name="object 4" descr=""/>
          <p:cNvSpPr txBox="1"/>
          <p:nvPr/>
        </p:nvSpPr>
        <p:spPr>
          <a:xfrm>
            <a:off x="4265327" y="6445258"/>
            <a:ext cx="906144" cy="19431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 sz="1200">
                <a:solidFill>
                  <a:srgbClr val="888888"/>
                </a:solidFill>
                <a:latin typeface="Times New Roman"/>
                <a:cs typeface="Times New Roman"/>
              </a:rPr>
              <a:t>Review</a:t>
            </a:r>
            <a:r>
              <a:rPr dirty="0" sz="1200" spc="-3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888888"/>
                </a:solidFill>
                <a:latin typeface="Times New Roman"/>
                <a:cs typeface="Times New Roman"/>
              </a:rPr>
              <a:t>No.</a:t>
            </a:r>
            <a:r>
              <a:rPr dirty="0" sz="1200" spc="26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dirty="0" sz="1200" spc="-50">
                <a:solidFill>
                  <a:srgbClr val="888888"/>
                </a:solidFill>
                <a:latin typeface="Times New Roman"/>
                <a:cs typeface="Times New Roman"/>
              </a:rPr>
              <a:t>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5" name="object 5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50800">
              <a:lnSpc>
                <a:spcPts val="1410"/>
              </a:lnSpc>
            </a:pPr>
            <a:r>
              <a:rPr dirty="0"/>
              <a:t>Batch</a:t>
            </a:r>
            <a:r>
              <a:rPr dirty="0" spc="-15"/>
              <a:t> </a:t>
            </a:r>
            <a:r>
              <a:rPr dirty="0"/>
              <a:t>No.</a:t>
            </a:r>
            <a:r>
              <a:rPr dirty="0" spc="-15"/>
              <a:t> </a:t>
            </a:r>
            <a:r>
              <a:rPr dirty="0" spc="-25"/>
              <a:t>DB4</a:t>
            </a:r>
          </a:p>
        </p:txBody>
      </p:sp>
      <p:sp>
        <p:nvSpPr>
          <p:cNvPr id="6" name="object 6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60325">
              <a:lnSpc>
                <a:spcPts val="1410"/>
              </a:lnSpc>
            </a:pPr>
            <a:r>
              <a:rPr dirty="0" spc="-10"/>
              <a:t>Department</a:t>
            </a:r>
            <a:r>
              <a:rPr dirty="0" spc="-15"/>
              <a:t> </a:t>
            </a:r>
            <a:r>
              <a:rPr dirty="0"/>
              <a:t>of</a:t>
            </a:r>
            <a:r>
              <a:rPr dirty="0" spc="-5"/>
              <a:t> </a:t>
            </a:r>
            <a:r>
              <a:rPr dirty="0" spc="-25"/>
              <a:t>CSE</a:t>
            </a:r>
          </a:p>
        </p:txBody>
      </p:sp>
      <p:sp>
        <p:nvSpPr>
          <p:cNvPr id="7" name="object 7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>
                <a:latin typeface="Calibri"/>
                <a:cs typeface="Calibri"/>
              </a:rPr>
              <a:t>14</a:t>
            </a:fld>
          </a:p>
        </p:txBody>
      </p:sp>
      <p:sp>
        <p:nvSpPr>
          <p:cNvPr id="3" name="object 3" descr=""/>
          <p:cNvSpPr txBox="1"/>
          <p:nvPr/>
        </p:nvSpPr>
        <p:spPr>
          <a:xfrm>
            <a:off x="870368" y="1400570"/>
            <a:ext cx="10015220" cy="4453890"/>
          </a:xfrm>
          <a:prstGeom prst="rect">
            <a:avLst/>
          </a:prstGeom>
        </p:spPr>
        <p:txBody>
          <a:bodyPr wrap="square" lIns="0" tIns="113664" rIns="0" bIns="0" rtlCol="0" vert="horz">
            <a:spAutoFit/>
          </a:bodyPr>
          <a:lstStyle/>
          <a:p>
            <a:pPr marL="268605" indent="-215265">
              <a:lnSpc>
                <a:spcPct val="100000"/>
              </a:lnSpc>
              <a:spcBef>
                <a:spcPts val="894"/>
              </a:spcBef>
              <a:buAutoNum type="arabicPeriod"/>
              <a:tabLst>
                <a:tab pos="268605" algn="l"/>
              </a:tabLst>
            </a:pPr>
            <a:r>
              <a:rPr dirty="0" sz="1700" b="1">
                <a:latin typeface="Times New Roman"/>
                <a:cs typeface="Times New Roman"/>
              </a:rPr>
              <a:t>EﬃcientNetV2-</a:t>
            </a:r>
            <a:r>
              <a:rPr dirty="0" sz="1700" spc="-50" b="1">
                <a:latin typeface="Times New Roman"/>
                <a:cs typeface="Times New Roman"/>
              </a:rPr>
              <a:t>S</a:t>
            </a:r>
            <a:endParaRPr sz="1700">
              <a:latin typeface="Times New Roman"/>
              <a:cs typeface="Times New Roman"/>
            </a:endParaRPr>
          </a:p>
          <a:p>
            <a:pPr lvl="1" marL="280670" indent="-229870">
              <a:lnSpc>
                <a:spcPct val="100000"/>
              </a:lnSpc>
              <a:spcBef>
                <a:spcPts val="795"/>
              </a:spcBef>
              <a:buFont typeface="Segoe UI Symbol"/>
              <a:buChar char="□"/>
              <a:tabLst>
                <a:tab pos="280670" algn="l"/>
              </a:tabLst>
            </a:pPr>
            <a:r>
              <a:rPr dirty="0" sz="1700">
                <a:latin typeface="Times New Roman"/>
                <a:cs typeface="Times New Roman"/>
              </a:rPr>
              <a:t>Purpose:</a:t>
            </a:r>
            <a:r>
              <a:rPr dirty="0" sz="1700" spc="-10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A</a:t>
            </a:r>
            <a:r>
              <a:rPr dirty="0" sz="1700" spc="-1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compact</a:t>
            </a:r>
            <a:r>
              <a:rPr dirty="0" sz="1700" spc="-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and</a:t>
            </a:r>
            <a:r>
              <a:rPr dirty="0" sz="1700" spc="-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eﬃcient</a:t>
            </a:r>
            <a:r>
              <a:rPr dirty="0" sz="1700" spc="-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CNN</a:t>
            </a:r>
            <a:r>
              <a:rPr dirty="0" sz="1700" spc="-1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architecture</a:t>
            </a:r>
            <a:r>
              <a:rPr dirty="0" sz="1700" spc="-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used</a:t>
            </a:r>
            <a:r>
              <a:rPr dirty="0" sz="1700" spc="-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for</a:t>
            </a:r>
            <a:r>
              <a:rPr dirty="0" sz="1700" spc="-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image</a:t>
            </a:r>
            <a:r>
              <a:rPr dirty="0" sz="1700" spc="-10">
                <a:latin typeface="Times New Roman"/>
                <a:cs typeface="Times New Roman"/>
              </a:rPr>
              <a:t> classification</a:t>
            </a:r>
            <a:r>
              <a:rPr dirty="0" sz="1700" spc="-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and</a:t>
            </a:r>
            <a:r>
              <a:rPr dirty="0" sz="1700" spc="-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transfer</a:t>
            </a:r>
            <a:r>
              <a:rPr dirty="0" sz="1700" spc="-5">
                <a:latin typeface="Times New Roman"/>
                <a:cs typeface="Times New Roman"/>
              </a:rPr>
              <a:t> </a:t>
            </a:r>
            <a:r>
              <a:rPr dirty="0" sz="1700" spc="-10">
                <a:latin typeface="Times New Roman"/>
                <a:cs typeface="Times New Roman"/>
              </a:rPr>
              <a:t>learning.</a:t>
            </a:r>
            <a:endParaRPr sz="1700">
              <a:latin typeface="Times New Roman"/>
              <a:cs typeface="Times New Roman"/>
            </a:endParaRPr>
          </a:p>
          <a:p>
            <a:pPr lvl="1" marL="280670" marR="504190" indent="-229870">
              <a:lnSpc>
                <a:spcPts val="1839"/>
              </a:lnSpc>
              <a:spcBef>
                <a:spcPts val="1025"/>
              </a:spcBef>
              <a:buFont typeface="Segoe UI Symbol"/>
              <a:buChar char="□"/>
              <a:tabLst>
                <a:tab pos="281940" algn="l"/>
              </a:tabLst>
            </a:pPr>
            <a:r>
              <a:rPr dirty="0" sz="1700">
                <a:latin typeface="Times New Roman"/>
                <a:cs typeface="Times New Roman"/>
              </a:rPr>
              <a:t>Strength:</a:t>
            </a:r>
            <a:r>
              <a:rPr dirty="0" sz="1700" spc="-2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Balances</a:t>
            </a:r>
            <a:r>
              <a:rPr dirty="0" sz="1700" spc="-2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accuracy</a:t>
            </a:r>
            <a:r>
              <a:rPr dirty="0" sz="1700" spc="-2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and</a:t>
            </a:r>
            <a:r>
              <a:rPr dirty="0" sz="1700" spc="-2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speed;</a:t>
            </a:r>
            <a:r>
              <a:rPr dirty="0" sz="1700" spc="-2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suitable</a:t>
            </a:r>
            <a:r>
              <a:rPr dirty="0" sz="1700" spc="-2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for</a:t>
            </a:r>
            <a:r>
              <a:rPr dirty="0" sz="1700" spc="-2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mobile</a:t>
            </a:r>
            <a:r>
              <a:rPr dirty="0" sz="1700" spc="-2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or</a:t>
            </a:r>
            <a:r>
              <a:rPr dirty="0" sz="1700" spc="-25">
                <a:latin typeface="Times New Roman"/>
                <a:cs typeface="Times New Roman"/>
              </a:rPr>
              <a:t> </a:t>
            </a:r>
            <a:r>
              <a:rPr dirty="0" sz="1700" spc="-20">
                <a:latin typeface="Times New Roman"/>
                <a:cs typeface="Times New Roman"/>
              </a:rPr>
              <a:t>low-</a:t>
            </a:r>
            <a:r>
              <a:rPr dirty="0" sz="1700">
                <a:latin typeface="Times New Roman"/>
                <a:cs typeface="Times New Roman"/>
              </a:rPr>
              <a:t>power</a:t>
            </a:r>
            <a:r>
              <a:rPr dirty="0" sz="1700" spc="-2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devices</a:t>
            </a:r>
            <a:r>
              <a:rPr dirty="0" sz="1700" spc="-2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while</a:t>
            </a:r>
            <a:r>
              <a:rPr dirty="0" sz="1700" spc="-2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maintaining</a:t>
            </a:r>
            <a:r>
              <a:rPr dirty="0" sz="1700" spc="-25">
                <a:latin typeface="Times New Roman"/>
                <a:cs typeface="Times New Roman"/>
              </a:rPr>
              <a:t> </a:t>
            </a:r>
            <a:r>
              <a:rPr dirty="0" sz="1700" spc="-10">
                <a:latin typeface="Times New Roman"/>
                <a:cs typeface="Times New Roman"/>
              </a:rPr>
              <a:t>strong 	performance.</a:t>
            </a:r>
            <a:endParaRPr sz="1700">
              <a:latin typeface="Times New Roman"/>
              <a:cs typeface="Times New Roman"/>
            </a:endParaRPr>
          </a:p>
          <a:p>
            <a:pPr lvl="1" marL="280670" indent="-229870">
              <a:lnSpc>
                <a:spcPct val="100000"/>
              </a:lnSpc>
              <a:spcBef>
                <a:spcPts val="765"/>
              </a:spcBef>
              <a:buFont typeface="Segoe UI Symbol"/>
              <a:buChar char="□"/>
              <a:tabLst>
                <a:tab pos="280670" algn="l"/>
              </a:tabLst>
            </a:pPr>
            <a:r>
              <a:rPr dirty="0" sz="1700">
                <a:latin typeface="Times New Roman"/>
                <a:cs typeface="Times New Roman"/>
              </a:rPr>
              <a:t>Training</a:t>
            </a:r>
            <a:r>
              <a:rPr dirty="0" sz="1700" spc="-2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Details:</a:t>
            </a:r>
            <a:r>
              <a:rPr dirty="0" sz="1700" spc="-2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Pretrained</a:t>
            </a:r>
            <a:r>
              <a:rPr dirty="0" sz="1700" spc="-2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on</a:t>
            </a:r>
            <a:r>
              <a:rPr dirty="0" sz="1700" spc="-2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ImageNet</a:t>
            </a:r>
            <a:r>
              <a:rPr dirty="0" sz="1700" spc="-2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and</a:t>
            </a:r>
            <a:r>
              <a:rPr dirty="0" sz="1700" spc="-20">
                <a:latin typeface="Times New Roman"/>
                <a:cs typeface="Times New Roman"/>
              </a:rPr>
              <a:t> fine-</a:t>
            </a:r>
            <a:r>
              <a:rPr dirty="0" sz="1700">
                <a:latin typeface="Times New Roman"/>
                <a:cs typeface="Times New Roman"/>
              </a:rPr>
              <a:t>tuned</a:t>
            </a:r>
            <a:r>
              <a:rPr dirty="0" sz="1700" spc="-2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on</a:t>
            </a:r>
            <a:r>
              <a:rPr dirty="0" sz="1700" spc="-2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Monkeypox</a:t>
            </a:r>
            <a:r>
              <a:rPr dirty="0" sz="1700" spc="-25">
                <a:latin typeface="Times New Roman"/>
                <a:cs typeface="Times New Roman"/>
              </a:rPr>
              <a:t> </a:t>
            </a:r>
            <a:r>
              <a:rPr dirty="0" sz="1700" spc="-10">
                <a:latin typeface="Times New Roman"/>
                <a:cs typeface="Times New Roman"/>
              </a:rPr>
              <a:t>dataset.</a:t>
            </a:r>
            <a:endParaRPr sz="1700">
              <a:latin typeface="Times New Roman"/>
              <a:cs typeface="Times New Roman"/>
            </a:endParaRPr>
          </a:p>
          <a:p>
            <a:pPr lvl="1" marL="280670" indent="-229870">
              <a:lnSpc>
                <a:spcPct val="100000"/>
              </a:lnSpc>
              <a:spcBef>
                <a:spcPts val="795"/>
              </a:spcBef>
              <a:buFont typeface="Segoe UI Symbol"/>
              <a:buChar char="□"/>
              <a:tabLst>
                <a:tab pos="280670" algn="l"/>
              </a:tabLst>
            </a:pPr>
            <a:r>
              <a:rPr dirty="0" sz="1700" spc="-10">
                <a:latin typeface="Times New Roman"/>
                <a:cs typeface="Times New Roman"/>
              </a:rPr>
              <a:t>Result:</a:t>
            </a:r>
            <a:r>
              <a:rPr dirty="0" sz="1700" spc="-10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Achieved</a:t>
            </a:r>
            <a:r>
              <a:rPr dirty="0" sz="1700" spc="-2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80.0</a:t>
            </a:r>
            <a:r>
              <a:rPr dirty="0" sz="1700" spc="-1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%</a:t>
            </a:r>
            <a:r>
              <a:rPr dirty="0" sz="1700" spc="-15">
                <a:latin typeface="Times New Roman"/>
                <a:cs typeface="Times New Roman"/>
              </a:rPr>
              <a:t> </a:t>
            </a:r>
            <a:r>
              <a:rPr dirty="0" sz="1700" spc="-10">
                <a:latin typeface="Times New Roman"/>
                <a:cs typeface="Times New Roman"/>
              </a:rPr>
              <a:t>accuracy, </a:t>
            </a:r>
            <a:r>
              <a:rPr dirty="0" sz="1700">
                <a:latin typeface="Times New Roman"/>
                <a:cs typeface="Times New Roman"/>
              </a:rPr>
              <a:t>0.81</a:t>
            </a:r>
            <a:r>
              <a:rPr dirty="0" sz="1700" spc="-1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F1-score</a:t>
            </a:r>
            <a:r>
              <a:rPr dirty="0" sz="1700" spc="-1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—</a:t>
            </a:r>
            <a:r>
              <a:rPr dirty="0" sz="1700" spc="-15">
                <a:latin typeface="Times New Roman"/>
                <a:cs typeface="Times New Roman"/>
              </a:rPr>
              <a:t> </a:t>
            </a:r>
            <a:r>
              <a:rPr dirty="0" sz="1700" spc="-10">
                <a:latin typeface="Times New Roman"/>
                <a:cs typeface="Times New Roman"/>
              </a:rPr>
              <a:t>lightweight </a:t>
            </a:r>
            <a:r>
              <a:rPr dirty="0" sz="1700">
                <a:latin typeface="Times New Roman"/>
                <a:cs typeface="Times New Roman"/>
              </a:rPr>
              <a:t>and</a:t>
            </a:r>
            <a:r>
              <a:rPr dirty="0" sz="1700" spc="-1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ideal</a:t>
            </a:r>
            <a:r>
              <a:rPr dirty="0" sz="1700" spc="-1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for</a:t>
            </a:r>
            <a:r>
              <a:rPr dirty="0" sz="1700" spc="-1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mobile</a:t>
            </a:r>
            <a:r>
              <a:rPr dirty="0" sz="1700" spc="-10">
                <a:latin typeface="Times New Roman"/>
                <a:cs typeface="Times New Roman"/>
              </a:rPr>
              <a:t> deployment.</a:t>
            </a:r>
            <a:endParaRPr sz="17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675"/>
              </a:spcBef>
            </a:pPr>
            <a:endParaRPr sz="1700">
              <a:latin typeface="Times New Roman"/>
              <a:cs typeface="Times New Roman"/>
            </a:endParaRPr>
          </a:p>
          <a:p>
            <a:pPr marL="269240" indent="-215900">
              <a:lnSpc>
                <a:spcPct val="100000"/>
              </a:lnSpc>
              <a:buAutoNum type="arabicPeriod" startAt="2"/>
              <a:tabLst>
                <a:tab pos="269240" algn="l"/>
              </a:tabLst>
            </a:pPr>
            <a:r>
              <a:rPr dirty="0" sz="1700" spc="-10" b="1">
                <a:latin typeface="Times New Roman"/>
                <a:cs typeface="Times New Roman"/>
              </a:rPr>
              <a:t>DenseNet121</a:t>
            </a:r>
            <a:endParaRPr sz="1700">
              <a:latin typeface="Times New Roman"/>
              <a:cs typeface="Times New Roman"/>
            </a:endParaRPr>
          </a:p>
          <a:p>
            <a:pPr marL="281940" marR="5080" indent="-238125">
              <a:lnSpc>
                <a:spcPts val="1839"/>
              </a:lnSpc>
              <a:spcBef>
                <a:spcPts val="1025"/>
              </a:spcBef>
            </a:pPr>
            <a:r>
              <a:rPr dirty="0" sz="1700" spc="-680" b="1">
                <a:latin typeface="Yu Gothic UI"/>
                <a:cs typeface="Yu Gothic UI"/>
              </a:rPr>
              <a:t>□</a:t>
            </a:r>
            <a:r>
              <a:rPr dirty="0" sz="1700" spc="375" b="1">
                <a:latin typeface="Yu Gothic UI"/>
                <a:cs typeface="Yu Gothic UI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Purpose:</a:t>
            </a:r>
            <a:r>
              <a:rPr dirty="0" sz="1700" spc="-11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A</a:t>
            </a:r>
            <a:r>
              <a:rPr dirty="0" sz="1700" spc="-5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densely</a:t>
            </a:r>
            <a:r>
              <a:rPr dirty="0" sz="1700" spc="-2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connected</a:t>
            </a:r>
            <a:r>
              <a:rPr dirty="0" sz="1700" spc="-2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CNN</a:t>
            </a:r>
            <a:r>
              <a:rPr dirty="0" sz="1700" spc="-1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where</a:t>
            </a:r>
            <a:r>
              <a:rPr dirty="0" sz="1700" spc="-2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each</a:t>
            </a:r>
            <a:r>
              <a:rPr dirty="0" sz="1700" spc="-2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layer</a:t>
            </a:r>
            <a:r>
              <a:rPr dirty="0" sz="1700" spc="-1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receives</a:t>
            </a:r>
            <a:r>
              <a:rPr dirty="0" sz="1700" spc="-2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inputs</a:t>
            </a:r>
            <a:r>
              <a:rPr dirty="0" sz="1700" spc="-2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from</a:t>
            </a:r>
            <a:r>
              <a:rPr dirty="0" sz="1700" spc="-2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all</a:t>
            </a:r>
            <a:r>
              <a:rPr dirty="0" sz="1700" spc="-1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previous</a:t>
            </a:r>
            <a:r>
              <a:rPr dirty="0" sz="1700" spc="-2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layers,</a:t>
            </a:r>
            <a:r>
              <a:rPr dirty="0" sz="1700" spc="-2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promoting</a:t>
            </a:r>
            <a:r>
              <a:rPr dirty="0" sz="1700" spc="-15">
                <a:latin typeface="Times New Roman"/>
                <a:cs typeface="Times New Roman"/>
              </a:rPr>
              <a:t> </a:t>
            </a:r>
            <a:r>
              <a:rPr dirty="0" sz="1700" spc="-10">
                <a:latin typeface="Times New Roman"/>
                <a:cs typeface="Times New Roman"/>
              </a:rPr>
              <a:t>feature reuse.</a:t>
            </a:r>
            <a:endParaRPr sz="1700">
              <a:latin typeface="Times New Roman"/>
              <a:cs typeface="Times New Roman"/>
            </a:endParaRPr>
          </a:p>
          <a:p>
            <a:pPr lvl="1" marL="281305" indent="-268605">
              <a:lnSpc>
                <a:spcPct val="100000"/>
              </a:lnSpc>
              <a:spcBef>
                <a:spcPts val="765"/>
              </a:spcBef>
              <a:buChar char="□"/>
              <a:tabLst>
                <a:tab pos="281305" algn="l"/>
              </a:tabLst>
            </a:pPr>
            <a:r>
              <a:rPr dirty="0" sz="1700">
                <a:latin typeface="Times New Roman"/>
                <a:cs typeface="Times New Roman"/>
              </a:rPr>
              <a:t>Strength:</a:t>
            </a:r>
            <a:r>
              <a:rPr dirty="0" sz="1700" spc="-3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Excellent</a:t>
            </a:r>
            <a:r>
              <a:rPr dirty="0" sz="1700" spc="-3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feature</a:t>
            </a:r>
            <a:r>
              <a:rPr dirty="0" sz="1700" spc="-3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extraction</a:t>
            </a:r>
            <a:r>
              <a:rPr dirty="0" sz="1700" spc="-3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and</a:t>
            </a:r>
            <a:r>
              <a:rPr dirty="0" sz="1700" spc="-2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gradient</a:t>
            </a:r>
            <a:r>
              <a:rPr dirty="0" sz="1700" spc="-30">
                <a:latin typeface="Times New Roman"/>
                <a:cs typeface="Times New Roman"/>
              </a:rPr>
              <a:t> </a:t>
            </a:r>
            <a:r>
              <a:rPr dirty="0" sz="1700" spc="-35">
                <a:latin typeface="Times New Roman"/>
                <a:cs typeface="Times New Roman"/>
              </a:rPr>
              <a:t>flow,</a:t>
            </a:r>
            <a:r>
              <a:rPr dirty="0" sz="1700" spc="-3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prevents</a:t>
            </a:r>
            <a:r>
              <a:rPr dirty="0" sz="1700" spc="-3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vanishing</a:t>
            </a:r>
            <a:r>
              <a:rPr dirty="0" sz="1700" spc="-3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gradients</a:t>
            </a:r>
            <a:r>
              <a:rPr dirty="0" sz="1700" spc="-2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in</a:t>
            </a:r>
            <a:r>
              <a:rPr dirty="0" sz="1700" spc="-3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deep</a:t>
            </a:r>
            <a:r>
              <a:rPr dirty="0" sz="1700" spc="-30">
                <a:latin typeface="Times New Roman"/>
                <a:cs typeface="Times New Roman"/>
              </a:rPr>
              <a:t> </a:t>
            </a:r>
            <a:r>
              <a:rPr dirty="0" sz="1700" spc="-10">
                <a:latin typeface="Times New Roman"/>
                <a:cs typeface="Times New Roman"/>
              </a:rPr>
              <a:t>networks.</a:t>
            </a:r>
            <a:endParaRPr sz="1700">
              <a:latin typeface="Times New Roman"/>
              <a:cs typeface="Times New Roman"/>
            </a:endParaRPr>
          </a:p>
          <a:p>
            <a:pPr lvl="1" marL="281305" indent="-268605">
              <a:lnSpc>
                <a:spcPct val="100000"/>
              </a:lnSpc>
              <a:spcBef>
                <a:spcPts val="795"/>
              </a:spcBef>
              <a:buChar char="□"/>
              <a:tabLst>
                <a:tab pos="281305" algn="l"/>
              </a:tabLst>
            </a:pPr>
            <a:r>
              <a:rPr dirty="0" sz="1700">
                <a:latin typeface="Times New Roman"/>
                <a:cs typeface="Times New Roman"/>
              </a:rPr>
              <a:t>Training</a:t>
            </a:r>
            <a:r>
              <a:rPr dirty="0" sz="1700" spc="-1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Details:</a:t>
            </a:r>
            <a:r>
              <a:rPr dirty="0" sz="1700" spc="-1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Fine-tuned</a:t>
            </a:r>
            <a:r>
              <a:rPr dirty="0" sz="1700" spc="-1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with</a:t>
            </a:r>
            <a:r>
              <a:rPr dirty="0" sz="1700" spc="-1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transfer</a:t>
            </a:r>
            <a:r>
              <a:rPr dirty="0" sz="1700" spc="-1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learning</a:t>
            </a:r>
            <a:r>
              <a:rPr dirty="0" sz="1700" spc="-1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using</a:t>
            </a:r>
            <a:r>
              <a:rPr dirty="0" sz="1700" spc="-1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same</a:t>
            </a:r>
            <a:r>
              <a:rPr dirty="0" sz="1700" spc="-1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preprocessing</a:t>
            </a:r>
            <a:r>
              <a:rPr dirty="0" sz="1700" spc="-15">
                <a:latin typeface="Times New Roman"/>
                <a:cs typeface="Times New Roman"/>
              </a:rPr>
              <a:t> </a:t>
            </a:r>
            <a:r>
              <a:rPr dirty="0" sz="1700" spc="-10">
                <a:latin typeface="Times New Roman"/>
                <a:cs typeface="Times New Roman"/>
              </a:rPr>
              <a:t>pipeline.</a:t>
            </a:r>
            <a:endParaRPr sz="1700">
              <a:latin typeface="Times New Roman"/>
              <a:cs typeface="Times New Roman"/>
            </a:endParaRPr>
          </a:p>
          <a:p>
            <a:pPr lvl="1" marL="281305" indent="-268605">
              <a:lnSpc>
                <a:spcPct val="100000"/>
              </a:lnSpc>
              <a:spcBef>
                <a:spcPts val="795"/>
              </a:spcBef>
              <a:buChar char="□"/>
              <a:tabLst>
                <a:tab pos="281305" algn="l"/>
              </a:tabLst>
            </a:pPr>
            <a:r>
              <a:rPr dirty="0" sz="1700" spc="-10">
                <a:latin typeface="Times New Roman"/>
                <a:cs typeface="Times New Roman"/>
              </a:rPr>
              <a:t>Result:</a:t>
            </a:r>
            <a:r>
              <a:rPr dirty="0" sz="1700" spc="-10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Achieved</a:t>
            </a:r>
            <a:r>
              <a:rPr dirty="0" sz="1700" spc="-2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93.0</a:t>
            </a:r>
            <a:r>
              <a:rPr dirty="0" sz="1700" spc="-1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%</a:t>
            </a:r>
            <a:r>
              <a:rPr dirty="0" sz="1700" spc="-15">
                <a:latin typeface="Times New Roman"/>
                <a:cs typeface="Times New Roman"/>
              </a:rPr>
              <a:t> </a:t>
            </a:r>
            <a:r>
              <a:rPr dirty="0" sz="1700" spc="-10">
                <a:latin typeface="Times New Roman"/>
                <a:cs typeface="Times New Roman"/>
              </a:rPr>
              <a:t>accuracy, </a:t>
            </a:r>
            <a:r>
              <a:rPr dirty="0" sz="1700">
                <a:latin typeface="Times New Roman"/>
                <a:cs typeface="Times New Roman"/>
              </a:rPr>
              <a:t>0.93</a:t>
            </a:r>
            <a:r>
              <a:rPr dirty="0" sz="1700" spc="-1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F1-score</a:t>
            </a:r>
            <a:r>
              <a:rPr dirty="0" sz="1700" spc="-1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—</a:t>
            </a:r>
            <a:r>
              <a:rPr dirty="0" sz="1700" spc="-1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highly</a:t>
            </a:r>
            <a:r>
              <a:rPr dirty="0" sz="1700" spc="-1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reliable</a:t>
            </a:r>
            <a:r>
              <a:rPr dirty="0" sz="1700" spc="-1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model</a:t>
            </a:r>
            <a:r>
              <a:rPr dirty="0" sz="1700" spc="-1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for</a:t>
            </a:r>
            <a:r>
              <a:rPr dirty="0" sz="1700" spc="-10">
                <a:latin typeface="Times New Roman"/>
                <a:cs typeface="Times New Roman"/>
              </a:rPr>
              <a:t> clinical-</a:t>
            </a:r>
            <a:r>
              <a:rPr dirty="0" sz="1700">
                <a:latin typeface="Times New Roman"/>
                <a:cs typeface="Times New Roman"/>
              </a:rPr>
              <a:t>grade</a:t>
            </a:r>
            <a:r>
              <a:rPr dirty="0" sz="1700" spc="-15">
                <a:latin typeface="Times New Roman"/>
                <a:cs typeface="Times New Roman"/>
              </a:rPr>
              <a:t> </a:t>
            </a:r>
            <a:r>
              <a:rPr dirty="0" sz="1700" spc="-10">
                <a:latin typeface="Times New Roman"/>
                <a:cs typeface="Times New Roman"/>
              </a:rPr>
              <a:t>detection.</a:t>
            </a:r>
            <a:endParaRPr sz="17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911225" y="1202414"/>
            <a:ext cx="9701530" cy="1826260"/>
          </a:xfrm>
          <a:prstGeom prst="rect">
            <a:avLst/>
          </a:prstGeom>
        </p:spPr>
        <p:txBody>
          <a:bodyPr wrap="square" lIns="0" tIns="113664" rIns="0" bIns="0" rtlCol="0" vert="horz">
            <a:spAutoFit/>
          </a:bodyPr>
          <a:lstStyle/>
          <a:p>
            <a:pPr marL="228600" indent="-215900">
              <a:lnSpc>
                <a:spcPct val="100000"/>
              </a:lnSpc>
              <a:spcBef>
                <a:spcPts val="894"/>
              </a:spcBef>
              <a:buAutoNum type="arabicPeriod" startAt="3"/>
              <a:tabLst>
                <a:tab pos="228600" algn="l"/>
              </a:tabLst>
            </a:pPr>
            <a:r>
              <a:rPr dirty="0" sz="1700" spc="-10" b="1">
                <a:latin typeface="Times New Roman"/>
                <a:cs typeface="Times New Roman"/>
              </a:rPr>
              <a:t>InceptionV3</a:t>
            </a:r>
            <a:endParaRPr sz="1700">
              <a:latin typeface="Times New Roman"/>
              <a:cs typeface="Times New Roman"/>
            </a:endParaRPr>
          </a:p>
          <a:p>
            <a:pPr lvl="1" marL="469265" indent="-357505">
              <a:lnSpc>
                <a:spcPct val="100000"/>
              </a:lnSpc>
              <a:spcBef>
                <a:spcPts val="795"/>
              </a:spcBef>
              <a:buFont typeface="Segoe UI Symbol"/>
              <a:buChar char="□"/>
              <a:tabLst>
                <a:tab pos="469265" algn="l"/>
              </a:tabLst>
            </a:pPr>
            <a:r>
              <a:rPr dirty="0" sz="1700">
                <a:latin typeface="Times New Roman"/>
                <a:cs typeface="Times New Roman"/>
              </a:rPr>
              <a:t>Purpose:</a:t>
            </a:r>
            <a:r>
              <a:rPr dirty="0" sz="1700" spc="-10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A</a:t>
            </a:r>
            <a:r>
              <a:rPr dirty="0" sz="1700" spc="-1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deep</a:t>
            </a:r>
            <a:r>
              <a:rPr dirty="0" sz="1700" spc="-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CNN</a:t>
            </a:r>
            <a:r>
              <a:rPr dirty="0" sz="1700" spc="-1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model</a:t>
            </a:r>
            <a:r>
              <a:rPr dirty="0" sz="1700" spc="-1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optimized</a:t>
            </a:r>
            <a:r>
              <a:rPr dirty="0" sz="1700" spc="-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for</a:t>
            </a:r>
            <a:r>
              <a:rPr dirty="0" sz="1700" spc="-1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multi-scale</a:t>
            </a:r>
            <a:r>
              <a:rPr dirty="0" sz="1700" spc="-1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feature</a:t>
            </a:r>
            <a:r>
              <a:rPr dirty="0" sz="1700" spc="-1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extraction</a:t>
            </a:r>
            <a:r>
              <a:rPr dirty="0" sz="1700" spc="-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using</a:t>
            </a:r>
            <a:r>
              <a:rPr dirty="0" sz="1700" spc="-1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parallel</a:t>
            </a:r>
            <a:r>
              <a:rPr dirty="0" sz="1700" spc="-10">
                <a:latin typeface="Times New Roman"/>
                <a:cs typeface="Times New Roman"/>
              </a:rPr>
              <a:t> convolution filters.</a:t>
            </a:r>
            <a:endParaRPr sz="1700">
              <a:latin typeface="Times New Roman"/>
              <a:cs typeface="Times New Roman"/>
            </a:endParaRPr>
          </a:p>
          <a:p>
            <a:pPr lvl="1" marL="469265" indent="-357505">
              <a:lnSpc>
                <a:spcPct val="100000"/>
              </a:lnSpc>
              <a:spcBef>
                <a:spcPts val="795"/>
              </a:spcBef>
              <a:buFont typeface="Segoe UI Symbol"/>
              <a:buChar char="□"/>
              <a:tabLst>
                <a:tab pos="469265" algn="l"/>
              </a:tabLst>
            </a:pPr>
            <a:r>
              <a:rPr dirty="0" sz="1700">
                <a:latin typeface="Times New Roman"/>
                <a:cs typeface="Times New Roman"/>
              </a:rPr>
              <a:t>Strength:</a:t>
            </a:r>
            <a:r>
              <a:rPr dirty="0" sz="1700" spc="-2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Captures</a:t>
            </a:r>
            <a:r>
              <a:rPr dirty="0" sz="1700" spc="-2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both</a:t>
            </a:r>
            <a:r>
              <a:rPr dirty="0" sz="1700" spc="-2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fine</a:t>
            </a:r>
            <a:r>
              <a:rPr dirty="0" sz="1700" spc="-2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and</a:t>
            </a:r>
            <a:r>
              <a:rPr dirty="0" sz="1700" spc="-2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coarse</a:t>
            </a:r>
            <a:r>
              <a:rPr dirty="0" sz="1700" spc="-2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lesion</a:t>
            </a:r>
            <a:r>
              <a:rPr dirty="0" sz="1700" spc="-2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features;</a:t>
            </a:r>
            <a:r>
              <a:rPr dirty="0" sz="1700" spc="-2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strong</a:t>
            </a:r>
            <a:r>
              <a:rPr dirty="0" sz="1700" spc="-2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generalization</a:t>
            </a:r>
            <a:r>
              <a:rPr dirty="0" sz="1700" spc="-2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on</a:t>
            </a:r>
            <a:r>
              <a:rPr dirty="0" sz="1700" spc="-2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unseen</a:t>
            </a:r>
            <a:r>
              <a:rPr dirty="0" sz="1700" spc="-20">
                <a:latin typeface="Times New Roman"/>
                <a:cs typeface="Times New Roman"/>
              </a:rPr>
              <a:t> </a:t>
            </a:r>
            <a:r>
              <a:rPr dirty="0" sz="1700" spc="-10">
                <a:latin typeface="Times New Roman"/>
                <a:cs typeface="Times New Roman"/>
              </a:rPr>
              <a:t>data.</a:t>
            </a:r>
            <a:endParaRPr sz="1700">
              <a:latin typeface="Times New Roman"/>
              <a:cs typeface="Times New Roman"/>
            </a:endParaRPr>
          </a:p>
          <a:p>
            <a:pPr lvl="1" marL="469265" indent="-357505">
              <a:lnSpc>
                <a:spcPct val="100000"/>
              </a:lnSpc>
              <a:spcBef>
                <a:spcPts val="795"/>
              </a:spcBef>
              <a:buFont typeface="Segoe UI Symbol"/>
              <a:buChar char="□"/>
              <a:tabLst>
                <a:tab pos="469265" algn="l"/>
              </a:tabLst>
            </a:pPr>
            <a:r>
              <a:rPr dirty="0" sz="1700">
                <a:latin typeface="Times New Roman"/>
                <a:cs typeface="Times New Roman"/>
              </a:rPr>
              <a:t>Training</a:t>
            </a:r>
            <a:r>
              <a:rPr dirty="0" sz="1700" spc="-4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Details:</a:t>
            </a:r>
            <a:r>
              <a:rPr dirty="0" sz="1700" spc="-7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Transfer</a:t>
            </a:r>
            <a:r>
              <a:rPr dirty="0" sz="1700" spc="-3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learning</a:t>
            </a:r>
            <a:r>
              <a:rPr dirty="0" sz="1700" spc="-3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with</a:t>
            </a:r>
            <a:r>
              <a:rPr dirty="0" sz="1700" spc="-40">
                <a:latin typeface="Times New Roman"/>
                <a:cs typeface="Times New Roman"/>
              </a:rPr>
              <a:t> </a:t>
            </a:r>
            <a:r>
              <a:rPr dirty="0" sz="1700" spc="-20">
                <a:latin typeface="Times New Roman"/>
                <a:cs typeface="Times New Roman"/>
              </a:rPr>
              <a:t>fine-</a:t>
            </a:r>
            <a:r>
              <a:rPr dirty="0" sz="1700">
                <a:latin typeface="Times New Roman"/>
                <a:cs typeface="Times New Roman"/>
              </a:rPr>
              <a:t>tuning</a:t>
            </a:r>
            <a:r>
              <a:rPr dirty="0" sz="1700" spc="-3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on</a:t>
            </a:r>
            <a:r>
              <a:rPr dirty="0" sz="1700" spc="-3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Monkeypox</a:t>
            </a:r>
            <a:r>
              <a:rPr dirty="0" sz="1700" spc="-40">
                <a:latin typeface="Times New Roman"/>
                <a:cs typeface="Times New Roman"/>
              </a:rPr>
              <a:t> </a:t>
            </a:r>
            <a:r>
              <a:rPr dirty="0" sz="1700" spc="-10">
                <a:latin typeface="Times New Roman"/>
                <a:cs typeface="Times New Roman"/>
              </a:rPr>
              <a:t>dataset.</a:t>
            </a:r>
            <a:endParaRPr sz="1700">
              <a:latin typeface="Times New Roman"/>
              <a:cs typeface="Times New Roman"/>
            </a:endParaRPr>
          </a:p>
          <a:p>
            <a:pPr lvl="1" marL="469265" indent="-357505">
              <a:lnSpc>
                <a:spcPct val="100000"/>
              </a:lnSpc>
              <a:spcBef>
                <a:spcPts val="800"/>
              </a:spcBef>
              <a:buFont typeface="Segoe UI Symbol"/>
              <a:buChar char="□"/>
              <a:tabLst>
                <a:tab pos="469265" algn="l"/>
              </a:tabLst>
            </a:pPr>
            <a:r>
              <a:rPr dirty="0" sz="1700" spc="-10">
                <a:latin typeface="Times New Roman"/>
                <a:cs typeface="Times New Roman"/>
              </a:rPr>
              <a:t>Result:</a:t>
            </a:r>
            <a:r>
              <a:rPr dirty="0" sz="1700" spc="-11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Achieved</a:t>
            </a:r>
            <a:r>
              <a:rPr dirty="0" sz="1700" spc="-2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95.0</a:t>
            </a:r>
            <a:r>
              <a:rPr dirty="0" sz="1700" spc="-2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%</a:t>
            </a:r>
            <a:r>
              <a:rPr dirty="0" sz="1700" spc="-15">
                <a:latin typeface="Times New Roman"/>
                <a:cs typeface="Times New Roman"/>
              </a:rPr>
              <a:t> </a:t>
            </a:r>
            <a:r>
              <a:rPr dirty="0" sz="1700" spc="-10">
                <a:latin typeface="Times New Roman"/>
                <a:cs typeface="Times New Roman"/>
              </a:rPr>
              <a:t>accuracy,</a:t>
            </a:r>
            <a:r>
              <a:rPr dirty="0" sz="1700" spc="-1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0.95</a:t>
            </a:r>
            <a:r>
              <a:rPr dirty="0" sz="1700" spc="-1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F1-score</a:t>
            </a:r>
            <a:r>
              <a:rPr dirty="0" sz="1700" spc="-2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—</a:t>
            </a:r>
            <a:r>
              <a:rPr dirty="0" sz="1700" spc="-1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top</a:t>
            </a:r>
            <a:r>
              <a:rPr dirty="0" sz="1700" spc="-1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performer</a:t>
            </a:r>
            <a:r>
              <a:rPr dirty="0" sz="1700" spc="-2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among</a:t>
            </a:r>
            <a:r>
              <a:rPr dirty="0" sz="1700" spc="-1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all</a:t>
            </a:r>
            <a:r>
              <a:rPr dirty="0" sz="1700" spc="-1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evaluated</a:t>
            </a:r>
            <a:r>
              <a:rPr dirty="0" sz="1700" spc="-15">
                <a:latin typeface="Times New Roman"/>
                <a:cs typeface="Times New Roman"/>
              </a:rPr>
              <a:t> </a:t>
            </a:r>
            <a:r>
              <a:rPr dirty="0" sz="1700" spc="-10">
                <a:latin typeface="Times New Roman"/>
                <a:cs typeface="Times New Roman"/>
              </a:rPr>
              <a:t>architectures.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4265327" y="6445258"/>
            <a:ext cx="906144" cy="19431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 sz="1200">
                <a:solidFill>
                  <a:srgbClr val="888888"/>
                </a:solidFill>
                <a:latin typeface="Times New Roman"/>
                <a:cs typeface="Times New Roman"/>
              </a:rPr>
              <a:t>Review</a:t>
            </a:r>
            <a:r>
              <a:rPr dirty="0" sz="1200" spc="-3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888888"/>
                </a:solidFill>
                <a:latin typeface="Times New Roman"/>
                <a:cs typeface="Times New Roman"/>
              </a:rPr>
              <a:t>No.</a:t>
            </a:r>
            <a:r>
              <a:rPr dirty="0" sz="1200" spc="26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dirty="0" sz="1200" spc="-50">
                <a:solidFill>
                  <a:srgbClr val="888888"/>
                </a:solidFill>
                <a:latin typeface="Times New Roman"/>
                <a:cs typeface="Times New Roman"/>
              </a:rPr>
              <a:t>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50800">
              <a:lnSpc>
                <a:spcPts val="1410"/>
              </a:lnSpc>
            </a:pPr>
            <a:r>
              <a:rPr dirty="0"/>
              <a:t>Batch</a:t>
            </a:r>
            <a:r>
              <a:rPr dirty="0" spc="-15"/>
              <a:t> </a:t>
            </a:r>
            <a:r>
              <a:rPr dirty="0"/>
              <a:t>No.</a:t>
            </a:r>
            <a:r>
              <a:rPr dirty="0" spc="-15"/>
              <a:t> </a:t>
            </a:r>
            <a:r>
              <a:rPr dirty="0" spc="-25"/>
              <a:t>DB4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60325">
              <a:lnSpc>
                <a:spcPts val="1410"/>
              </a:lnSpc>
            </a:pPr>
            <a:r>
              <a:rPr dirty="0" spc="-10"/>
              <a:t>Department</a:t>
            </a:r>
            <a:r>
              <a:rPr dirty="0" spc="-15"/>
              <a:t> </a:t>
            </a:r>
            <a:r>
              <a:rPr dirty="0"/>
              <a:t>of</a:t>
            </a:r>
            <a:r>
              <a:rPr dirty="0" spc="-5"/>
              <a:t> </a:t>
            </a:r>
            <a:r>
              <a:rPr dirty="0" spc="-25"/>
              <a:t>CSE</a:t>
            </a:r>
          </a:p>
        </p:txBody>
      </p:sp>
      <p:sp>
        <p:nvSpPr>
          <p:cNvPr id="6" name="object 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>
                <a:latin typeface="Calibri"/>
                <a:cs typeface="Calibri"/>
              </a:rPr>
              <a:t>14</a:t>
            </a:fld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16799" y="775380"/>
            <a:ext cx="3023235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3.</a:t>
            </a:r>
            <a:r>
              <a:rPr dirty="0" spc="-50"/>
              <a:t> </a:t>
            </a:r>
            <a:r>
              <a:rPr dirty="0"/>
              <a:t>Classification</a:t>
            </a:r>
            <a:r>
              <a:rPr dirty="0" spc="-45"/>
              <a:t> </a:t>
            </a:r>
            <a:r>
              <a:rPr dirty="0"/>
              <a:t>Head</a:t>
            </a:r>
            <a:r>
              <a:rPr dirty="0" spc="-45"/>
              <a:t> </a:t>
            </a:r>
            <a:r>
              <a:rPr dirty="0" spc="-50"/>
              <a:t>: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823999" y="1290451"/>
            <a:ext cx="4575175" cy="4617720"/>
          </a:xfrm>
          <a:prstGeom prst="rect">
            <a:avLst/>
          </a:prstGeom>
        </p:spPr>
        <p:txBody>
          <a:bodyPr wrap="square" lIns="0" tIns="165100" rIns="0" bIns="0" rtlCol="0" vert="horz">
            <a:spAutoFit/>
          </a:bodyPr>
          <a:lstStyle/>
          <a:p>
            <a:pPr marL="215900" indent="-203200">
              <a:lnSpc>
                <a:spcPct val="100000"/>
              </a:lnSpc>
              <a:spcBef>
                <a:spcPts val="1300"/>
              </a:spcBef>
              <a:buAutoNum type="arabicPeriod"/>
              <a:tabLst>
                <a:tab pos="215900" algn="l"/>
              </a:tabLst>
            </a:pPr>
            <a:r>
              <a:rPr dirty="0" sz="1700" spc="-10" b="1">
                <a:latin typeface="Times New Roman"/>
                <a:cs typeface="Times New Roman"/>
              </a:rPr>
              <a:t>AveragePooling2D</a:t>
            </a:r>
            <a:endParaRPr sz="1700">
              <a:latin typeface="Times New Roman"/>
              <a:cs typeface="Times New Roman"/>
            </a:endParaRPr>
          </a:p>
          <a:p>
            <a:pPr lvl="1" marL="469265" indent="-358775">
              <a:lnSpc>
                <a:spcPct val="100000"/>
              </a:lnSpc>
              <a:spcBef>
                <a:spcPts val="1200"/>
              </a:spcBef>
              <a:buFont typeface="Tahoma"/>
              <a:buChar char="●"/>
              <a:tabLst>
                <a:tab pos="469265" algn="l"/>
              </a:tabLst>
            </a:pPr>
            <a:r>
              <a:rPr dirty="0" sz="1700">
                <a:latin typeface="Times New Roman"/>
                <a:cs typeface="Times New Roman"/>
              </a:rPr>
              <a:t>Reduces</a:t>
            </a:r>
            <a:r>
              <a:rPr dirty="0" sz="1700" spc="-2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spatial</a:t>
            </a:r>
            <a:r>
              <a:rPr dirty="0" sz="1700" spc="-2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dimensions</a:t>
            </a:r>
            <a:r>
              <a:rPr dirty="0" sz="1700" spc="-2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of</a:t>
            </a:r>
            <a:r>
              <a:rPr dirty="0" sz="1700" spc="-2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feature</a:t>
            </a:r>
            <a:r>
              <a:rPr dirty="0" sz="1700" spc="-25">
                <a:latin typeface="Times New Roman"/>
                <a:cs typeface="Times New Roman"/>
              </a:rPr>
              <a:t> </a:t>
            </a:r>
            <a:r>
              <a:rPr dirty="0" sz="1700" spc="-20">
                <a:latin typeface="Times New Roman"/>
                <a:cs typeface="Times New Roman"/>
              </a:rPr>
              <a:t>maps</a:t>
            </a:r>
            <a:endParaRPr sz="1700">
              <a:latin typeface="Times New Roman"/>
              <a:cs typeface="Times New Roman"/>
            </a:endParaRPr>
          </a:p>
          <a:p>
            <a:pPr lvl="1">
              <a:lnSpc>
                <a:spcPct val="100000"/>
              </a:lnSpc>
              <a:spcBef>
                <a:spcPts val="85"/>
              </a:spcBef>
              <a:buFont typeface="Tahoma"/>
              <a:buChar char="●"/>
            </a:pPr>
            <a:endParaRPr sz="1700">
              <a:latin typeface="Times New Roman"/>
              <a:cs typeface="Times New Roman"/>
            </a:endParaRPr>
          </a:p>
          <a:p>
            <a:pPr lvl="1" marL="469265" indent="-358775">
              <a:lnSpc>
                <a:spcPct val="100000"/>
              </a:lnSpc>
              <a:buFont typeface="Tahoma"/>
              <a:buChar char="●"/>
              <a:tabLst>
                <a:tab pos="469265" algn="l"/>
              </a:tabLst>
            </a:pPr>
            <a:r>
              <a:rPr dirty="0" sz="1700">
                <a:latin typeface="Times New Roman"/>
                <a:cs typeface="Times New Roman"/>
              </a:rPr>
              <a:t>Keeps</a:t>
            </a:r>
            <a:r>
              <a:rPr dirty="0" sz="1700" spc="-5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most</a:t>
            </a:r>
            <a:r>
              <a:rPr dirty="0" sz="1700" spc="-4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important</a:t>
            </a:r>
            <a:r>
              <a:rPr dirty="0" sz="1700" spc="-4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visual</a:t>
            </a:r>
            <a:r>
              <a:rPr dirty="0" sz="1700" spc="-45">
                <a:latin typeface="Times New Roman"/>
                <a:cs typeface="Times New Roman"/>
              </a:rPr>
              <a:t> </a:t>
            </a:r>
            <a:r>
              <a:rPr dirty="0" sz="1700" spc="-10">
                <a:latin typeface="Times New Roman"/>
                <a:cs typeface="Times New Roman"/>
              </a:rPr>
              <a:t>information</a:t>
            </a:r>
            <a:endParaRPr sz="1700">
              <a:latin typeface="Times New Roman"/>
              <a:cs typeface="Times New Roman"/>
            </a:endParaRPr>
          </a:p>
          <a:p>
            <a:pPr lvl="1">
              <a:lnSpc>
                <a:spcPct val="100000"/>
              </a:lnSpc>
              <a:spcBef>
                <a:spcPts val="85"/>
              </a:spcBef>
              <a:buFont typeface="Tahoma"/>
              <a:buChar char="●"/>
            </a:pPr>
            <a:endParaRPr sz="1700">
              <a:latin typeface="Times New Roman"/>
              <a:cs typeface="Times New Roman"/>
            </a:endParaRPr>
          </a:p>
          <a:p>
            <a:pPr lvl="1" marL="469265" indent="-358775">
              <a:lnSpc>
                <a:spcPct val="100000"/>
              </a:lnSpc>
              <a:buFont typeface="Tahoma"/>
              <a:buChar char="●"/>
              <a:tabLst>
                <a:tab pos="469265" algn="l"/>
              </a:tabLst>
            </a:pPr>
            <a:r>
              <a:rPr dirty="0" sz="1700">
                <a:latin typeface="Times New Roman"/>
                <a:cs typeface="Times New Roman"/>
              </a:rPr>
              <a:t>Helps</a:t>
            </a:r>
            <a:r>
              <a:rPr dirty="0" sz="1700" spc="-4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prevent</a:t>
            </a:r>
            <a:r>
              <a:rPr dirty="0" sz="1700" spc="-35">
                <a:latin typeface="Times New Roman"/>
                <a:cs typeface="Times New Roman"/>
              </a:rPr>
              <a:t> </a:t>
            </a:r>
            <a:r>
              <a:rPr dirty="0" sz="1700" spc="-10">
                <a:latin typeface="Times New Roman"/>
                <a:cs typeface="Times New Roman"/>
              </a:rPr>
              <a:t>overfitting</a:t>
            </a:r>
            <a:endParaRPr sz="1700">
              <a:latin typeface="Times New Roman"/>
              <a:cs typeface="Times New Roman"/>
            </a:endParaRPr>
          </a:p>
          <a:p>
            <a:pPr marL="228600" indent="-215900">
              <a:lnSpc>
                <a:spcPct val="100000"/>
              </a:lnSpc>
              <a:spcBef>
                <a:spcPts val="1400"/>
              </a:spcBef>
              <a:buAutoNum type="arabicPeriod"/>
              <a:tabLst>
                <a:tab pos="228600" algn="l"/>
              </a:tabLst>
            </a:pPr>
            <a:r>
              <a:rPr dirty="0" sz="1700" b="1">
                <a:latin typeface="Times New Roman"/>
                <a:cs typeface="Times New Roman"/>
              </a:rPr>
              <a:t>Flatten </a:t>
            </a:r>
            <a:r>
              <a:rPr dirty="0" sz="1700" spc="-10" b="1">
                <a:latin typeface="Times New Roman"/>
                <a:cs typeface="Times New Roman"/>
              </a:rPr>
              <a:t>Layer</a:t>
            </a:r>
            <a:endParaRPr sz="1700">
              <a:latin typeface="Times New Roman"/>
              <a:cs typeface="Times New Roman"/>
            </a:endParaRPr>
          </a:p>
          <a:p>
            <a:pPr lvl="1" marL="469265" indent="-358775">
              <a:lnSpc>
                <a:spcPct val="100000"/>
              </a:lnSpc>
              <a:spcBef>
                <a:spcPts val="1200"/>
              </a:spcBef>
              <a:buFont typeface="Tahoma"/>
              <a:buChar char="●"/>
              <a:tabLst>
                <a:tab pos="469265" algn="l"/>
              </a:tabLst>
            </a:pPr>
            <a:r>
              <a:rPr dirty="0" sz="1700" spc="-10">
                <a:latin typeface="Times New Roman"/>
                <a:cs typeface="Times New Roman"/>
              </a:rPr>
              <a:t>Converts</a:t>
            </a:r>
            <a:r>
              <a:rPr dirty="0" sz="1700" spc="-1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pooled</a:t>
            </a:r>
            <a:r>
              <a:rPr dirty="0" sz="1700" spc="-1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feature</a:t>
            </a:r>
            <a:r>
              <a:rPr dirty="0" sz="1700" spc="-1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maps</a:t>
            </a:r>
            <a:r>
              <a:rPr dirty="0" sz="1700" spc="-1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into</a:t>
            </a:r>
            <a:r>
              <a:rPr dirty="0" sz="1700" spc="-1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a</a:t>
            </a:r>
            <a:r>
              <a:rPr dirty="0" sz="1700" spc="-1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1-D</a:t>
            </a:r>
            <a:r>
              <a:rPr dirty="0" sz="1700" spc="-10">
                <a:latin typeface="Times New Roman"/>
                <a:cs typeface="Times New Roman"/>
              </a:rPr>
              <a:t> vector</a:t>
            </a:r>
            <a:endParaRPr sz="1700">
              <a:latin typeface="Times New Roman"/>
              <a:cs typeface="Times New Roman"/>
            </a:endParaRPr>
          </a:p>
          <a:p>
            <a:pPr lvl="1">
              <a:lnSpc>
                <a:spcPct val="100000"/>
              </a:lnSpc>
              <a:spcBef>
                <a:spcPts val="85"/>
              </a:spcBef>
              <a:buFont typeface="Tahoma"/>
              <a:buChar char="●"/>
            </a:pPr>
            <a:endParaRPr sz="1700">
              <a:latin typeface="Times New Roman"/>
              <a:cs typeface="Times New Roman"/>
            </a:endParaRPr>
          </a:p>
          <a:p>
            <a:pPr lvl="1" marL="469265" indent="-358775">
              <a:lnSpc>
                <a:spcPct val="100000"/>
              </a:lnSpc>
              <a:buFont typeface="Tahoma"/>
              <a:buChar char="●"/>
              <a:tabLst>
                <a:tab pos="469265" algn="l"/>
              </a:tabLst>
            </a:pPr>
            <a:r>
              <a:rPr dirty="0" sz="1700">
                <a:latin typeface="Times New Roman"/>
                <a:cs typeface="Times New Roman"/>
              </a:rPr>
              <a:t>Makes</a:t>
            </a:r>
            <a:r>
              <a:rPr dirty="0" sz="1700" spc="-1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data</a:t>
            </a:r>
            <a:r>
              <a:rPr dirty="0" sz="1700" spc="-1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compatible</a:t>
            </a:r>
            <a:r>
              <a:rPr dirty="0" sz="1700" spc="-1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with</a:t>
            </a:r>
            <a:r>
              <a:rPr dirty="0" sz="1700" spc="-1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Dense</a:t>
            </a:r>
            <a:r>
              <a:rPr dirty="0" sz="1700" spc="-10">
                <a:latin typeface="Times New Roman"/>
                <a:cs typeface="Times New Roman"/>
              </a:rPr>
              <a:t> layers</a:t>
            </a:r>
            <a:endParaRPr sz="1700">
              <a:latin typeface="Times New Roman"/>
              <a:cs typeface="Times New Roman"/>
            </a:endParaRPr>
          </a:p>
          <a:p>
            <a:pPr marL="228600" indent="-215900">
              <a:lnSpc>
                <a:spcPct val="100000"/>
              </a:lnSpc>
              <a:spcBef>
                <a:spcPts val="1400"/>
              </a:spcBef>
              <a:buAutoNum type="arabicPeriod"/>
              <a:tabLst>
                <a:tab pos="228600" algn="l"/>
              </a:tabLst>
            </a:pPr>
            <a:r>
              <a:rPr dirty="0" sz="1700" b="1">
                <a:latin typeface="Times New Roman"/>
                <a:cs typeface="Times New Roman"/>
              </a:rPr>
              <a:t>Dense </a:t>
            </a:r>
            <a:r>
              <a:rPr dirty="0" sz="1700" spc="-10" b="1">
                <a:latin typeface="Times New Roman"/>
                <a:cs typeface="Times New Roman"/>
              </a:rPr>
              <a:t>Layer</a:t>
            </a:r>
            <a:endParaRPr sz="1700">
              <a:latin typeface="Times New Roman"/>
              <a:cs typeface="Times New Roman"/>
            </a:endParaRPr>
          </a:p>
          <a:p>
            <a:pPr lvl="1" marL="469265" indent="-358775">
              <a:lnSpc>
                <a:spcPct val="100000"/>
              </a:lnSpc>
              <a:spcBef>
                <a:spcPts val="1200"/>
              </a:spcBef>
              <a:buFont typeface="Tahoma"/>
              <a:buChar char="●"/>
              <a:tabLst>
                <a:tab pos="469265" algn="l"/>
              </a:tabLst>
            </a:pPr>
            <a:r>
              <a:rPr dirty="0" sz="1700">
                <a:latin typeface="Times New Roman"/>
                <a:cs typeface="Times New Roman"/>
              </a:rPr>
              <a:t>Learns</a:t>
            </a:r>
            <a:r>
              <a:rPr dirty="0" sz="1700" spc="-3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task-</a:t>
            </a:r>
            <a:r>
              <a:rPr dirty="0" sz="1700" spc="-10">
                <a:latin typeface="Times New Roman"/>
                <a:cs typeface="Times New Roman"/>
              </a:rPr>
              <a:t>specific</a:t>
            </a:r>
            <a:r>
              <a:rPr dirty="0" sz="1700" spc="-3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lesion</a:t>
            </a:r>
            <a:r>
              <a:rPr dirty="0" sz="1700" spc="-30">
                <a:latin typeface="Times New Roman"/>
                <a:cs typeface="Times New Roman"/>
              </a:rPr>
              <a:t> </a:t>
            </a:r>
            <a:r>
              <a:rPr dirty="0" sz="1700" spc="-10">
                <a:latin typeface="Times New Roman"/>
                <a:cs typeface="Times New Roman"/>
              </a:rPr>
              <a:t>patterns</a:t>
            </a:r>
            <a:endParaRPr sz="1700">
              <a:latin typeface="Times New Roman"/>
              <a:cs typeface="Times New Roman"/>
            </a:endParaRPr>
          </a:p>
          <a:p>
            <a:pPr lvl="1">
              <a:lnSpc>
                <a:spcPct val="100000"/>
              </a:lnSpc>
              <a:spcBef>
                <a:spcPts val="85"/>
              </a:spcBef>
              <a:buFont typeface="Tahoma"/>
              <a:buChar char="●"/>
            </a:pPr>
            <a:endParaRPr sz="1700">
              <a:latin typeface="Times New Roman"/>
              <a:cs typeface="Times New Roman"/>
            </a:endParaRPr>
          </a:p>
          <a:p>
            <a:pPr lvl="1" marL="469265" indent="-358775">
              <a:lnSpc>
                <a:spcPct val="100000"/>
              </a:lnSpc>
              <a:buFont typeface="Tahoma"/>
              <a:buChar char="●"/>
              <a:tabLst>
                <a:tab pos="469265" algn="l"/>
              </a:tabLst>
            </a:pPr>
            <a:r>
              <a:rPr dirty="0" sz="1700">
                <a:latin typeface="Times New Roman"/>
                <a:cs typeface="Times New Roman"/>
              </a:rPr>
              <a:t>Extracts</a:t>
            </a:r>
            <a:r>
              <a:rPr dirty="0" sz="1700" spc="-2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high-level</a:t>
            </a:r>
            <a:r>
              <a:rPr dirty="0" sz="1700" spc="-2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features</a:t>
            </a:r>
            <a:r>
              <a:rPr dirty="0" sz="1700" spc="-2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for</a:t>
            </a:r>
            <a:r>
              <a:rPr dirty="0" sz="1700" spc="-15">
                <a:latin typeface="Times New Roman"/>
                <a:cs typeface="Times New Roman"/>
              </a:rPr>
              <a:t> </a:t>
            </a:r>
            <a:r>
              <a:rPr dirty="0" sz="1700" spc="-10">
                <a:latin typeface="Times New Roman"/>
                <a:cs typeface="Times New Roman"/>
              </a:rPr>
              <a:t>classification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11100891" y="6428663"/>
            <a:ext cx="17970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>
                <a:solidFill>
                  <a:srgbClr val="888888"/>
                </a:solidFill>
                <a:latin typeface="Calibri"/>
                <a:cs typeface="Calibri"/>
              </a:rPr>
              <a:t>16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4216202" y="6565213"/>
            <a:ext cx="829944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888888"/>
                </a:solidFill>
                <a:latin typeface="Times New Roman"/>
                <a:cs typeface="Times New Roman"/>
              </a:rPr>
              <a:t>Review</a:t>
            </a:r>
            <a:r>
              <a:rPr dirty="0" sz="1200" spc="-7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dirty="0" sz="1200" spc="-20">
                <a:solidFill>
                  <a:srgbClr val="888888"/>
                </a:solidFill>
                <a:latin typeface="Times New Roman"/>
                <a:cs typeface="Times New Roman"/>
              </a:rPr>
              <a:t>No.1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5248841" y="6565213"/>
            <a:ext cx="969644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888888"/>
                </a:solidFill>
                <a:latin typeface="Times New Roman"/>
                <a:cs typeface="Times New Roman"/>
              </a:rPr>
              <a:t>Batch</a:t>
            </a:r>
            <a:r>
              <a:rPr dirty="0" sz="1200" spc="-15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888888"/>
                </a:solidFill>
                <a:latin typeface="Times New Roman"/>
                <a:cs typeface="Times New Roman"/>
              </a:rPr>
              <a:t>No.</a:t>
            </a:r>
            <a:r>
              <a:rPr dirty="0" sz="1200" spc="-15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dirty="0" sz="1200" spc="-25">
                <a:solidFill>
                  <a:srgbClr val="888888"/>
                </a:solidFill>
                <a:latin typeface="Times New Roman"/>
                <a:cs typeface="Times New Roman"/>
              </a:rPr>
              <a:t>DB4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6573784" y="6565213"/>
            <a:ext cx="122618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solidFill>
                  <a:srgbClr val="888888"/>
                </a:solidFill>
                <a:latin typeface="Times New Roman"/>
                <a:cs typeface="Times New Roman"/>
              </a:rPr>
              <a:t>Department</a:t>
            </a:r>
            <a:r>
              <a:rPr dirty="0" sz="1200" spc="-15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888888"/>
                </a:solidFill>
                <a:latin typeface="Times New Roman"/>
                <a:cs typeface="Times New Roman"/>
              </a:rPr>
              <a:t>of</a:t>
            </a:r>
            <a:r>
              <a:rPr dirty="0" sz="1200" spc="-5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dirty="0" sz="1200" spc="-25">
                <a:solidFill>
                  <a:srgbClr val="888888"/>
                </a:solidFill>
                <a:latin typeface="Times New Roman"/>
                <a:cs typeface="Times New Roman"/>
              </a:rPr>
              <a:t>CSE</a:t>
            </a:r>
            <a:endParaRPr sz="1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911225" y="605589"/>
            <a:ext cx="4446905" cy="4805680"/>
          </a:xfrm>
          <a:prstGeom prst="rect">
            <a:avLst/>
          </a:prstGeom>
        </p:spPr>
        <p:txBody>
          <a:bodyPr wrap="square" lIns="0" tIns="165100" rIns="0" bIns="0" rtlCol="0" vert="horz">
            <a:spAutoFit/>
          </a:bodyPr>
          <a:lstStyle/>
          <a:p>
            <a:pPr marL="228600" indent="-215900">
              <a:lnSpc>
                <a:spcPct val="100000"/>
              </a:lnSpc>
              <a:spcBef>
                <a:spcPts val="1300"/>
              </a:spcBef>
              <a:buAutoNum type="arabicPeriod" startAt="4"/>
              <a:tabLst>
                <a:tab pos="228600" algn="l"/>
              </a:tabLst>
            </a:pPr>
            <a:r>
              <a:rPr dirty="0" sz="1700" b="1">
                <a:latin typeface="Times New Roman"/>
                <a:cs typeface="Times New Roman"/>
              </a:rPr>
              <a:t>Dropout</a:t>
            </a:r>
            <a:r>
              <a:rPr dirty="0" sz="1700" spc="-80" b="1">
                <a:latin typeface="Times New Roman"/>
                <a:cs typeface="Times New Roman"/>
              </a:rPr>
              <a:t> </a:t>
            </a:r>
            <a:r>
              <a:rPr dirty="0" sz="1700" spc="-10" b="1">
                <a:latin typeface="Times New Roman"/>
                <a:cs typeface="Times New Roman"/>
              </a:rPr>
              <a:t>(0.5)</a:t>
            </a:r>
            <a:endParaRPr sz="1700">
              <a:latin typeface="Times New Roman"/>
              <a:cs typeface="Times New Roman"/>
            </a:endParaRPr>
          </a:p>
          <a:p>
            <a:pPr lvl="1" marL="469265" indent="-358775">
              <a:lnSpc>
                <a:spcPct val="100000"/>
              </a:lnSpc>
              <a:spcBef>
                <a:spcPts val="1200"/>
              </a:spcBef>
              <a:buFont typeface="Tahoma"/>
              <a:buChar char="●"/>
              <a:tabLst>
                <a:tab pos="469265" algn="l"/>
              </a:tabLst>
            </a:pPr>
            <a:r>
              <a:rPr dirty="0" sz="1700">
                <a:latin typeface="Times New Roman"/>
                <a:cs typeface="Times New Roman"/>
              </a:rPr>
              <a:t>Randomly</a:t>
            </a:r>
            <a:r>
              <a:rPr dirty="0" sz="1700" spc="-1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drops</a:t>
            </a:r>
            <a:r>
              <a:rPr dirty="0" sz="1700" spc="-1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50%</a:t>
            </a:r>
            <a:r>
              <a:rPr dirty="0" sz="1700" spc="-1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neurons</a:t>
            </a:r>
            <a:r>
              <a:rPr dirty="0" sz="1700" spc="-1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during</a:t>
            </a:r>
            <a:r>
              <a:rPr dirty="0" sz="1700" spc="-15">
                <a:latin typeface="Times New Roman"/>
                <a:cs typeface="Times New Roman"/>
              </a:rPr>
              <a:t> </a:t>
            </a:r>
            <a:r>
              <a:rPr dirty="0" sz="1700" spc="-10">
                <a:latin typeface="Times New Roman"/>
                <a:cs typeface="Times New Roman"/>
              </a:rPr>
              <a:t>training</a:t>
            </a:r>
            <a:endParaRPr sz="1700">
              <a:latin typeface="Times New Roman"/>
              <a:cs typeface="Times New Roman"/>
            </a:endParaRPr>
          </a:p>
          <a:p>
            <a:pPr lvl="1">
              <a:lnSpc>
                <a:spcPct val="100000"/>
              </a:lnSpc>
              <a:spcBef>
                <a:spcPts val="85"/>
              </a:spcBef>
              <a:buFont typeface="Tahoma"/>
              <a:buChar char="●"/>
            </a:pPr>
            <a:endParaRPr sz="1700">
              <a:latin typeface="Times New Roman"/>
              <a:cs typeface="Times New Roman"/>
            </a:endParaRPr>
          </a:p>
          <a:p>
            <a:pPr lvl="1" marL="469265" indent="-358775">
              <a:lnSpc>
                <a:spcPct val="100000"/>
              </a:lnSpc>
              <a:buFont typeface="Tahoma"/>
              <a:buChar char="●"/>
              <a:tabLst>
                <a:tab pos="469265" algn="l"/>
              </a:tabLst>
            </a:pPr>
            <a:r>
              <a:rPr dirty="0" sz="1700">
                <a:latin typeface="Times New Roman"/>
                <a:cs typeface="Times New Roman"/>
              </a:rPr>
              <a:t>Prevents</a:t>
            </a:r>
            <a:r>
              <a:rPr dirty="0" sz="1700" spc="-75">
                <a:latin typeface="Times New Roman"/>
                <a:cs typeface="Times New Roman"/>
              </a:rPr>
              <a:t> </a:t>
            </a:r>
            <a:r>
              <a:rPr dirty="0" sz="1700" spc="-10">
                <a:latin typeface="Times New Roman"/>
                <a:cs typeface="Times New Roman"/>
              </a:rPr>
              <a:t>overfitting</a:t>
            </a:r>
            <a:endParaRPr sz="1700">
              <a:latin typeface="Times New Roman"/>
              <a:cs typeface="Times New Roman"/>
            </a:endParaRPr>
          </a:p>
          <a:p>
            <a:pPr lvl="1">
              <a:lnSpc>
                <a:spcPct val="100000"/>
              </a:lnSpc>
              <a:spcBef>
                <a:spcPts val="85"/>
              </a:spcBef>
              <a:buFont typeface="Tahoma"/>
              <a:buChar char="●"/>
            </a:pPr>
            <a:endParaRPr sz="1700">
              <a:latin typeface="Times New Roman"/>
              <a:cs typeface="Times New Roman"/>
            </a:endParaRPr>
          </a:p>
          <a:p>
            <a:pPr lvl="1" marL="469265" indent="-358775">
              <a:lnSpc>
                <a:spcPct val="100000"/>
              </a:lnSpc>
              <a:buFont typeface="Tahoma"/>
              <a:buChar char="●"/>
              <a:tabLst>
                <a:tab pos="469265" algn="l"/>
              </a:tabLst>
            </a:pPr>
            <a:r>
              <a:rPr dirty="0" sz="1700">
                <a:latin typeface="Times New Roman"/>
                <a:cs typeface="Times New Roman"/>
              </a:rPr>
              <a:t>Improves</a:t>
            </a:r>
            <a:r>
              <a:rPr dirty="0" sz="1700" spc="-60">
                <a:latin typeface="Times New Roman"/>
                <a:cs typeface="Times New Roman"/>
              </a:rPr>
              <a:t> </a:t>
            </a:r>
            <a:r>
              <a:rPr dirty="0" sz="1700" spc="-10">
                <a:latin typeface="Times New Roman"/>
                <a:cs typeface="Times New Roman"/>
              </a:rPr>
              <a:t>generalization</a:t>
            </a:r>
            <a:endParaRPr sz="1700">
              <a:latin typeface="Times New Roman"/>
              <a:cs typeface="Times New Roman"/>
            </a:endParaRPr>
          </a:p>
          <a:p>
            <a:pPr marL="228600" indent="-215900">
              <a:lnSpc>
                <a:spcPct val="100000"/>
              </a:lnSpc>
              <a:spcBef>
                <a:spcPts val="1400"/>
              </a:spcBef>
              <a:buAutoNum type="arabicPeriod" startAt="4"/>
              <a:tabLst>
                <a:tab pos="228600" algn="l"/>
              </a:tabLst>
            </a:pPr>
            <a:r>
              <a:rPr dirty="0" sz="1700" b="1">
                <a:latin typeface="Times New Roman"/>
                <a:cs typeface="Times New Roman"/>
              </a:rPr>
              <a:t>Output</a:t>
            </a:r>
            <a:r>
              <a:rPr dirty="0" sz="1700" spc="-40" b="1">
                <a:latin typeface="Times New Roman"/>
                <a:cs typeface="Times New Roman"/>
              </a:rPr>
              <a:t> </a:t>
            </a:r>
            <a:r>
              <a:rPr dirty="0" sz="1700" b="1">
                <a:latin typeface="Times New Roman"/>
                <a:cs typeface="Times New Roman"/>
              </a:rPr>
              <a:t>Dense</a:t>
            </a:r>
            <a:r>
              <a:rPr dirty="0" sz="1700" spc="-35" b="1">
                <a:latin typeface="Times New Roman"/>
                <a:cs typeface="Times New Roman"/>
              </a:rPr>
              <a:t> </a:t>
            </a:r>
            <a:r>
              <a:rPr dirty="0" sz="1700" b="1">
                <a:latin typeface="Times New Roman"/>
                <a:cs typeface="Times New Roman"/>
              </a:rPr>
              <a:t>Layer</a:t>
            </a:r>
            <a:r>
              <a:rPr dirty="0" sz="1700" spc="-35" b="1">
                <a:latin typeface="Times New Roman"/>
                <a:cs typeface="Times New Roman"/>
              </a:rPr>
              <a:t> </a:t>
            </a:r>
            <a:r>
              <a:rPr dirty="0" sz="1700" spc="-10" b="1">
                <a:latin typeface="Times New Roman"/>
                <a:cs typeface="Times New Roman"/>
              </a:rPr>
              <a:t>(Softmax)</a:t>
            </a:r>
            <a:endParaRPr sz="1700">
              <a:latin typeface="Times New Roman"/>
              <a:cs typeface="Times New Roman"/>
            </a:endParaRPr>
          </a:p>
          <a:p>
            <a:pPr lvl="1" marL="469265" indent="-358775">
              <a:lnSpc>
                <a:spcPct val="100000"/>
              </a:lnSpc>
              <a:spcBef>
                <a:spcPts val="1200"/>
              </a:spcBef>
              <a:buFont typeface="Tahoma"/>
              <a:buChar char="●"/>
              <a:tabLst>
                <a:tab pos="469265" algn="l"/>
              </a:tabLst>
            </a:pPr>
            <a:r>
              <a:rPr dirty="0" sz="1700">
                <a:latin typeface="Times New Roman"/>
                <a:cs typeface="Times New Roman"/>
              </a:rPr>
              <a:t>Produces</a:t>
            </a:r>
            <a:r>
              <a:rPr dirty="0" sz="1700" spc="-1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two</a:t>
            </a:r>
            <a:r>
              <a:rPr dirty="0" sz="1700" spc="-10">
                <a:latin typeface="Times New Roman"/>
                <a:cs typeface="Times New Roman"/>
              </a:rPr>
              <a:t> probabilities:</a:t>
            </a:r>
            <a:endParaRPr sz="1700">
              <a:latin typeface="Times New Roman"/>
              <a:cs typeface="Times New Roman"/>
            </a:endParaRPr>
          </a:p>
          <a:p>
            <a:pPr lvl="1">
              <a:lnSpc>
                <a:spcPct val="100000"/>
              </a:lnSpc>
              <a:spcBef>
                <a:spcPts val="85"/>
              </a:spcBef>
              <a:buFont typeface="Tahoma"/>
              <a:buChar char="●"/>
            </a:pPr>
            <a:endParaRPr sz="1700">
              <a:latin typeface="Times New Roman"/>
              <a:cs typeface="Times New Roman"/>
            </a:endParaRPr>
          </a:p>
          <a:p>
            <a:pPr lvl="2" marL="926465" indent="-358775">
              <a:lnSpc>
                <a:spcPct val="100000"/>
              </a:lnSpc>
              <a:buFont typeface="Tahoma"/>
              <a:buChar char="○"/>
              <a:tabLst>
                <a:tab pos="926465" algn="l"/>
              </a:tabLst>
            </a:pPr>
            <a:r>
              <a:rPr dirty="0" sz="1700" spc="-10">
                <a:latin typeface="Times New Roman"/>
                <a:cs typeface="Times New Roman"/>
              </a:rPr>
              <a:t>Monkeypox</a:t>
            </a:r>
            <a:endParaRPr sz="1700">
              <a:latin typeface="Times New Roman"/>
              <a:cs typeface="Times New Roman"/>
            </a:endParaRPr>
          </a:p>
          <a:p>
            <a:pPr lvl="2">
              <a:lnSpc>
                <a:spcPct val="100000"/>
              </a:lnSpc>
              <a:spcBef>
                <a:spcPts val="85"/>
              </a:spcBef>
              <a:buFont typeface="Tahoma"/>
              <a:buChar char="○"/>
            </a:pPr>
            <a:endParaRPr sz="1700">
              <a:latin typeface="Times New Roman"/>
              <a:cs typeface="Times New Roman"/>
            </a:endParaRPr>
          </a:p>
          <a:p>
            <a:pPr lvl="2" marL="926465" indent="-358775">
              <a:lnSpc>
                <a:spcPct val="100000"/>
              </a:lnSpc>
              <a:buFont typeface="Tahoma"/>
              <a:buChar char="○"/>
              <a:tabLst>
                <a:tab pos="926465" algn="l"/>
              </a:tabLst>
            </a:pPr>
            <a:r>
              <a:rPr dirty="0" sz="1700" spc="-10">
                <a:latin typeface="Times New Roman"/>
                <a:cs typeface="Times New Roman"/>
              </a:rPr>
              <a:t>Normal</a:t>
            </a:r>
            <a:endParaRPr sz="1700">
              <a:latin typeface="Times New Roman"/>
              <a:cs typeface="Times New Roman"/>
            </a:endParaRPr>
          </a:p>
          <a:p>
            <a:pPr lvl="2">
              <a:lnSpc>
                <a:spcPct val="100000"/>
              </a:lnSpc>
              <a:spcBef>
                <a:spcPts val="85"/>
              </a:spcBef>
              <a:buFont typeface="Tahoma"/>
              <a:buChar char="○"/>
            </a:pPr>
            <a:endParaRPr sz="1700">
              <a:latin typeface="Times New Roman"/>
              <a:cs typeface="Times New Roman"/>
            </a:endParaRPr>
          </a:p>
          <a:p>
            <a:pPr lvl="1" marL="469265" indent="-358775">
              <a:lnSpc>
                <a:spcPct val="100000"/>
              </a:lnSpc>
              <a:buFont typeface="Tahoma"/>
              <a:buChar char="●"/>
              <a:tabLst>
                <a:tab pos="469265" algn="l"/>
              </a:tabLst>
            </a:pPr>
            <a:r>
              <a:rPr dirty="0" sz="1700">
                <a:latin typeface="Times New Roman"/>
                <a:cs typeface="Times New Roman"/>
              </a:rPr>
              <a:t>Chooses</a:t>
            </a:r>
            <a:r>
              <a:rPr dirty="0" sz="1700" spc="-3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the</a:t>
            </a:r>
            <a:r>
              <a:rPr dirty="0" sz="1700" spc="-3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class</a:t>
            </a:r>
            <a:r>
              <a:rPr dirty="0" sz="1700" spc="-3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with</a:t>
            </a:r>
            <a:r>
              <a:rPr dirty="0" sz="1700" spc="-3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highest</a:t>
            </a:r>
            <a:r>
              <a:rPr dirty="0" sz="1700" spc="-30">
                <a:latin typeface="Times New Roman"/>
                <a:cs typeface="Times New Roman"/>
              </a:rPr>
              <a:t> </a:t>
            </a:r>
            <a:r>
              <a:rPr dirty="0" sz="1700" spc="-10">
                <a:latin typeface="Times New Roman"/>
                <a:cs typeface="Times New Roman"/>
              </a:rPr>
              <a:t>probability</a:t>
            </a:r>
            <a:endParaRPr sz="1700">
              <a:latin typeface="Times New Roman"/>
              <a:cs typeface="Times New Roman"/>
            </a:endParaRPr>
          </a:p>
          <a:p>
            <a:pPr lvl="1">
              <a:lnSpc>
                <a:spcPct val="100000"/>
              </a:lnSpc>
              <a:spcBef>
                <a:spcPts val="85"/>
              </a:spcBef>
              <a:buFont typeface="Tahoma"/>
              <a:buChar char="●"/>
            </a:pPr>
            <a:endParaRPr sz="1700">
              <a:latin typeface="Times New Roman"/>
              <a:cs typeface="Times New Roman"/>
            </a:endParaRPr>
          </a:p>
          <a:p>
            <a:pPr lvl="1" marL="469265" indent="-358775">
              <a:lnSpc>
                <a:spcPct val="100000"/>
              </a:lnSpc>
              <a:buFont typeface="Tahoma"/>
              <a:buChar char="●"/>
              <a:tabLst>
                <a:tab pos="469265" algn="l"/>
              </a:tabLst>
            </a:pPr>
            <a:r>
              <a:rPr dirty="0" sz="1700">
                <a:latin typeface="Times New Roman"/>
                <a:cs typeface="Times New Roman"/>
              </a:rPr>
              <a:t>Ensures</a:t>
            </a:r>
            <a:r>
              <a:rPr dirty="0" sz="1700" spc="-2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output</a:t>
            </a:r>
            <a:r>
              <a:rPr dirty="0" sz="1700" spc="-2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sums</a:t>
            </a:r>
            <a:r>
              <a:rPr dirty="0" sz="1700" spc="-2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to</a:t>
            </a:r>
            <a:r>
              <a:rPr dirty="0" sz="1700" spc="-25">
                <a:latin typeface="Times New Roman"/>
                <a:cs typeface="Times New Roman"/>
              </a:rPr>
              <a:t> </a:t>
            </a:r>
            <a:r>
              <a:rPr dirty="0" sz="1700" spc="-50">
                <a:latin typeface="Times New Roman"/>
                <a:cs typeface="Times New Roman"/>
              </a:rPr>
              <a:t>1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4265327" y="6445258"/>
            <a:ext cx="906144" cy="19431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 sz="1200">
                <a:solidFill>
                  <a:srgbClr val="888888"/>
                </a:solidFill>
                <a:latin typeface="Times New Roman"/>
                <a:cs typeface="Times New Roman"/>
              </a:rPr>
              <a:t>Review</a:t>
            </a:r>
            <a:r>
              <a:rPr dirty="0" sz="1200" spc="-3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888888"/>
                </a:solidFill>
                <a:latin typeface="Times New Roman"/>
                <a:cs typeface="Times New Roman"/>
              </a:rPr>
              <a:t>No.</a:t>
            </a:r>
            <a:r>
              <a:rPr dirty="0" sz="1200" spc="26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dirty="0" sz="1200" spc="-50">
                <a:solidFill>
                  <a:srgbClr val="888888"/>
                </a:solidFill>
                <a:latin typeface="Times New Roman"/>
                <a:cs typeface="Times New Roman"/>
              </a:rPr>
              <a:t>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50800">
              <a:lnSpc>
                <a:spcPts val="1410"/>
              </a:lnSpc>
            </a:pPr>
            <a:r>
              <a:rPr dirty="0"/>
              <a:t>Batch</a:t>
            </a:r>
            <a:r>
              <a:rPr dirty="0" spc="-15"/>
              <a:t> </a:t>
            </a:r>
            <a:r>
              <a:rPr dirty="0"/>
              <a:t>No.</a:t>
            </a:r>
            <a:r>
              <a:rPr dirty="0" spc="-15"/>
              <a:t> </a:t>
            </a:r>
            <a:r>
              <a:rPr dirty="0" spc="-25"/>
              <a:t>DB4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60325">
              <a:lnSpc>
                <a:spcPts val="1410"/>
              </a:lnSpc>
            </a:pPr>
            <a:r>
              <a:rPr dirty="0" spc="-10"/>
              <a:t>Department</a:t>
            </a:r>
            <a:r>
              <a:rPr dirty="0" spc="-15"/>
              <a:t> </a:t>
            </a:r>
            <a:r>
              <a:rPr dirty="0"/>
              <a:t>of</a:t>
            </a:r>
            <a:r>
              <a:rPr dirty="0" spc="-5"/>
              <a:t> </a:t>
            </a:r>
            <a:r>
              <a:rPr dirty="0" spc="-25"/>
              <a:t>CSE</a:t>
            </a:r>
          </a:p>
        </p:txBody>
      </p:sp>
      <p:sp>
        <p:nvSpPr>
          <p:cNvPr id="6" name="object 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>
                <a:latin typeface="Calibri"/>
                <a:cs typeface="Calibri"/>
              </a:rPr>
              <a:t>17</a:t>
            </a:fld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1225" y="825655"/>
            <a:ext cx="1857375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4.</a:t>
            </a:r>
            <a:r>
              <a:rPr dirty="0" spc="-25"/>
              <a:t> </a:t>
            </a:r>
            <a:r>
              <a:rPr dirty="0"/>
              <a:t>Prediction</a:t>
            </a:r>
            <a:r>
              <a:rPr dirty="0" spc="-20"/>
              <a:t> </a:t>
            </a:r>
            <a:r>
              <a:rPr dirty="0" spc="-50"/>
              <a:t>:</a:t>
            </a:r>
          </a:p>
        </p:txBody>
      </p:sp>
      <p:sp>
        <p:nvSpPr>
          <p:cNvPr id="4" name="object 4" descr=""/>
          <p:cNvSpPr txBox="1"/>
          <p:nvPr/>
        </p:nvSpPr>
        <p:spPr>
          <a:xfrm>
            <a:off x="4265327" y="6445258"/>
            <a:ext cx="906144" cy="19431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 sz="1200">
                <a:solidFill>
                  <a:srgbClr val="888888"/>
                </a:solidFill>
                <a:latin typeface="Times New Roman"/>
                <a:cs typeface="Times New Roman"/>
              </a:rPr>
              <a:t>Review</a:t>
            </a:r>
            <a:r>
              <a:rPr dirty="0" sz="1200" spc="-3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888888"/>
                </a:solidFill>
                <a:latin typeface="Times New Roman"/>
                <a:cs typeface="Times New Roman"/>
              </a:rPr>
              <a:t>No.</a:t>
            </a:r>
            <a:r>
              <a:rPr dirty="0" sz="1200" spc="26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dirty="0" sz="1200" spc="-50">
                <a:solidFill>
                  <a:srgbClr val="888888"/>
                </a:solidFill>
                <a:latin typeface="Times New Roman"/>
                <a:cs typeface="Times New Roman"/>
              </a:rPr>
              <a:t>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5" name="object 5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50800">
              <a:lnSpc>
                <a:spcPts val="1410"/>
              </a:lnSpc>
            </a:pPr>
            <a:r>
              <a:rPr dirty="0"/>
              <a:t>Batch</a:t>
            </a:r>
            <a:r>
              <a:rPr dirty="0" spc="-15"/>
              <a:t> </a:t>
            </a:r>
            <a:r>
              <a:rPr dirty="0"/>
              <a:t>No.</a:t>
            </a:r>
            <a:r>
              <a:rPr dirty="0" spc="-15"/>
              <a:t> </a:t>
            </a:r>
            <a:r>
              <a:rPr dirty="0" spc="-25"/>
              <a:t>DB4</a:t>
            </a:r>
          </a:p>
        </p:txBody>
      </p:sp>
      <p:sp>
        <p:nvSpPr>
          <p:cNvPr id="6" name="object 6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60325">
              <a:lnSpc>
                <a:spcPts val="1410"/>
              </a:lnSpc>
            </a:pPr>
            <a:r>
              <a:rPr dirty="0" spc="-10"/>
              <a:t>Department</a:t>
            </a:r>
            <a:r>
              <a:rPr dirty="0" spc="-15"/>
              <a:t> </a:t>
            </a:r>
            <a:r>
              <a:rPr dirty="0"/>
              <a:t>of</a:t>
            </a:r>
            <a:r>
              <a:rPr dirty="0" spc="-5"/>
              <a:t> </a:t>
            </a:r>
            <a:r>
              <a:rPr dirty="0" spc="-25"/>
              <a:t>CSE</a:t>
            </a:r>
          </a:p>
        </p:txBody>
      </p:sp>
      <p:sp>
        <p:nvSpPr>
          <p:cNvPr id="7" name="object 7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>
                <a:latin typeface="Calibri"/>
                <a:cs typeface="Calibri"/>
              </a:rPr>
              <a:t>17</a:t>
            </a:fld>
          </a:p>
        </p:txBody>
      </p:sp>
      <p:sp>
        <p:nvSpPr>
          <p:cNvPr id="3" name="object 3" descr=""/>
          <p:cNvSpPr txBox="1"/>
          <p:nvPr/>
        </p:nvSpPr>
        <p:spPr>
          <a:xfrm>
            <a:off x="911225" y="1468264"/>
            <a:ext cx="6371590" cy="34486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b="1">
                <a:latin typeface="Times New Roman"/>
                <a:cs typeface="Times New Roman"/>
              </a:rPr>
              <a:t>Decision</a:t>
            </a:r>
            <a:r>
              <a:rPr dirty="0" sz="1700" spc="-65" b="1">
                <a:latin typeface="Times New Roman"/>
                <a:cs typeface="Times New Roman"/>
              </a:rPr>
              <a:t> </a:t>
            </a:r>
            <a:r>
              <a:rPr dirty="0" sz="1700" spc="-10" b="1">
                <a:latin typeface="Times New Roman"/>
                <a:cs typeface="Times New Roman"/>
              </a:rPr>
              <a:t>Threshold </a:t>
            </a:r>
            <a:r>
              <a:rPr dirty="0" sz="1700" spc="-50" b="1">
                <a:latin typeface="Times New Roman"/>
                <a:cs typeface="Times New Roman"/>
              </a:rPr>
              <a:t>:</a:t>
            </a:r>
            <a:endParaRPr sz="1700">
              <a:latin typeface="Times New Roman"/>
              <a:cs typeface="Times New Roman"/>
            </a:endParaRPr>
          </a:p>
          <a:p>
            <a:pPr marL="469265" indent="-358775">
              <a:lnSpc>
                <a:spcPct val="100000"/>
              </a:lnSpc>
              <a:spcBef>
                <a:spcPts val="1505"/>
              </a:spcBef>
              <a:buFont typeface="Tahoma"/>
              <a:buChar char="●"/>
              <a:tabLst>
                <a:tab pos="469265" algn="l"/>
              </a:tabLst>
            </a:pPr>
            <a:r>
              <a:rPr dirty="0" sz="1700">
                <a:latin typeface="Times New Roman"/>
                <a:cs typeface="Times New Roman"/>
              </a:rPr>
              <a:t>Threshold</a:t>
            </a:r>
            <a:r>
              <a:rPr dirty="0" sz="1700" spc="-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=</a:t>
            </a:r>
            <a:r>
              <a:rPr dirty="0" sz="1700" spc="-5">
                <a:latin typeface="Times New Roman"/>
                <a:cs typeface="Times New Roman"/>
              </a:rPr>
              <a:t> </a:t>
            </a:r>
            <a:r>
              <a:rPr dirty="0" sz="1700" spc="-25">
                <a:latin typeface="Times New Roman"/>
                <a:cs typeface="Times New Roman"/>
              </a:rPr>
              <a:t>0.5</a:t>
            </a:r>
            <a:endParaRPr sz="17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695"/>
              </a:spcBef>
              <a:buFont typeface="Tahoma"/>
              <a:buChar char="●"/>
            </a:pPr>
            <a:endParaRPr sz="1700">
              <a:latin typeface="Times New Roman"/>
              <a:cs typeface="Times New Roman"/>
            </a:endParaRPr>
          </a:p>
          <a:p>
            <a:pPr marL="469265" indent="-358775">
              <a:lnSpc>
                <a:spcPct val="100000"/>
              </a:lnSpc>
              <a:buFont typeface="Tahoma"/>
              <a:buChar char="●"/>
              <a:tabLst>
                <a:tab pos="469265" algn="l"/>
              </a:tabLst>
            </a:pPr>
            <a:r>
              <a:rPr dirty="0" sz="1700">
                <a:latin typeface="Times New Roman"/>
                <a:cs typeface="Times New Roman"/>
              </a:rPr>
              <a:t>If</a:t>
            </a:r>
            <a:r>
              <a:rPr dirty="0" sz="1700" spc="-2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final</a:t>
            </a:r>
            <a:r>
              <a:rPr dirty="0" sz="1700" spc="-1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score</a:t>
            </a:r>
            <a:r>
              <a:rPr dirty="0" sz="1700" spc="-2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&gt;</a:t>
            </a:r>
            <a:r>
              <a:rPr dirty="0" sz="1700" spc="-1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0.5</a:t>
            </a:r>
            <a:r>
              <a:rPr dirty="0" sz="1700" spc="-3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→</a:t>
            </a:r>
            <a:r>
              <a:rPr dirty="0" sz="1700" spc="-20">
                <a:latin typeface="Times New Roman"/>
                <a:cs typeface="Times New Roman"/>
              </a:rPr>
              <a:t> </a:t>
            </a:r>
            <a:r>
              <a:rPr dirty="0" sz="1700" spc="-10">
                <a:latin typeface="Times New Roman"/>
                <a:cs typeface="Times New Roman"/>
              </a:rPr>
              <a:t>Monkeypox</a:t>
            </a:r>
            <a:endParaRPr sz="17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700"/>
              </a:spcBef>
              <a:buFont typeface="Tahoma"/>
              <a:buChar char="●"/>
            </a:pPr>
            <a:endParaRPr sz="1700">
              <a:latin typeface="Times New Roman"/>
              <a:cs typeface="Times New Roman"/>
            </a:endParaRPr>
          </a:p>
          <a:p>
            <a:pPr marL="469265" indent="-358775">
              <a:lnSpc>
                <a:spcPct val="100000"/>
              </a:lnSpc>
              <a:buFont typeface="Tahoma"/>
              <a:buChar char="●"/>
              <a:tabLst>
                <a:tab pos="469265" algn="l"/>
              </a:tabLst>
            </a:pPr>
            <a:r>
              <a:rPr dirty="0" sz="1700">
                <a:latin typeface="Times New Roman"/>
                <a:cs typeface="Times New Roman"/>
              </a:rPr>
              <a:t>If</a:t>
            </a:r>
            <a:r>
              <a:rPr dirty="0" sz="1700" spc="-3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final</a:t>
            </a:r>
            <a:r>
              <a:rPr dirty="0" sz="1700" spc="-1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score</a:t>
            </a:r>
            <a:r>
              <a:rPr dirty="0" sz="1700" spc="-15">
                <a:latin typeface="Times New Roman"/>
                <a:cs typeface="Times New Roman"/>
              </a:rPr>
              <a:t> </a:t>
            </a:r>
            <a:r>
              <a:rPr dirty="0" sz="1700" spc="-120">
                <a:latin typeface="Times New Roman"/>
                <a:cs typeface="Times New Roman"/>
              </a:rPr>
              <a:t>≤</a:t>
            </a:r>
            <a:r>
              <a:rPr dirty="0" sz="1700">
                <a:latin typeface="Times New Roman"/>
                <a:cs typeface="Times New Roman"/>
              </a:rPr>
              <a:t> 0.5</a:t>
            </a:r>
            <a:r>
              <a:rPr dirty="0" sz="1700" spc="-2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→</a:t>
            </a:r>
            <a:r>
              <a:rPr dirty="0" sz="1700" spc="-20">
                <a:latin typeface="Times New Roman"/>
                <a:cs typeface="Times New Roman"/>
              </a:rPr>
              <a:t> </a:t>
            </a:r>
            <a:r>
              <a:rPr dirty="0" sz="1700" spc="-10">
                <a:latin typeface="Times New Roman"/>
                <a:cs typeface="Times New Roman"/>
              </a:rPr>
              <a:t>Normal</a:t>
            </a:r>
            <a:endParaRPr sz="17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705"/>
              </a:spcBef>
            </a:pPr>
            <a:r>
              <a:rPr dirty="0" sz="1700" b="1">
                <a:latin typeface="Times New Roman"/>
                <a:cs typeface="Times New Roman"/>
              </a:rPr>
              <a:t>Ensemble</a:t>
            </a:r>
            <a:r>
              <a:rPr dirty="0" sz="1700" spc="-40" b="1">
                <a:latin typeface="Times New Roman"/>
                <a:cs typeface="Times New Roman"/>
              </a:rPr>
              <a:t> </a:t>
            </a:r>
            <a:r>
              <a:rPr dirty="0" sz="1700" b="1">
                <a:latin typeface="Times New Roman"/>
                <a:cs typeface="Times New Roman"/>
              </a:rPr>
              <a:t>Decision</a:t>
            </a:r>
            <a:r>
              <a:rPr dirty="0" sz="1700" spc="-35" b="1">
                <a:latin typeface="Times New Roman"/>
                <a:cs typeface="Times New Roman"/>
              </a:rPr>
              <a:t> </a:t>
            </a:r>
            <a:r>
              <a:rPr dirty="0" sz="1700" spc="-50" b="1">
                <a:latin typeface="Times New Roman"/>
                <a:cs typeface="Times New Roman"/>
              </a:rPr>
              <a:t>:</a:t>
            </a:r>
            <a:endParaRPr sz="1700">
              <a:latin typeface="Times New Roman"/>
              <a:cs typeface="Times New Roman"/>
            </a:endParaRPr>
          </a:p>
          <a:p>
            <a:pPr marL="469265" indent="-358775">
              <a:lnSpc>
                <a:spcPct val="100000"/>
              </a:lnSpc>
              <a:spcBef>
                <a:spcPts val="1505"/>
              </a:spcBef>
              <a:buFont typeface="Tahoma"/>
              <a:buChar char="●"/>
              <a:tabLst>
                <a:tab pos="469265" algn="l"/>
              </a:tabLst>
            </a:pPr>
            <a:r>
              <a:rPr dirty="0" sz="1700">
                <a:latin typeface="Times New Roman"/>
                <a:cs typeface="Times New Roman"/>
              </a:rPr>
              <a:t>The</a:t>
            </a:r>
            <a:r>
              <a:rPr dirty="0" sz="1700" spc="-2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final</a:t>
            </a:r>
            <a:r>
              <a:rPr dirty="0" sz="1700" spc="-1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prediction</a:t>
            </a:r>
            <a:r>
              <a:rPr dirty="0" sz="1700" spc="-1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is</a:t>
            </a:r>
            <a:r>
              <a:rPr dirty="0" sz="1700" spc="-1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based</a:t>
            </a:r>
            <a:r>
              <a:rPr dirty="0" sz="1700" spc="-1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on</a:t>
            </a:r>
            <a:r>
              <a:rPr dirty="0" sz="1700" spc="-1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weighted</a:t>
            </a:r>
            <a:r>
              <a:rPr dirty="0" sz="1700" spc="-1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outputs</a:t>
            </a:r>
            <a:r>
              <a:rPr dirty="0" sz="1700" spc="-1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from</a:t>
            </a:r>
            <a:r>
              <a:rPr dirty="0" sz="1700" spc="-1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three</a:t>
            </a:r>
            <a:r>
              <a:rPr dirty="0" sz="1700" spc="-15">
                <a:latin typeface="Times New Roman"/>
                <a:cs typeface="Times New Roman"/>
              </a:rPr>
              <a:t> </a:t>
            </a:r>
            <a:r>
              <a:rPr dirty="0" sz="1700" spc="-10">
                <a:latin typeface="Times New Roman"/>
                <a:cs typeface="Times New Roman"/>
              </a:rPr>
              <a:t>models</a:t>
            </a:r>
            <a:endParaRPr sz="17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695"/>
              </a:spcBef>
              <a:buFont typeface="Tahoma"/>
              <a:buChar char="●"/>
            </a:pPr>
            <a:endParaRPr sz="1700">
              <a:latin typeface="Times New Roman"/>
              <a:cs typeface="Times New Roman"/>
            </a:endParaRPr>
          </a:p>
          <a:p>
            <a:pPr marL="469265" indent="-358775">
              <a:lnSpc>
                <a:spcPct val="100000"/>
              </a:lnSpc>
              <a:spcBef>
                <a:spcPts val="5"/>
              </a:spcBef>
              <a:buFont typeface="Tahoma"/>
              <a:buChar char="●"/>
              <a:tabLst>
                <a:tab pos="469265" algn="l"/>
              </a:tabLst>
            </a:pPr>
            <a:r>
              <a:rPr dirty="0" sz="1700">
                <a:latin typeface="Times New Roman"/>
                <a:cs typeface="Times New Roman"/>
              </a:rPr>
              <a:t>Combined</a:t>
            </a:r>
            <a:r>
              <a:rPr dirty="0" sz="1700" spc="-4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weighted</a:t>
            </a:r>
            <a:r>
              <a:rPr dirty="0" sz="1700" spc="-3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confidence</a:t>
            </a:r>
            <a:r>
              <a:rPr dirty="0" sz="1700" spc="-3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indicates</a:t>
            </a:r>
            <a:r>
              <a:rPr dirty="0" sz="1700" spc="-40">
                <a:latin typeface="Times New Roman"/>
                <a:cs typeface="Times New Roman"/>
              </a:rPr>
              <a:t> </a:t>
            </a:r>
            <a:r>
              <a:rPr dirty="0" sz="1700" spc="-10">
                <a:latin typeface="Times New Roman"/>
                <a:cs typeface="Times New Roman"/>
              </a:rPr>
              <a:t>Monkeypox</a:t>
            </a:r>
            <a:endParaRPr sz="17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911225" y="896539"/>
            <a:ext cx="4787265" cy="37147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b="1">
                <a:latin typeface="Times New Roman"/>
                <a:cs typeface="Times New Roman"/>
              </a:rPr>
              <a:t>How</a:t>
            </a:r>
            <a:r>
              <a:rPr dirty="0" sz="1700" spc="-25" b="1">
                <a:latin typeface="Times New Roman"/>
                <a:cs typeface="Times New Roman"/>
              </a:rPr>
              <a:t> </a:t>
            </a:r>
            <a:r>
              <a:rPr dirty="0" sz="1700" b="1">
                <a:latin typeface="Times New Roman"/>
                <a:cs typeface="Times New Roman"/>
              </a:rPr>
              <a:t>the</a:t>
            </a:r>
            <a:r>
              <a:rPr dirty="0" sz="1700" spc="-20" b="1">
                <a:latin typeface="Times New Roman"/>
                <a:cs typeface="Times New Roman"/>
              </a:rPr>
              <a:t> </a:t>
            </a:r>
            <a:r>
              <a:rPr dirty="0" sz="1700" spc="-10" b="1">
                <a:latin typeface="Times New Roman"/>
                <a:cs typeface="Times New Roman"/>
              </a:rPr>
              <a:t>Ensemble</a:t>
            </a:r>
            <a:r>
              <a:rPr dirty="0" sz="1700" spc="-70" b="1">
                <a:latin typeface="Times New Roman"/>
                <a:cs typeface="Times New Roman"/>
              </a:rPr>
              <a:t> </a:t>
            </a:r>
            <a:r>
              <a:rPr dirty="0" sz="1700" spc="-20" b="1">
                <a:latin typeface="Times New Roman"/>
                <a:cs typeface="Times New Roman"/>
              </a:rPr>
              <a:t>Works </a:t>
            </a:r>
            <a:r>
              <a:rPr dirty="0" sz="1700" spc="-50" b="1">
                <a:latin typeface="Times New Roman"/>
                <a:cs typeface="Times New Roman"/>
              </a:rPr>
              <a:t>:</a:t>
            </a:r>
            <a:endParaRPr sz="1700">
              <a:latin typeface="Times New Roman"/>
              <a:cs typeface="Times New Roman"/>
            </a:endParaRPr>
          </a:p>
          <a:p>
            <a:pPr marL="469265" indent="-358775">
              <a:lnSpc>
                <a:spcPct val="100000"/>
              </a:lnSpc>
              <a:spcBef>
                <a:spcPts val="1505"/>
              </a:spcBef>
              <a:buFont typeface="Tahoma"/>
              <a:buChar char="●"/>
              <a:tabLst>
                <a:tab pos="469265" algn="l"/>
              </a:tabLst>
            </a:pPr>
            <a:r>
              <a:rPr dirty="0" sz="1700">
                <a:latin typeface="Times New Roman"/>
                <a:cs typeface="Times New Roman"/>
              </a:rPr>
              <a:t>Each</a:t>
            </a:r>
            <a:r>
              <a:rPr dirty="0" sz="1700" spc="-2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model</a:t>
            </a:r>
            <a:r>
              <a:rPr dirty="0" sz="1700" spc="-2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produces</a:t>
            </a:r>
            <a:r>
              <a:rPr dirty="0" sz="1700" spc="-2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its</a:t>
            </a:r>
            <a:r>
              <a:rPr dirty="0" sz="1700" spc="-2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Monkeypox</a:t>
            </a:r>
            <a:r>
              <a:rPr dirty="0" sz="1700" spc="-20">
                <a:latin typeface="Times New Roman"/>
                <a:cs typeface="Times New Roman"/>
              </a:rPr>
              <a:t> </a:t>
            </a:r>
            <a:r>
              <a:rPr dirty="0" sz="1700" spc="-10">
                <a:latin typeface="Times New Roman"/>
                <a:cs typeface="Times New Roman"/>
              </a:rPr>
              <a:t>probability</a:t>
            </a:r>
            <a:endParaRPr sz="17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695"/>
              </a:spcBef>
              <a:buFont typeface="Tahoma"/>
              <a:buChar char="●"/>
            </a:pPr>
            <a:endParaRPr sz="1700">
              <a:latin typeface="Times New Roman"/>
              <a:cs typeface="Times New Roman"/>
            </a:endParaRPr>
          </a:p>
          <a:p>
            <a:pPr marL="469265" indent="-358775">
              <a:lnSpc>
                <a:spcPct val="100000"/>
              </a:lnSpc>
              <a:buFont typeface="Tahoma"/>
              <a:buChar char="●"/>
              <a:tabLst>
                <a:tab pos="469265" algn="l"/>
              </a:tabLst>
            </a:pPr>
            <a:r>
              <a:rPr dirty="0" sz="1700">
                <a:latin typeface="Times New Roman"/>
                <a:cs typeface="Times New Roman"/>
              </a:rPr>
              <a:t>A</a:t>
            </a:r>
            <a:r>
              <a:rPr dirty="0" sz="1700" spc="-2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weighted</a:t>
            </a:r>
            <a:r>
              <a:rPr dirty="0" sz="1700" spc="-2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average</a:t>
            </a:r>
            <a:r>
              <a:rPr dirty="0" sz="1700" spc="-2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is</a:t>
            </a:r>
            <a:r>
              <a:rPr dirty="0" sz="1700" spc="-20">
                <a:latin typeface="Times New Roman"/>
                <a:cs typeface="Times New Roman"/>
              </a:rPr>
              <a:t> </a:t>
            </a:r>
            <a:r>
              <a:rPr dirty="0" sz="1700" spc="-10">
                <a:latin typeface="Times New Roman"/>
                <a:cs typeface="Times New Roman"/>
              </a:rPr>
              <a:t>calculated:</a:t>
            </a:r>
            <a:endParaRPr sz="17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700"/>
              </a:spcBef>
              <a:buFont typeface="Tahoma"/>
              <a:buChar char="●"/>
            </a:pPr>
            <a:endParaRPr sz="1700">
              <a:latin typeface="Times New Roman"/>
              <a:cs typeface="Times New Roman"/>
            </a:endParaRPr>
          </a:p>
          <a:p>
            <a:pPr lvl="1" marL="926465" indent="-358775">
              <a:lnSpc>
                <a:spcPct val="100000"/>
              </a:lnSpc>
              <a:buFont typeface="Tahoma"/>
              <a:buChar char="○"/>
              <a:tabLst>
                <a:tab pos="926465" algn="l"/>
              </a:tabLst>
            </a:pPr>
            <a:r>
              <a:rPr dirty="0" sz="1700">
                <a:latin typeface="Times New Roman"/>
                <a:cs typeface="Times New Roman"/>
              </a:rPr>
              <a:t>EﬃcientNet</a:t>
            </a:r>
            <a:r>
              <a:rPr dirty="0" sz="1700" spc="-5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=</a:t>
            </a:r>
            <a:r>
              <a:rPr dirty="0" sz="1700" spc="-45">
                <a:latin typeface="Times New Roman"/>
                <a:cs typeface="Times New Roman"/>
              </a:rPr>
              <a:t> </a:t>
            </a:r>
            <a:r>
              <a:rPr dirty="0" sz="1700" spc="-25">
                <a:latin typeface="Times New Roman"/>
                <a:cs typeface="Times New Roman"/>
              </a:rPr>
              <a:t>0.2</a:t>
            </a:r>
            <a:endParaRPr sz="1700">
              <a:latin typeface="Times New Roman"/>
              <a:cs typeface="Times New Roman"/>
            </a:endParaRPr>
          </a:p>
          <a:p>
            <a:pPr lvl="1">
              <a:lnSpc>
                <a:spcPct val="100000"/>
              </a:lnSpc>
              <a:spcBef>
                <a:spcPts val="695"/>
              </a:spcBef>
              <a:buFont typeface="Tahoma"/>
              <a:buChar char="○"/>
            </a:pPr>
            <a:endParaRPr sz="1700">
              <a:latin typeface="Times New Roman"/>
              <a:cs typeface="Times New Roman"/>
            </a:endParaRPr>
          </a:p>
          <a:p>
            <a:pPr lvl="1" marL="926465" indent="-358775">
              <a:lnSpc>
                <a:spcPct val="100000"/>
              </a:lnSpc>
              <a:buFont typeface="Tahoma"/>
              <a:buChar char="○"/>
              <a:tabLst>
                <a:tab pos="926465" algn="l"/>
              </a:tabLst>
            </a:pPr>
            <a:r>
              <a:rPr dirty="0" sz="1700">
                <a:latin typeface="Times New Roman"/>
                <a:cs typeface="Times New Roman"/>
              </a:rPr>
              <a:t>DenseNet</a:t>
            </a:r>
            <a:r>
              <a:rPr dirty="0" sz="1700" spc="-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=</a:t>
            </a:r>
            <a:r>
              <a:rPr dirty="0" sz="1700" spc="-5">
                <a:latin typeface="Times New Roman"/>
                <a:cs typeface="Times New Roman"/>
              </a:rPr>
              <a:t> </a:t>
            </a:r>
            <a:r>
              <a:rPr dirty="0" sz="1700" spc="-25">
                <a:latin typeface="Times New Roman"/>
                <a:cs typeface="Times New Roman"/>
              </a:rPr>
              <a:t>0.4</a:t>
            </a:r>
            <a:endParaRPr sz="1700">
              <a:latin typeface="Times New Roman"/>
              <a:cs typeface="Times New Roman"/>
            </a:endParaRPr>
          </a:p>
          <a:p>
            <a:pPr lvl="1">
              <a:lnSpc>
                <a:spcPct val="100000"/>
              </a:lnSpc>
              <a:spcBef>
                <a:spcPts val="695"/>
              </a:spcBef>
              <a:buFont typeface="Tahoma"/>
              <a:buChar char="○"/>
            </a:pPr>
            <a:endParaRPr sz="1700">
              <a:latin typeface="Times New Roman"/>
              <a:cs typeface="Times New Roman"/>
            </a:endParaRPr>
          </a:p>
          <a:p>
            <a:pPr lvl="1" marL="926465" indent="-358775">
              <a:lnSpc>
                <a:spcPct val="100000"/>
              </a:lnSpc>
              <a:spcBef>
                <a:spcPts val="5"/>
              </a:spcBef>
              <a:buFont typeface="Tahoma"/>
              <a:buChar char="○"/>
              <a:tabLst>
                <a:tab pos="926465" algn="l"/>
              </a:tabLst>
            </a:pPr>
            <a:r>
              <a:rPr dirty="0" sz="1700">
                <a:latin typeface="Times New Roman"/>
                <a:cs typeface="Times New Roman"/>
              </a:rPr>
              <a:t>Inception</a:t>
            </a:r>
            <a:r>
              <a:rPr dirty="0" sz="1700" spc="-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=</a:t>
            </a:r>
            <a:r>
              <a:rPr dirty="0" sz="1700" spc="-5">
                <a:latin typeface="Times New Roman"/>
                <a:cs typeface="Times New Roman"/>
              </a:rPr>
              <a:t> </a:t>
            </a:r>
            <a:r>
              <a:rPr dirty="0" sz="1700" spc="-25">
                <a:latin typeface="Times New Roman"/>
                <a:cs typeface="Times New Roman"/>
              </a:rPr>
              <a:t>0.4</a:t>
            </a:r>
            <a:endParaRPr sz="1700">
              <a:latin typeface="Times New Roman"/>
              <a:cs typeface="Times New Roman"/>
            </a:endParaRPr>
          </a:p>
          <a:p>
            <a:pPr lvl="1">
              <a:lnSpc>
                <a:spcPct val="100000"/>
              </a:lnSpc>
              <a:spcBef>
                <a:spcPts val="695"/>
              </a:spcBef>
              <a:buFont typeface="Tahoma"/>
              <a:buChar char="○"/>
            </a:pPr>
            <a:endParaRPr sz="1700">
              <a:latin typeface="Times New Roman"/>
              <a:cs typeface="Times New Roman"/>
            </a:endParaRPr>
          </a:p>
          <a:p>
            <a:pPr marL="469265" indent="-358775">
              <a:lnSpc>
                <a:spcPct val="100000"/>
              </a:lnSpc>
              <a:buFont typeface="Tahoma"/>
              <a:buChar char="●"/>
              <a:tabLst>
                <a:tab pos="469265" algn="l"/>
              </a:tabLst>
            </a:pPr>
            <a:r>
              <a:rPr dirty="0" sz="1700">
                <a:latin typeface="Times New Roman"/>
                <a:cs typeface="Times New Roman"/>
              </a:rPr>
              <a:t>Final</a:t>
            </a:r>
            <a:r>
              <a:rPr dirty="0" sz="1700" spc="-1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combined</a:t>
            </a:r>
            <a:r>
              <a:rPr dirty="0" sz="1700" spc="-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score</a:t>
            </a:r>
            <a:r>
              <a:rPr dirty="0" sz="1700" spc="-1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&gt;</a:t>
            </a:r>
            <a:r>
              <a:rPr dirty="0" sz="1700" spc="-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threshold</a:t>
            </a:r>
            <a:r>
              <a:rPr dirty="0" sz="1700" spc="-2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→</a:t>
            </a:r>
            <a:r>
              <a:rPr dirty="0" sz="1700" spc="-10">
                <a:latin typeface="Times New Roman"/>
                <a:cs typeface="Times New Roman"/>
              </a:rPr>
              <a:t> </a:t>
            </a:r>
            <a:r>
              <a:rPr dirty="0" sz="1700" spc="-10" b="1">
                <a:latin typeface="Times New Roman"/>
                <a:cs typeface="Times New Roman"/>
              </a:rPr>
              <a:t>Monkeypox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4265327" y="6445258"/>
            <a:ext cx="906144" cy="19431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 sz="1200">
                <a:solidFill>
                  <a:srgbClr val="888888"/>
                </a:solidFill>
                <a:latin typeface="Times New Roman"/>
                <a:cs typeface="Times New Roman"/>
              </a:rPr>
              <a:t>Review</a:t>
            </a:r>
            <a:r>
              <a:rPr dirty="0" sz="1200" spc="-3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888888"/>
                </a:solidFill>
                <a:latin typeface="Times New Roman"/>
                <a:cs typeface="Times New Roman"/>
              </a:rPr>
              <a:t>No.</a:t>
            </a:r>
            <a:r>
              <a:rPr dirty="0" sz="1200" spc="26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dirty="0" sz="1200" spc="-50">
                <a:solidFill>
                  <a:srgbClr val="888888"/>
                </a:solidFill>
                <a:latin typeface="Times New Roman"/>
                <a:cs typeface="Times New Roman"/>
              </a:rPr>
              <a:t>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50800">
              <a:lnSpc>
                <a:spcPts val="1410"/>
              </a:lnSpc>
            </a:pPr>
            <a:r>
              <a:rPr dirty="0"/>
              <a:t>Batch</a:t>
            </a:r>
            <a:r>
              <a:rPr dirty="0" spc="-15"/>
              <a:t> </a:t>
            </a:r>
            <a:r>
              <a:rPr dirty="0"/>
              <a:t>No.</a:t>
            </a:r>
            <a:r>
              <a:rPr dirty="0" spc="-15"/>
              <a:t> </a:t>
            </a:r>
            <a:r>
              <a:rPr dirty="0" spc="-25"/>
              <a:t>DB4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60325">
              <a:lnSpc>
                <a:spcPts val="1410"/>
              </a:lnSpc>
            </a:pPr>
            <a:r>
              <a:rPr dirty="0" spc="-10"/>
              <a:t>Department</a:t>
            </a:r>
            <a:r>
              <a:rPr dirty="0" spc="-15"/>
              <a:t> </a:t>
            </a:r>
            <a:r>
              <a:rPr dirty="0"/>
              <a:t>of</a:t>
            </a:r>
            <a:r>
              <a:rPr dirty="0" spc="-5"/>
              <a:t> </a:t>
            </a:r>
            <a:r>
              <a:rPr dirty="0" spc="-25"/>
              <a:t>CSE</a:t>
            </a:r>
          </a:p>
        </p:txBody>
      </p:sp>
      <p:sp>
        <p:nvSpPr>
          <p:cNvPr id="6" name="object 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>
                <a:latin typeface="Calibri"/>
                <a:cs typeface="Calibri"/>
              </a:rPr>
              <a:t>17</a:t>
            </a:fld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32799" y="634572"/>
            <a:ext cx="1320800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5. LIME </a:t>
            </a:r>
            <a:r>
              <a:rPr dirty="0" spc="-50"/>
              <a:t>: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531299" y="1336018"/>
            <a:ext cx="10314305" cy="1958339"/>
          </a:xfrm>
          <a:prstGeom prst="rect">
            <a:avLst/>
          </a:prstGeom>
        </p:spPr>
        <p:txBody>
          <a:bodyPr wrap="square" lIns="0" tIns="41275" rIns="0" bIns="0" rtlCol="0" vert="horz">
            <a:spAutoFit/>
          </a:bodyPr>
          <a:lstStyle/>
          <a:p>
            <a:pPr marL="340360" marR="5080" indent="-322580">
              <a:lnSpc>
                <a:spcPts val="1839"/>
              </a:lnSpc>
              <a:spcBef>
                <a:spcPts val="325"/>
              </a:spcBef>
              <a:buFont typeface="MS PGothic"/>
              <a:buChar char="➔"/>
              <a:tabLst>
                <a:tab pos="342265" algn="l"/>
              </a:tabLst>
            </a:pPr>
            <a:r>
              <a:rPr dirty="0" sz="1700" b="1">
                <a:latin typeface="Times New Roman"/>
                <a:cs typeface="Times New Roman"/>
              </a:rPr>
              <a:t>LIME</a:t>
            </a:r>
            <a:r>
              <a:rPr dirty="0" sz="1700" spc="-15" b="1">
                <a:latin typeface="Times New Roman"/>
                <a:cs typeface="Times New Roman"/>
              </a:rPr>
              <a:t> </a:t>
            </a:r>
            <a:r>
              <a:rPr dirty="0" sz="1700" b="1">
                <a:latin typeface="Times New Roman"/>
                <a:cs typeface="Times New Roman"/>
              </a:rPr>
              <a:t>(Local</a:t>
            </a:r>
            <a:r>
              <a:rPr dirty="0" sz="1700" spc="-15" b="1">
                <a:latin typeface="Times New Roman"/>
                <a:cs typeface="Times New Roman"/>
              </a:rPr>
              <a:t> </a:t>
            </a:r>
            <a:r>
              <a:rPr dirty="0" sz="1700" b="1">
                <a:latin typeface="Times New Roman"/>
                <a:cs typeface="Times New Roman"/>
              </a:rPr>
              <a:t>Interpretable</a:t>
            </a:r>
            <a:r>
              <a:rPr dirty="0" sz="1700" spc="-15" b="1">
                <a:latin typeface="Times New Roman"/>
                <a:cs typeface="Times New Roman"/>
              </a:rPr>
              <a:t> </a:t>
            </a:r>
            <a:r>
              <a:rPr dirty="0" sz="1700" b="1">
                <a:latin typeface="Times New Roman"/>
                <a:cs typeface="Times New Roman"/>
              </a:rPr>
              <a:t>Model-agnostic</a:t>
            </a:r>
            <a:r>
              <a:rPr dirty="0" sz="1700" spc="-15" b="1">
                <a:latin typeface="Times New Roman"/>
                <a:cs typeface="Times New Roman"/>
              </a:rPr>
              <a:t> </a:t>
            </a:r>
            <a:r>
              <a:rPr dirty="0" sz="1700" spc="-10" b="1">
                <a:latin typeface="Times New Roman"/>
                <a:cs typeface="Times New Roman"/>
              </a:rPr>
              <a:t>Explanations)</a:t>
            </a:r>
            <a:r>
              <a:rPr dirty="0" sz="1700" spc="-35" b="1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explains</a:t>
            </a:r>
            <a:r>
              <a:rPr dirty="0" sz="1700" spc="-1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why</a:t>
            </a:r>
            <a:r>
              <a:rPr dirty="0" sz="1700" spc="-1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a</a:t>
            </a:r>
            <a:r>
              <a:rPr dirty="0" sz="1700" spc="-1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model</a:t>
            </a:r>
            <a:r>
              <a:rPr dirty="0" sz="1700" spc="-1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made</a:t>
            </a:r>
            <a:r>
              <a:rPr dirty="0" sz="1700" spc="-1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a</a:t>
            </a:r>
            <a:r>
              <a:rPr dirty="0" sz="1700" spc="-15">
                <a:latin typeface="Times New Roman"/>
                <a:cs typeface="Times New Roman"/>
              </a:rPr>
              <a:t> </a:t>
            </a:r>
            <a:r>
              <a:rPr dirty="0" sz="1700" spc="-10">
                <a:latin typeface="Times New Roman"/>
                <a:cs typeface="Times New Roman"/>
              </a:rPr>
              <a:t>specific</a:t>
            </a:r>
            <a:r>
              <a:rPr dirty="0" sz="1700" spc="-1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decision</a:t>
            </a:r>
            <a:r>
              <a:rPr dirty="0" sz="1700" spc="-1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for</a:t>
            </a:r>
            <a:r>
              <a:rPr dirty="0" sz="1700" spc="-15">
                <a:latin typeface="Times New Roman"/>
                <a:cs typeface="Times New Roman"/>
              </a:rPr>
              <a:t> </a:t>
            </a:r>
            <a:r>
              <a:rPr dirty="0" sz="1700" spc="-25">
                <a:latin typeface="Times New Roman"/>
                <a:cs typeface="Times New Roman"/>
              </a:rPr>
              <a:t>an </a:t>
            </a:r>
            <a:r>
              <a:rPr dirty="0" sz="1700" spc="-25">
                <a:latin typeface="Times New Roman"/>
                <a:cs typeface="Times New Roman"/>
              </a:rPr>
              <a:t>	</a:t>
            </a:r>
            <a:r>
              <a:rPr dirty="0" sz="1700">
                <a:latin typeface="Times New Roman"/>
                <a:cs typeface="Times New Roman"/>
              </a:rPr>
              <a:t>individual</a:t>
            </a:r>
            <a:r>
              <a:rPr dirty="0" sz="1700" spc="-75">
                <a:latin typeface="Times New Roman"/>
                <a:cs typeface="Times New Roman"/>
              </a:rPr>
              <a:t> </a:t>
            </a:r>
            <a:r>
              <a:rPr dirty="0" sz="1700" spc="-10">
                <a:latin typeface="Times New Roman"/>
                <a:cs typeface="Times New Roman"/>
              </a:rPr>
              <a:t>case.</a:t>
            </a:r>
            <a:endParaRPr sz="1700">
              <a:latin typeface="Times New Roman"/>
              <a:cs typeface="Times New Roman"/>
            </a:endParaRPr>
          </a:p>
          <a:p>
            <a:pPr marL="340995" indent="-322580">
              <a:lnSpc>
                <a:spcPct val="100000"/>
              </a:lnSpc>
              <a:spcBef>
                <a:spcPts val="765"/>
              </a:spcBef>
              <a:buFont typeface="MS PGothic"/>
              <a:buChar char="➔"/>
              <a:tabLst>
                <a:tab pos="340995" algn="l"/>
              </a:tabLst>
            </a:pPr>
            <a:r>
              <a:rPr dirty="0" sz="1700" b="1">
                <a:latin typeface="Times New Roman"/>
                <a:cs typeface="Times New Roman"/>
              </a:rPr>
              <a:t>Why</a:t>
            </a:r>
            <a:r>
              <a:rPr dirty="0" sz="1700" spc="-30" b="1">
                <a:latin typeface="Times New Roman"/>
                <a:cs typeface="Times New Roman"/>
              </a:rPr>
              <a:t> </a:t>
            </a:r>
            <a:r>
              <a:rPr dirty="0" sz="1700" b="1">
                <a:latin typeface="Times New Roman"/>
                <a:cs typeface="Times New Roman"/>
              </a:rPr>
              <a:t>it</a:t>
            </a:r>
            <a:r>
              <a:rPr dirty="0" sz="1700" spc="-25" b="1">
                <a:latin typeface="Times New Roman"/>
                <a:cs typeface="Times New Roman"/>
              </a:rPr>
              <a:t> </a:t>
            </a:r>
            <a:r>
              <a:rPr dirty="0" sz="1700" spc="-10" b="1">
                <a:latin typeface="Times New Roman"/>
                <a:cs typeface="Times New Roman"/>
              </a:rPr>
              <a:t>matters</a:t>
            </a:r>
            <a:r>
              <a:rPr dirty="0" sz="1700" spc="-10">
                <a:latin typeface="Times New Roman"/>
                <a:cs typeface="Times New Roman"/>
              </a:rPr>
              <a:t>:</a:t>
            </a:r>
            <a:endParaRPr sz="1700">
              <a:latin typeface="Times New Roman"/>
              <a:cs typeface="Times New Roman"/>
            </a:endParaRPr>
          </a:p>
          <a:p>
            <a:pPr marL="340360" indent="-315595">
              <a:lnSpc>
                <a:spcPct val="100000"/>
              </a:lnSpc>
              <a:spcBef>
                <a:spcPts val="795"/>
              </a:spcBef>
              <a:buFont typeface="MS PGothic"/>
              <a:buChar char="➔"/>
              <a:tabLst>
                <a:tab pos="340360" algn="l"/>
              </a:tabLst>
            </a:pPr>
            <a:r>
              <a:rPr dirty="0" sz="1700">
                <a:latin typeface="Times New Roman"/>
                <a:cs typeface="Times New Roman"/>
              </a:rPr>
              <a:t>Gives</a:t>
            </a:r>
            <a:r>
              <a:rPr dirty="0" sz="1700" spc="-3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us</a:t>
            </a:r>
            <a:r>
              <a:rPr dirty="0" sz="1700" spc="-2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a</a:t>
            </a:r>
            <a:r>
              <a:rPr dirty="0" sz="1700" spc="-2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simple,</a:t>
            </a:r>
            <a:r>
              <a:rPr dirty="0" sz="1700" spc="-2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understandable</a:t>
            </a:r>
            <a:r>
              <a:rPr dirty="0" sz="1700" spc="-2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explanation</a:t>
            </a:r>
            <a:r>
              <a:rPr dirty="0" sz="1700" spc="-2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for</a:t>
            </a:r>
            <a:r>
              <a:rPr dirty="0" sz="1700" spc="-2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each</a:t>
            </a:r>
            <a:r>
              <a:rPr dirty="0" sz="1700" spc="-25">
                <a:latin typeface="Times New Roman"/>
                <a:cs typeface="Times New Roman"/>
              </a:rPr>
              <a:t> </a:t>
            </a:r>
            <a:r>
              <a:rPr dirty="0" sz="1700" spc="-10">
                <a:latin typeface="Times New Roman"/>
                <a:cs typeface="Times New Roman"/>
              </a:rPr>
              <a:t>prediction.</a:t>
            </a:r>
            <a:endParaRPr sz="1700">
              <a:latin typeface="Times New Roman"/>
              <a:cs typeface="Times New Roman"/>
            </a:endParaRPr>
          </a:p>
          <a:p>
            <a:pPr marL="340360" indent="-315595">
              <a:lnSpc>
                <a:spcPct val="100000"/>
              </a:lnSpc>
              <a:spcBef>
                <a:spcPts val="800"/>
              </a:spcBef>
              <a:buFont typeface="MS PGothic"/>
              <a:buChar char="➔"/>
              <a:tabLst>
                <a:tab pos="340360" algn="l"/>
              </a:tabLst>
            </a:pPr>
            <a:r>
              <a:rPr dirty="0" sz="1700">
                <a:latin typeface="Times New Roman"/>
                <a:cs typeface="Times New Roman"/>
              </a:rPr>
              <a:t>Explains</a:t>
            </a:r>
            <a:r>
              <a:rPr dirty="0" sz="1700" spc="-1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individual</a:t>
            </a:r>
            <a:r>
              <a:rPr dirty="0" sz="1700" spc="-1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predictions</a:t>
            </a:r>
            <a:r>
              <a:rPr dirty="0" sz="1700" spc="-1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(one</a:t>
            </a:r>
            <a:r>
              <a:rPr dirty="0" sz="1700" spc="-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image</a:t>
            </a:r>
            <a:r>
              <a:rPr dirty="0" sz="1700" spc="-1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at</a:t>
            </a:r>
            <a:r>
              <a:rPr dirty="0" sz="1700" spc="-1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a</a:t>
            </a:r>
            <a:r>
              <a:rPr dirty="0" sz="1700" spc="-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time)</a:t>
            </a:r>
            <a:r>
              <a:rPr dirty="0" sz="1700" spc="-1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rather</a:t>
            </a:r>
            <a:r>
              <a:rPr dirty="0" sz="1700" spc="-1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than</a:t>
            </a:r>
            <a:r>
              <a:rPr dirty="0" sz="1700" spc="-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the</a:t>
            </a:r>
            <a:r>
              <a:rPr dirty="0" sz="1700" spc="-1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model</a:t>
            </a:r>
            <a:r>
              <a:rPr dirty="0" sz="1700" spc="-1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as</a:t>
            </a:r>
            <a:r>
              <a:rPr dirty="0" sz="1700" spc="-1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a</a:t>
            </a:r>
            <a:r>
              <a:rPr dirty="0" sz="1700" spc="-5">
                <a:latin typeface="Times New Roman"/>
                <a:cs typeface="Times New Roman"/>
              </a:rPr>
              <a:t> </a:t>
            </a:r>
            <a:r>
              <a:rPr dirty="0" sz="1700" spc="-10">
                <a:latin typeface="Times New Roman"/>
                <a:cs typeface="Times New Roman"/>
              </a:rPr>
              <a:t>whole.</a:t>
            </a:r>
            <a:endParaRPr sz="1700">
              <a:latin typeface="Times New Roman"/>
              <a:cs typeface="Times New Roman"/>
            </a:endParaRPr>
          </a:p>
          <a:p>
            <a:pPr marL="340995" indent="-328295">
              <a:lnSpc>
                <a:spcPct val="100000"/>
              </a:lnSpc>
              <a:spcBef>
                <a:spcPts val="795"/>
              </a:spcBef>
              <a:buFont typeface="MS PGothic"/>
              <a:buChar char="➔"/>
              <a:tabLst>
                <a:tab pos="340995" algn="l"/>
              </a:tabLst>
            </a:pPr>
            <a:r>
              <a:rPr dirty="0" sz="1700">
                <a:latin typeface="Times New Roman"/>
                <a:cs typeface="Times New Roman"/>
              </a:rPr>
              <a:t>Divides</a:t>
            </a:r>
            <a:r>
              <a:rPr dirty="0" sz="1700" spc="-2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an</a:t>
            </a:r>
            <a:r>
              <a:rPr dirty="0" sz="1700" spc="-2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image</a:t>
            </a:r>
            <a:r>
              <a:rPr dirty="0" sz="1700" spc="-2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into</a:t>
            </a:r>
            <a:r>
              <a:rPr dirty="0" sz="1700" spc="-2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small</a:t>
            </a:r>
            <a:r>
              <a:rPr dirty="0" sz="1700" spc="-2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regions</a:t>
            </a:r>
            <a:r>
              <a:rPr dirty="0" sz="1700" spc="-2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(called</a:t>
            </a:r>
            <a:r>
              <a:rPr dirty="0" sz="1700" spc="-2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superpixels)</a:t>
            </a:r>
            <a:r>
              <a:rPr dirty="0" sz="1700" spc="-2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and</a:t>
            </a:r>
            <a:r>
              <a:rPr dirty="0" sz="1700" spc="-2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studies</a:t>
            </a:r>
            <a:r>
              <a:rPr dirty="0" sz="1700" spc="-2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how</a:t>
            </a:r>
            <a:r>
              <a:rPr dirty="0" sz="1700" spc="-2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each</a:t>
            </a:r>
            <a:r>
              <a:rPr dirty="0" sz="1700" spc="-2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region</a:t>
            </a:r>
            <a:r>
              <a:rPr dirty="0" sz="1700" spc="-2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aﬀects</a:t>
            </a:r>
            <a:r>
              <a:rPr dirty="0" sz="1700" spc="-2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the</a:t>
            </a:r>
            <a:r>
              <a:rPr dirty="0" sz="1700" spc="-25">
                <a:latin typeface="Times New Roman"/>
                <a:cs typeface="Times New Roman"/>
              </a:rPr>
              <a:t> </a:t>
            </a:r>
            <a:r>
              <a:rPr dirty="0" sz="1700" spc="-10">
                <a:latin typeface="Times New Roman"/>
                <a:cs typeface="Times New Roman"/>
              </a:rPr>
              <a:t>prediction.</a:t>
            </a:r>
            <a:endParaRPr sz="1700">
              <a:latin typeface="Times New Roman"/>
              <a:cs typeface="Times New Roman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9550" y="3415574"/>
            <a:ext cx="11572874" cy="2970776"/>
          </a:xfrm>
          <a:prstGeom prst="rect">
            <a:avLst/>
          </a:prstGeom>
        </p:spPr>
      </p:pic>
      <p:sp>
        <p:nvSpPr>
          <p:cNvPr id="5" name="object 5" descr=""/>
          <p:cNvSpPr txBox="1"/>
          <p:nvPr/>
        </p:nvSpPr>
        <p:spPr>
          <a:xfrm>
            <a:off x="4303427" y="6581808"/>
            <a:ext cx="829944" cy="19431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 sz="1200">
                <a:solidFill>
                  <a:srgbClr val="888888"/>
                </a:solidFill>
                <a:latin typeface="Times New Roman"/>
                <a:cs typeface="Times New Roman"/>
              </a:rPr>
              <a:t>Review</a:t>
            </a:r>
            <a:r>
              <a:rPr dirty="0" sz="1200" spc="-7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dirty="0" sz="1200" spc="-20">
                <a:solidFill>
                  <a:srgbClr val="888888"/>
                </a:solidFill>
                <a:latin typeface="Times New Roman"/>
                <a:cs typeface="Times New Roman"/>
              </a:rPr>
              <a:t>No.1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6" name="object 6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36550" rIns="0" bIns="0" rtlCol="0" vert="horz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/>
              <a:t>Batch</a:t>
            </a:r>
            <a:r>
              <a:rPr dirty="0" spc="-15"/>
              <a:t> </a:t>
            </a:r>
            <a:r>
              <a:rPr dirty="0"/>
              <a:t>No.</a:t>
            </a:r>
            <a:r>
              <a:rPr dirty="0" spc="-15"/>
              <a:t> </a:t>
            </a:r>
            <a:r>
              <a:rPr dirty="0" spc="-25"/>
              <a:t>DB4</a:t>
            </a:r>
          </a:p>
        </p:txBody>
      </p:sp>
      <p:sp>
        <p:nvSpPr>
          <p:cNvPr id="7" name="object 7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136550" rIns="0" bIns="0" rtlCol="0" vert="horz">
            <a:spAutoFit/>
          </a:bodyPr>
          <a:lstStyle/>
          <a:p>
            <a:pPr marL="22225">
              <a:lnSpc>
                <a:spcPts val="1410"/>
              </a:lnSpc>
            </a:pPr>
            <a:r>
              <a:rPr dirty="0" spc="-10"/>
              <a:t>Department</a:t>
            </a:r>
            <a:r>
              <a:rPr dirty="0" spc="-15"/>
              <a:t> </a:t>
            </a:r>
            <a:r>
              <a:rPr dirty="0"/>
              <a:t>of</a:t>
            </a:r>
            <a:r>
              <a:rPr dirty="0" spc="-5"/>
              <a:t> </a:t>
            </a:r>
            <a:r>
              <a:rPr dirty="0" spc="-25"/>
              <a:t>CSE</a:t>
            </a:r>
          </a:p>
        </p:txBody>
      </p:sp>
      <p:sp>
        <p:nvSpPr>
          <p:cNvPr id="8" name="object 8" descr=""/>
          <p:cNvSpPr txBox="1"/>
          <p:nvPr/>
        </p:nvSpPr>
        <p:spPr>
          <a:xfrm>
            <a:off x="11102950" y="6581795"/>
            <a:ext cx="177800" cy="19431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 sz="1200" spc="-25">
                <a:solidFill>
                  <a:srgbClr val="888888"/>
                </a:solidFill>
                <a:latin typeface="Times New Roman"/>
                <a:cs typeface="Times New Roman"/>
              </a:rPr>
              <a:t>20</a:t>
            </a:r>
            <a:endParaRPr sz="1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5900" y="548217"/>
            <a:ext cx="6904990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MonkeyPox</a:t>
            </a:r>
            <a:r>
              <a:rPr dirty="0" spc="-65"/>
              <a:t> </a:t>
            </a:r>
            <a:r>
              <a:rPr dirty="0"/>
              <a:t>Prediction</a:t>
            </a:r>
            <a:r>
              <a:rPr dirty="0" spc="-75"/>
              <a:t> </a:t>
            </a:r>
            <a:r>
              <a:rPr dirty="0" spc="-55"/>
              <a:t>Web</a:t>
            </a:r>
            <a:r>
              <a:rPr dirty="0" spc="-135"/>
              <a:t> </a:t>
            </a:r>
            <a:r>
              <a:rPr dirty="0"/>
              <a:t>Application</a:t>
            </a:r>
            <a:r>
              <a:rPr dirty="0" spc="-40"/>
              <a:t> </a:t>
            </a:r>
            <a:r>
              <a:rPr dirty="0" spc="-10"/>
              <a:t>Integration:</a:t>
            </a:r>
          </a:p>
        </p:txBody>
      </p:sp>
      <p:sp>
        <p:nvSpPr>
          <p:cNvPr id="4" name="object 4" descr=""/>
          <p:cNvSpPr txBox="1"/>
          <p:nvPr/>
        </p:nvSpPr>
        <p:spPr>
          <a:xfrm>
            <a:off x="4265327" y="6445270"/>
            <a:ext cx="906144" cy="19431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 sz="1200">
                <a:solidFill>
                  <a:srgbClr val="888888"/>
                </a:solidFill>
                <a:latin typeface="Times New Roman"/>
                <a:cs typeface="Times New Roman"/>
              </a:rPr>
              <a:t>Review</a:t>
            </a:r>
            <a:r>
              <a:rPr dirty="0" sz="1200" spc="-3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888888"/>
                </a:solidFill>
                <a:latin typeface="Times New Roman"/>
                <a:cs typeface="Times New Roman"/>
              </a:rPr>
              <a:t>No.</a:t>
            </a:r>
            <a:r>
              <a:rPr dirty="0" sz="1200" spc="26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dirty="0" sz="1200" spc="-50">
                <a:solidFill>
                  <a:srgbClr val="888888"/>
                </a:solidFill>
                <a:latin typeface="Times New Roman"/>
                <a:cs typeface="Times New Roman"/>
              </a:rPr>
              <a:t>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5" name="object 5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50800">
              <a:lnSpc>
                <a:spcPts val="1410"/>
              </a:lnSpc>
            </a:pPr>
            <a:r>
              <a:rPr dirty="0"/>
              <a:t>Batch</a:t>
            </a:r>
            <a:r>
              <a:rPr dirty="0" spc="-15"/>
              <a:t> </a:t>
            </a:r>
            <a:r>
              <a:rPr dirty="0"/>
              <a:t>No.</a:t>
            </a:r>
            <a:r>
              <a:rPr dirty="0" spc="-15"/>
              <a:t> </a:t>
            </a:r>
            <a:r>
              <a:rPr dirty="0" spc="-25"/>
              <a:t>DB4</a:t>
            </a:r>
          </a:p>
        </p:txBody>
      </p:sp>
      <p:sp>
        <p:nvSpPr>
          <p:cNvPr id="6" name="object 6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60325">
              <a:lnSpc>
                <a:spcPts val="1410"/>
              </a:lnSpc>
            </a:pPr>
            <a:r>
              <a:rPr dirty="0" spc="-10"/>
              <a:t>Department</a:t>
            </a:r>
            <a:r>
              <a:rPr dirty="0" spc="-15"/>
              <a:t> </a:t>
            </a:r>
            <a:r>
              <a:rPr dirty="0"/>
              <a:t>of</a:t>
            </a:r>
            <a:r>
              <a:rPr dirty="0" spc="-5"/>
              <a:t> </a:t>
            </a:r>
            <a:r>
              <a:rPr dirty="0" spc="-25"/>
              <a:t>CSE</a:t>
            </a:r>
          </a:p>
        </p:txBody>
      </p:sp>
      <p:sp>
        <p:nvSpPr>
          <p:cNvPr id="7" name="object 7" descr=""/>
          <p:cNvSpPr txBox="1"/>
          <p:nvPr/>
        </p:nvSpPr>
        <p:spPr>
          <a:xfrm>
            <a:off x="11102975" y="6445270"/>
            <a:ext cx="177800" cy="19431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 sz="1200" spc="-25">
                <a:solidFill>
                  <a:srgbClr val="888888"/>
                </a:solidFill>
                <a:latin typeface="Times New Roman"/>
                <a:cs typeface="Times New Roman"/>
              </a:rPr>
              <a:t>21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541025" y="898120"/>
            <a:ext cx="10063480" cy="4940935"/>
          </a:xfrm>
          <a:prstGeom prst="rect">
            <a:avLst/>
          </a:prstGeom>
        </p:spPr>
        <p:txBody>
          <a:bodyPr wrap="square" lIns="0" tIns="113664" rIns="0" bIns="0" rtlCol="0" vert="horz">
            <a:spAutoFit/>
          </a:bodyPr>
          <a:lstStyle/>
          <a:p>
            <a:pPr marL="65405">
              <a:lnSpc>
                <a:spcPct val="100000"/>
              </a:lnSpc>
              <a:spcBef>
                <a:spcPts val="894"/>
              </a:spcBef>
            </a:pPr>
            <a:r>
              <a:rPr dirty="0" sz="1700" spc="-20" b="1">
                <a:latin typeface="Times New Roman"/>
                <a:cs typeface="Times New Roman"/>
              </a:rPr>
              <a:t>Technologies</a:t>
            </a:r>
            <a:r>
              <a:rPr dirty="0" sz="1700" spc="-10" b="1">
                <a:latin typeface="Times New Roman"/>
                <a:cs typeface="Times New Roman"/>
              </a:rPr>
              <a:t> </a:t>
            </a:r>
            <a:r>
              <a:rPr dirty="0" sz="1700" spc="-20" b="1">
                <a:latin typeface="Times New Roman"/>
                <a:cs typeface="Times New Roman"/>
              </a:rPr>
              <a:t>Used:</a:t>
            </a:r>
            <a:endParaRPr sz="1700">
              <a:latin typeface="Times New Roman"/>
              <a:cs typeface="Times New Roman"/>
            </a:endParaRPr>
          </a:p>
          <a:p>
            <a:pPr marL="294640" indent="-177800">
              <a:lnSpc>
                <a:spcPct val="100000"/>
              </a:lnSpc>
              <a:spcBef>
                <a:spcPts val="795"/>
              </a:spcBef>
              <a:buFont typeface="Arial"/>
              <a:buChar char="•"/>
              <a:tabLst>
                <a:tab pos="294640" algn="l"/>
              </a:tabLst>
            </a:pPr>
            <a:r>
              <a:rPr dirty="0" sz="1700" b="1">
                <a:latin typeface="Times New Roman"/>
                <a:cs typeface="Times New Roman"/>
              </a:rPr>
              <a:t>Frontend</a:t>
            </a:r>
            <a:r>
              <a:rPr dirty="0" sz="1700">
                <a:latin typeface="Times New Roman"/>
                <a:cs typeface="Times New Roman"/>
              </a:rPr>
              <a:t>:</a:t>
            </a:r>
            <a:r>
              <a:rPr dirty="0" sz="1700" spc="-3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HTML,</a:t>
            </a:r>
            <a:r>
              <a:rPr dirty="0" sz="1700" spc="-3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CSS,</a:t>
            </a:r>
            <a:r>
              <a:rPr dirty="0" sz="1700" spc="-3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JavaScript</a:t>
            </a:r>
            <a:r>
              <a:rPr dirty="0" sz="1700" spc="-3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(User</a:t>
            </a:r>
            <a:r>
              <a:rPr dirty="0" sz="1700" spc="-2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interface</a:t>
            </a:r>
            <a:r>
              <a:rPr dirty="0" sz="1700" spc="-3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for</a:t>
            </a:r>
            <a:r>
              <a:rPr dirty="0" sz="1700" spc="-3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input</a:t>
            </a:r>
            <a:r>
              <a:rPr dirty="0" sz="1700" spc="-3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and</a:t>
            </a:r>
            <a:r>
              <a:rPr dirty="0" sz="1700" spc="-25">
                <a:latin typeface="Times New Roman"/>
                <a:cs typeface="Times New Roman"/>
              </a:rPr>
              <a:t> </a:t>
            </a:r>
            <a:r>
              <a:rPr dirty="0" sz="1700" spc="-10">
                <a:latin typeface="Times New Roman"/>
                <a:cs typeface="Times New Roman"/>
              </a:rPr>
              <a:t>display)</a:t>
            </a:r>
            <a:endParaRPr sz="1700">
              <a:latin typeface="Times New Roman"/>
              <a:cs typeface="Times New Roman"/>
            </a:endParaRPr>
          </a:p>
          <a:p>
            <a:pPr marL="294640" indent="-177800">
              <a:lnSpc>
                <a:spcPct val="100000"/>
              </a:lnSpc>
              <a:spcBef>
                <a:spcPts val="795"/>
              </a:spcBef>
              <a:buFont typeface="Arial"/>
              <a:buChar char="•"/>
              <a:tabLst>
                <a:tab pos="294640" algn="l"/>
              </a:tabLst>
            </a:pPr>
            <a:r>
              <a:rPr dirty="0" sz="1700" b="1">
                <a:latin typeface="Times New Roman"/>
                <a:cs typeface="Times New Roman"/>
              </a:rPr>
              <a:t>Backend</a:t>
            </a:r>
            <a:r>
              <a:rPr dirty="0" sz="1700">
                <a:latin typeface="Times New Roman"/>
                <a:cs typeface="Times New Roman"/>
              </a:rPr>
              <a:t>:</a:t>
            </a:r>
            <a:r>
              <a:rPr dirty="0" sz="1700" spc="-3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Flask</a:t>
            </a:r>
            <a:r>
              <a:rPr dirty="0" sz="1700" spc="-3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(Handling</a:t>
            </a:r>
            <a:r>
              <a:rPr dirty="0" sz="1700" spc="-3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model</a:t>
            </a:r>
            <a:r>
              <a:rPr dirty="0" sz="1700" spc="-3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integration</a:t>
            </a:r>
            <a:r>
              <a:rPr dirty="0" sz="1700" spc="-3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and</a:t>
            </a:r>
            <a:r>
              <a:rPr dirty="0" sz="1700" spc="-2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data</a:t>
            </a:r>
            <a:r>
              <a:rPr dirty="0" sz="1700" spc="-30">
                <a:latin typeface="Times New Roman"/>
                <a:cs typeface="Times New Roman"/>
              </a:rPr>
              <a:t> </a:t>
            </a:r>
            <a:r>
              <a:rPr dirty="0" sz="1700" spc="-10">
                <a:latin typeface="Times New Roman"/>
                <a:cs typeface="Times New Roman"/>
              </a:rPr>
              <a:t>processing)</a:t>
            </a:r>
            <a:endParaRPr sz="1700">
              <a:latin typeface="Times New Roman"/>
              <a:cs typeface="Times New Roman"/>
            </a:endParaRPr>
          </a:p>
          <a:p>
            <a:pPr marL="294640" indent="-177800">
              <a:lnSpc>
                <a:spcPct val="100000"/>
              </a:lnSpc>
              <a:spcBef>
                <a:spcPts val="795"/>
              </a:spcBef>
              <a:buFont typeface="Arial"/>
              <a:buChar char="•"/>
              <a:tabLst>
                <a:tab pos="294640" algn="l"/>
              </a:tabLst>
            </a:pPr>
            <a:r>
              <a:rPr dirty="0" sz="1700" b="1">
                <a:latin typeface="Times New Roman"/>
                <a:cs typeface="Times New Roman"/>
              </a:rPr>
              <a:t>DeepLearning</a:t>
            </a:r>
            <a:r>
              <a:rPr dirty="0" sz="1700">
                <a:latin typeface="Times New Roman"/>
                <a:cs typeface="Times New Roman"/>
              </a:rPr>
              <a:t>:</a:t>
            </a:r>
            <a:r>
              <a:rPr dirty="0" sz="1700" spc="-1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InceptionV3,</a:t>
            </a:r>
            <a:r>
              <a:rPr dirty="0" sz="1700" spc="-1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DenseNet121,</a:t>
            </a:r>
            <a:r>
              <a:rPr dirty="0" sz="1700" spc="-1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and</a:t>
            </a:r>
            <a:r>
              <a:rPr dirty="0" sz="1700" spc="-10">
                <a:latin typeface="Times New Roman"/>
                <a:cs typeface="Times New Roman"/>
              </a:rPr>
              <a:t> EﬃcientNetV2-</a:t>
            </a:r>
            <a:r>
              <a:rPr dirty="0" sz="1700">
                <a:latin typeface="Times New Roman"/>
                <a:cs typeface="Times New Roman"/>
              </a:rPr>
              <a:t>S</a:t>
            </a:r>
            <a:r>
              <a:rPr dirty="0" sz="1700" spc="-1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(Prediction</a:t>
            </a:r>
            <a:r>
              <a:rPr dirty="0" sz="1700" spc="-10">
                <a:latin typeface="Times New Roman"/>
                <a:cs typeface="Times New Roman"/>
              </a:rPr>
              <a:t> models)</a:t>
            </a:r>
            <a:endParaRPr sz="1700">
              <a:latin typeface="Times New Roman"/>
              <a:cs typeface="Times New Roman"/>
            </a:endParaRPr>
          </a:p>
          <a:p>
            <a:pPr marL="294640" indent="-177800">
              <a:lnSpc>
                <a:spcPct val="100000"/>
              </a:lnSpc>
              <a:spcBef>
                <a:spcPts val="800"/>
              </a:spcBef>
              <a:buFont typeface="Arial"/>
              <a:buChar char="•"/>
              <a:tabLst>
                <a:tab pos="294640" algn="l"/>
              </a:tabLst>
            </a:pPr>
            <a:r>
              <a:rPr dirty="0" sz="1700" spc="-10" b="1">
                <a:latin typeface="Times New Roman"/>
                <a:cs typeface="Times New Roman"/>
              </a:rPr>
              <a:t>Interpretability</a:t>
            </a:r>
            <a:r>
              <a:rPr dirty="0" sz="1700" spc="-50" b="1">
                <a:latin typeface="Times New Roman"/>
                <a:cs typeface="Times New Roman"/>
              </a:rPr>
              <a:t> </a:t>
            </a:r>
            <a:r>
              <a:rPr dirty="0" sz="1700" spc="-25" b="1">
                <a:latin typeface="Times New Roman"/>
                <a:cs typeface="Times New Roman"/>
              </a:rPr>
              <a:t>Tools</a:t>
            </a:r>
            <a:r>
              <a:rPr dirty="0" sz="1700" spc="-25">
                <a:latin typeface="Times New Roman"/>
                <a:cs typeface="Times New Roman"/>
              </a:rPr>
              <a:t>:</a:t>
            </a:r>
            <a:r>
              <a:rPr dirty="0" sz="1700" spc="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LIME</a:t>
            </a:r>
            <a:r>
              <a:rPr dirty="0" sz="1700" spc="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(Explaining</a:t>
            </a:r>
            <a:r>
              <a:rPr dirty="0" sz="1700" spc="5">
                <a:latin typeface="Times New Roman"/>
                <a:cs typeface="Times New Roman"/>
              </a:rPr>
              <a:t> </a:t>
            </a:r>
            <a:r>
              <a:rPr dirty="0" sz="1700" spc="-10">
                <a:latin typeface="Times New Roman"/>
                <a:cs typeface="Times New Roman"/>
              </a:rPr>
              <a:t>predictions)</a:t>
            </a:r>
            <a:endParaRPr sz="17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675"/>
              </a:spcBef>
            </a:pPr>
            <a:endParaRPr sz="1700">
              <a:latin typeface="Times New Roman"/>
              <a:cs typeface="Times New Roman"/>
            </a:endParaRPr>
          </a:p>
          <a:p>
            <a:pPr marL="65405">
              <a:lnSpc>
                <a:spcPct val="100000"/>
              </a:lnSpc>
            </a:pPr>
            <a:r>
              <a:rPr dirty="0" sz="1700" b="1">
                <a:latin typeface="Times New Roman"/>
                <a:cs typeface="Times New Roman"/>
              </a:rPr>
              <a:t>How</a:t>
            </a:r>
            <a:r>
              <a:rPr dirty="0" sz="1700" spc="-20" b="1">
                <a:latin typeface="Times New Roman"/>
                <a:cs typeface="Times New Roman"/>
              </a:rPr>
              <a:t> </a:t>
            </a:r>
            <a:r>
              <a:rPr dirty="0" sz="1700" b="1">
                <a:latin typeface="Times New Roman"/>
                <a:cs typeface="Times New Roman"/>
              </a:rPr>
              <a:t>It</a:t>
            </a:r>
            <a:r>
              <a:rPr dirty="0" sz="1700" spc="-70" b="1">
                <a:latin typeface="Times New Roman"/>
                <a:cs typeface="Times New Roman"/>
              </a:rPr>
              <a:t> </a:t>
            </a:r>
            <a:r>
              <a:rPr dirty="0" sz="1700" spc="-10" b="1">
                <a:latin typeface="Times New Roman"/>
                <a:cs typeface="Times New Roman"/>
              </a:rPr>
              <a:t>Works:</a:t>
            </a:r>
            <a:endParaRPr sz="1700">
              <a:latin typeface="Times New Roman"/>
              <a:cs typeface="Times New Roman"/>
            </a:endParaRPr>
          </a:p>
          <a:p>
            <a:pPr marL="294005" indent="-265430">
              <a:lnSpc>
                <a:spcPct val="100000"/>
              </a:lnSpc>
              <a:spcBef>
                <a:spcPts val="795"/>
              </a:spcBef>
              <a:buFont typeface="Calibri"/>
              <a:buAutoNum type="arabicPeriod"/>
              <a:tabLst>
                <a:tab pos="294005" algn="l"/>
              </a:tabLst>
            </a:pPr>
            <a:r>
              <a:rPr dirty="0" sz="1700">
                <a:latin typeface="Times New Roman"/>
                <a:cs typeface="Times New Roman"/>
              </a:rPr>
              <a:t>User</a:t>
            </a:r>
            <a:r>
              <a:rPr dirty="0" sz="1700" spc="-1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uploads</a:t>
            </a:r>
            <a:r>
              <a:rPr dirty="0" sz="1700" spc="-1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a</a:t>
            </a:r>
            <a:r>
              <a:rPr dirty="0" sz="1700" spc="-1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skin</a:t>
            </a:r>
            <a:r>
              <a:rPr dirty="0" sz="1700" spc="-1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image</a:t>
            </a:r>
            <a:r>
              <a:rPr dirty="0" sz="1700" spc="-1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(Monkeypox</a:t>
            </a:r>
            <a:r>
              <a:rPr dirty="0" sz="1700" spc="-1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or</a:t>
            </a:r>
            <a:r>
              <a:rPr dirty="0" sz="1700" spc="-10">
                <a:latin typeface="Times New Roman"/>
                <a:cs typeface="Times New Roman"/>
              </a:rPr>
              <a:t> Normal).</a:t>
            </a:r>
            <a:endParaRPr sz="1700">
              <a:latin typeface="Times New Roman"/>
              <a:cs typeface="Times New Roman"/>
            </a:endParaRPr>
          </a:p>
          <a:p>
            <a:pPr marL="294005" indent="-265430">
              <a:lnSpc>
                <a:spcPct val="100000"/>
              </a:lnSpc>
              <a:spcBef>
                <a:spcPts val="800"/>
              </a:spcBef>
              <a:buFont typeface="Calibri"/>
              <a:buAutoNum type="arabicPeriod"/>
              <a:tabLst>
                <a:tab pos="294005" algn="l"/>
              </a:tabLst>
            </a:pPr>
            <a:r>
              <a:rPr dirty="0" sz="1700">
                <a:latin typeface="Times New Roman"/>
                <a:cs typeface="Times New Roman"/>
              </a:rPr>
              <a:t>Preprocessing</a:t>
            </a:r>
            <a:r>
              <a:rPr dirty="0" sz="1700" spc="-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&amp;</a:t>
            </a:r>
            <a:r>
              <a:rPr dirty="0" sz="1700" spc="-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Data</a:t>
            </a:r>
            <a:r>
              <a:rPr dirty="0" sz="1700" spc="-10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Augmentation</a:t>
            </a:r>
            <a:r>
              <a:rPr dirty="0" sz="1700" spc="-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steps resize,</a:t>
            </a:r>
            <a:r>
              <a:rPr dirty="0" sz="1700" spc="-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normalize,</a:t>
            </a:r>
            <a:r>
              <a:rPr dirty="0" sz="1700" spc="-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and</a:t>
            </a:r>
            <a:r>
              <a:rPr dirty="0" sz="1700" spc="-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enhance</a:t>
            </a:r>
            <a:r>
              <a:rPr dirty="0" sz="1700" spc="-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the</a:t>
            </a:r>
            <a:r>
              <a:rPr dirty="0" sz="1700" spc="-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image for</a:t>
            </a:r>
            <a:r>
              <a:rPr dirty="0" sz="1700" spc="-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model</a:t>
            </a:r>
            <a:r>
              <a:rPr dirty="0" sz="1700" spc="-5">
                <a:latin typeface="Times New Roman"/>
                <a:cs typeface="Times New Roman"/>
              </a:rPr>
              <a:t> </a:t>
            </a:r>
            <a:r>
              <a:rPr dirty="0" sz="1700" spc="-10">
                <a:latin typeface="Times New Roman"/>
                <a:cs typeface="Times New Roman"/>
              </a:rPr>
              <a:t>compatibility.</a:t>
            </a:r>
            <a:endParaRPr sz="1700">
              <a:latin typeface="Times New Roman"/>
              <a:cs typeface="Times New Roman"/>
            </a:endParaRPr>
          </a:p>
          <a:p>
            <a:pPr marL="294005" indent="-265430">
              <a:lnSpc>
                <a:spcPct val="100000"/>
              </a:lnSpc>
              <a:spcBef>
                <a:spcPts val="795"/>
              </a:spcBef>
              <a:buFont typeface="Calibri"/>
              <a:buAutoNum type="arabicPeriod"/>
              <a:tabLst>
                <a:tab pos="294005" algn="l"/>
              </a:tabLst>
            </a:pPr>
            <a:r>
              <a:rPr dirty="0" sz="1700">
                <a:latin typeface="Times New Roman"/>
                <a:cs typeface="Times New Roman"/>
              </a:rPr>
              <a:t>The image is passed through the trained CNN model </a:t>
            </a:r>
            <a:r>
              <a:rPr dirty="0" sz="1700" spc="-10">
                <a:latin typeface="Times New Roman"/>
                <a:cs typeface="Times New Roman"/>
              </a:rPr>
              <a:t>(EﬃcientNetV2-</a:t>
            </a:r>
            <a:r>
              <a:rPr dirty="0" sz="1700">
                <a:latin typeface="Times New Roman"/>
                <a:cs typeface="Times New Roman"/>
              </a:rPr>
              <a:t>S, DenseNet121, or </a:t>
            </a:r>
            <a:r>
              <a:rPr dirty="0" sz="1700" spc="-10">
                <a:latin typeface="Times New Roman"/>
                <a:cs typeface="Times New Roman"/>
              </a:rPr>
              <a:t>InceptionV3).</a:t>
            </a:r>
            <a:endParaRPr sz="1700">
              <a:latin typeface="Times New Roman"/>
              <a:cs typeface="Times New Roman"/>
            </a:endParaRPr>
          </a:p>
          <a:p>
            <a:pPr marL="294005" indent="-265430">
              <a:lnSpc>
                <a:spcPct val="100000"/>
              </a:lnSpc>
              <a:spcBef>
                <a:spcPts val="795"/>
              </a:spcBef>
              <a:buFont typeface="Calibri"/>
              <a:buAutoNum type="arabicPeriod"/>
              <a:tabLst>
                <a:tab pos="294005" algn="l"/>
              </a:tabLst>
            </a:pPr>
            <a:r>
              <a:rPr dirty="0" sz="1700">
                <a:latin typeface="Times New Roman"/>
                <a:cs typeface="Times New Roman"/>
              </a:rPr>
              <a:t>The</a:t>
            </a:r>
            <a:r>
              <a:rPr dirty="0" sz="1700" spc="-1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model</a:t>
            </a:r>
            <a:r>
              <a:rPr dirty="0" sz="1700" spc="-1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predicts</a:t>
            </a:r>
            <a:r>
              <a:rPr dirty="0" sz="1700" spc="-1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whether</a:t>
            </a:r>
            <a:r>
              <a:rPr dirty="0" sz="1700" spc="-1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the</a:t>
            </a:r>
            <a:r>
              <a:rPr dirty="0" sz="1700" spc="-1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lesion</a:t>
            </a:r>
            <a:r>
              <a:rPr dirty="0" sz="1700" spc="-1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indicates</a:t>
            </a:r>
            <a:r>
              <a:rPr dirty="0" sz="1700" spc="-1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Monkeypox</a:t>
            </a:r>
            <a:r>
              <a:rPr dirty="0" sz="1700" spc="-1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or</a:t>
            </a:r>
            <a:r>
              <a:rPr dirty="0" sz="1700" spc="-1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Normal</a:t>
            </a:r>
            <a:r>
              <a:rPr dirty="0" sz="1700" spc="-15">
                <a:latin typeface="Times New Roman"/>
                <a:cs typeface="Times New Roman"/>
              </a:rPr>
              <a:t> </a:t>
            </a:r>
            <a:r>
              <a:rPr dirty="0" sz="1700" spc="-10">
                <a:latin typeface="Times New Roman"/>
                <a:cs typeface="Times New Roman"/>
              </a:rPr>
              <a:t>skin.</a:t>
            </a:r>
            <a:endParaRPr sz="1700">
              <a:latin typeface="Times New Roman"/>
              <a:cs typeface="Times New Roman"/>
            </a:endParaRPr>
          </a:p>
          <a:p>
            <a:pPr marL="294640" indent="-281940">
              <a:lnSpc>
                <a:spcPct val="100000"/>
              </a:lnSpc>
              <a:spcBef>
                <a:spcPts val="795"/>
              </a:spcBef>
              <a:buFont typeface="Tahoma"/>
              <a:buAutoNum type="arabicPeriod"/>
              <a:tabLst>
                <a:tab pos="294640" algn="l"/>
              </a:tabLst>
            </a:pPr>
            <a:r>
              <a:rPr dirty="0" sz="1700">
                <a:latin typeface="Times New Roman"/>
                <a:cs typeface="Times New Roman"/>
              </a:rPr>
              <a:t>LIME</a:t>
            </a:r>
            <a:r>
              <a:rPr dirty="0" sz="1700" spc="-1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generates</a:t>
            </a:r>
            <a:r>
              <a:rPr dirty="0" sz="1700" spc="-1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an</a:t>
            </a:r>
            <a:r>
              <a:rPr dirty="0" sz="1700" spc="-15">
                <a:latin typeface="Times New Roman"/>
                <a:cs typeface="Times New Roman"/>
              </a:rPr>
              <a:t> </a:t>
            </a:r>
            <a:r>
              <a:rPr dirty="0" sz="1700" spc="-10">
                <a:latin typeface="Times New Roman"/>
                <a:cs typeface="Times New Roman"/>
              </a:rPr>
              <a:t>explainability </a:t>
            </a:r>
            <a:r>
              <a:rPr dirty="0" sz="1700">
                <a:latin typeface="Times New Roman"/>
                <a:cs typeface="Times New Roman"/>
              </a:rPr>
              <a:t>heatmap,</a:t>
            </a:r>
            <a:r>
              <a:rPr dirty="0" sz="1700" spc="-1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showing</a:t>
            </a:r>
            <a:r>
              <a:rPr dirty="0" sz="1700" spc="-1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which</a:t>
            </a:r>
            <a:r>
              <a:rPr dirty="0" sz="1700" spc="-1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regions</a:t>
            </a:r>
            <a:r>
              <a:rPr dirty="0" sz="1700" spc="-1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of</a:t>
            </a:r>
            <a:r>
              <a:rPr dirty="0" sz="1700" spc="-1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the</a:t>
            </a:r>
            <a:r>
              <a:rPr dirty="0" sz="1700" spc="-1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image</a:t>
            </a:r>
            <a:r>
              <a:rPr dirty="0" sz="1700" spc="-10">
                <a:latin typeface="Times New Roman"/>
                <a:cs typeface="Times New Roman"/>
              </a:rPr>
              <a:t> influenced</a:t>
            </a:r>
            <a:r>
              <a:rPr dirty="0" sz="1700" spc="-1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the</a:t>
            </a:r>
            <a:r>
              <a:rPr dirty="0" sz="1700" spc="-1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model’s</a:t>
            </a:r>
            <a:r>
              <a:rPr dirty="0" sz="1700" spc="-15">
                <a:latin typeface="Times New Roman"/>
                <a:cs typeface="Times New Roman"/>
              </a:rPr>
              <a:t> </a:t>
            </a:r>
            <a:r>
              <a:rPr dirty="0" sz="1700" spc="-10">
                <a:latin typeface="Times New Roman"/>
                <a:cs typeface="Times New Roman"/>
              </a:rPr>
              <a:t>decision.</a:t>
            </a:r>
            <a:endParaRPr sz="1700">
              <a:latin typeface="Times New Roman"/>
              <a:cs typeface="Times New Roman"/>
            </a:endParaRPr>
          </a:p>
          <a:p>
            <a:pPr marL="294005" marR="81915" indent="-281940">
              <a:lnSpc>
                <a:spcPts val="1839"/>
              </a:lnSpc>
              <a:spcBef>
                <a:spcPts val="1025"/>
              </a:spcBef>
              <a:buFont typeface="Tahoma"/>
              <a:buAutoNum type="arabicPeriod"/>
              <a:tabLst>
                <a:tab pos="294005" algn="l"/>
              </a:tabLst>
            </a:pPr>
            <a:r>
              <a:rPr dirty="0" sz="1700">
                <a:latin typeface="Times New Roman"/>
                <a:cs typeface="Times New Roman"/>
              </a:rPr>
              <a:t>Clinicians</a:t>
            </a:r>
            <a:r>
              <a:rPr dirty="0" sz="1700" spc="-3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or</a:t>
            </a:r>
            <a:r>
              <a:rPr dirty="0" sz="1700" spc="-3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users</a:t>
            </a:r>
            <a:r>
              <a:rPr dirty="0" sz="1700" spc="-3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can</a:t>
            </a:r>
            <a:r>
              <a:rPr dirty="0" sz="1700" spc="-2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visually</a:t>
            </a:r>
            <a:r>
              <a:rPr dirty="0" sz="1700" spc="-3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verify</a:t>
            </a:r>
            <a:r>
              <a:rPr dirty="0" sz="1700" spc="-3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that</a:t>
            </a:r>
            <a:r>
              <a:rPr dirty="0" sz="1700" spc="-3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the</a:t>
            </a:r>
            <a:r>
              <a:rPr dirty="0" sz="1700" spc="-2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prediction</a:t>
            </a:r>
            <a:r>
              <a:rPr dirty="0" sz="1700" spc="-3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focuses</a:t>
            </a:r>
            <a:r>
              <a:rPr dirty="0" sz="1700" spc="-3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on</a:t>
            </a:r>
            <a:r>
              <a:rPr dirty="0" sz="1700" spc="-3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relevant</a:t>
            </a:r>
            <a:r>
              <a:rPr dirty="0" sz="1700" spc="-2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lesion</a:t>
            </a:r>
            <a:r>
              <a:rPr dirty="0" sz="1700" spc="-3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areas</a:t>
            </a:r>
            <a:r>
              <a:rPr dirty="0" sz="1700" spc="-3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—</a:t>
            </a:r>
            <a:r>
              <a:rPr dirty="0" sz="1700" spc="-2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improving</a:t>
            </a:r>
            <a:r>
              <a:rPr dirty="0" sz="1700" spc="-3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trust</a:t>
            </a:r>
            <a:r>
              <a:rPr dirty="0" sz="1700" spc="-30">
                <a:latin typeface="Times New Roman"/>
                <a:cs typeface="Times New Roman"/>
              </a:rPr>
              <a:t> </a:t>
            </a:r>
            <a:r>
              <a:rPr dirty="0" sz="1700" spc="-25">
                <a:latin typeface="Times New Roman"/>
                <a:cs typeface="Times New Roman"/>
              </a:rPr>
              <a:t>and </a:t>
            </a:r>
            <a:r>
              <a:rPr dirty="0" sz="1700">
                <a:latin typeface="Times New Roman"/>
                <a:cs typeface="Times New Roman"/>
              </a:rPr>
              <a:t>transparency</a:t>
            </a:r>
            <a:r>
              <a:rPr dirty="0" sz="1700" spc="-15">
                <a:latin typeface="Times New Roman"/>
                <a:cs typeface="Times New Roman"/>
              </a:rPr>
              <a:t> </a:t>
            </a:r>
            <a:r>
              <a:rPr dirty="0" sz="1700" spc="-10">
                <a:latin typeface="Times New Roman"/>
                <a:cs typeface="Times New Roman"/>
              </a:rPr>
              <a:t>in</a:t>
            </a:r>
            <a:r>
              <a:rPr dirty="0" sz="1700" spc="-9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AI-based</a:t>
            </a:r>
            <a:r>
              <a:rPr dirty="0" sz="1700" spc="-5">
                <a:latin typeface="Times New Roman"/>
                <a:cs typeface="Times New Roman"/>
              </a:rPr>
              <a:t> </a:t>
            </a:r>
            <a:r>
              <a:rPr dirty="0" sz="1700" spc="-10">
                <a:latin typeface="Times New Roman"/>
                <a:cs typeface="Times New Roman"/>
              </a:rPr>
              <a:t>diagnosis.</a:t>
            </a:r>
            <a:endParaRPr sz="17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93700" y="645300"/>
            <a:ext cx="6054726" cy="2996424"/>
          </a:xfrm>
          <a:prstGeom prst="rect">
            <a:avLst/>
          </a:prstGeom>
        </p:spPr>
      </p:pic>
      <p:sp>
        <p:nvSpPr>
          <p:cNvPr id="3" name="object 3" descr=""/>
          <p:cNvSpPr txBox="1"/>
          <p:nvPr/>
        </p:nvSpPr>
        <p:spPr>
          <a:xfrm>
            <a:off x="4265327" y="6565189"/>
            <a:ext cx="906144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888888"/>
                </a:solidFill>
                <a:latin typeface="Times New Roman"/>
                <a:cs typeface="Times New Roman"/>
              </a:rPr>
              <a:t>Review</a:t>
            </a:r>
            <a:r>
              <a:rPr dirty="0" sz="1200" spc="-3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888888"/>
                </a:solidFill>
                <a:latin typeface="Times New Roman"/>
                <a:cs typeface="Times New Roman"/>
              </a:rPr>
              <a:t>No.</a:t>
            </a:r>
            <a:r>
              <a:rPr dirty="0" sz="1200" spc="26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dirty="0" sz="1200" spc="-50">
                <a:solidFill>
                  <a:srgbClr val="888888"/>
                </a:solidFill>
                <a:latin typeface="Times New Roman"/>
                <a:cs typeface="Times New Roman"/>
              </a:rPr>
              <a:t>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5374166" y="6565189"/>
            <a:ext cx="969644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888888"/>
                </a:solidFill>
                <a:latin typeface="Times New Roman"/>
                <a:cs typeface="Times New Roman"/>
              </a:rPr>
              <a:t>Batch</a:t>
            </a:r>
            <a:r>
              <a:rPr dirty="0" sz="1200" spc="-15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888888"/>
                </a:solidFill>
                <a:latin typeface="Times New Roman"/>
                <a:cs typeface="Times New Roman"/>
              </a:rPr>
              <a:t>No.</a:t>
            </a:r>
            <a:r>
              <a:rPr dirty="0" sz="1200" spc="-15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dirty="0" sz="1200" spc="-25">
                <a:solidFill>
                  <a:srgbClr val="888888"/>
                </a:solidFill>
                <a:latin typeface="Times New Roman"/>
                <a:cs typeface="Times New Roman"/>
              </a:rPr>
              <a:t>DB4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6699108" y="6565189"/>
            <a:ext cx="122618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solidFill>
                  <a:srgbClr val="888888"/>
                </a:solidFill>
                <a:latin typeface="Times New Roman"/>
                <a:cs typeface="Times New Roman"/>
              </a:rPr>
              <a:t>Department</a:t>
            </a:r>
            <a:r>
              <a:rPr dirty="0" sz="1200" spc="-15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888888"/>
                </a:solidFill>
                <a:latin typeface="Times New Roman"/>
                <a:cs typeface="Times New Roman"/>
              </a:rPr>
              <a:t>of</a:t>
            </a:r>
            <a:r>
              <a:rPr dirty="0" sz="1200" spc="-5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dirty="0" sz="1200" spc="-25">
                <a:solidFill>
                  <a:srgbClr val="888888"/>
                </a:solidFill>
                <a:latin typeface="Times New Roman"/>
                <a:cs typeface="Times New Roman"/>
              </a:rPr>
              <a:t>CSE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11102975" y="6428676"/>
            <a:ext cx="17780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>
                <a:solidFill>
                  <a:srgbClr val="888888"/>
                </a:solidFill>
                <a:latin typeface="Times New Roman"/>
                <a:cs typeface="Times New Roman"/>
              </a:rPr>
              <a:t>22</a:t>
            </a:r>
            <a:endParaRPr sz="1200">
              <a:latin typeface="Times New Roman"/>
              <a:cs typeface="Times New Roman"/>
            </a:endParaRPr>
          </a:p>
        </p:txBody>
      </p:sp>
      <p:pic>
        <p:nvPicPr>
          <p:cNvPr id="7" name="object 7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575425" y="645300"/>
            <a:ext cx="5311773" cy="2996424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93700" y="3695700"/>
            <a:ext cx="5814298" cy="2762249"/>
          </a:xfrm>
          <a:prstGeom prst="rect">
            <a:avLst/>
          </a:prstGeom>
        </p:spPr>
      </p:pic>
      <p:pic>
        <p:nvPicPr>
          <p:cNvPr id="9" name="object 9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575425" y="3797300"/>
            <a:ext cx="5407024" cy="2559048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1225" y="843570"/>
            <a:ext cx="3625215" cy="3302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>
                <a:latin typeface="Calibri"/>
                <a:cs typeface="Calibri"/>
              </a:rPr>
              <a:t>MONKEYPOX</a:t>
            </a:r>
            <a:r>
              <a:rPr dirty="0" sz="2000" spc="-7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DETECTED</a:t>
            </a:r>
            <a:r>
              <a:rPr dirty="0" sz="2000" spc="-7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OUTPUT</a:t>
            </a:r>
            <a:r>
              <a:rPr dirty="0" sz="2000" spc="-70">
                <a:latin typeface="Calibri"/>
                <a:cs typeface="Calibri"/>
              </a:rPr>
              <a:t> </a:t>
            </a:r>
            <a:r>
              <a:rPr dirty="0" sz="2000" spc="-50">
                <a:latin typeface="Calibri"/>
                <a:cs typeface="Calibri"/>
              </a:rPr>
              <a:t>:</a:t>
            </a:r>
            <a:endParaRPr sz="2000">
              <a:latin typeface="Calibri"/>
              <a:cs typeface="Calibri"/>
            </a:endParaRPr>
          </a:p>
        </p:txBody>
      </p:sp>
      <p:grpSp>
        <p:nvGrpSpPr>
          <p:cNvPr id="3" name="object 3" descr=""/>
          <p:cNvGrpSpPr/>
          <p:nvPr/>
        </p:nvGrpSpPr>
        <p:grpSpPr>
          <a:xfrm>
            <a:off x="892974" y="1825625"/>
            <a:ext cx="10460990" cy="4351655"/>
            <a:chOff x="892974" y="1825625"/>
            <a:chExt cx="10460990" cy="4351655"/>
          </a:xfrm>
        </p:grpSpPr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92974" y="1825625"/>
              <a:ext cx="5692692" cy="4351199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586525" y="2100274"/>
              <a:ext cx="4767274" cy="3371849"/>
            </a:xfrm>
            <a:prstGeom prst="rect">
              <a:avLst/>
            </a:prstGeom>
          </p:spPr>
        </p:pic>
      </p:grpSp>
      <p:sp>
        <p:nvSpPr>
          <p:cNvPr id="6" name="object 6" descr=""/>
          <p:cNvSpPr txBox="1"/>
          <p:nvPr/>
        </p:nvSpPr>
        <p:spPr>
          <a:xfrm>
            <a:off x="4338141" y="6466776"/>
            <a:ext cx="796925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z="1200" spc="-10">
                <a:solidFill>
                  <a:srgbClr val="888888"/>
                </a:solidFill>
                <a:latin typeface="Calibri"/>
                <a:cs typeface="Calibri"/>
              </a:rPr>
              <a:t>Review</a:t>
            </a:r>
            <a:r>
              <a:rPr dirty="0" sz="1200" spc="-15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dirty="0" sz="1200" spc="-20">
                <a:solidFill>
                  <a:srgbClr val="888888"/>
                </a:solidFill>
                <a:latin typeface="Calibri"/>
                <a:cs typeface="Calibri"/>
              </a:rPr>
              <a:t>No.1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7" name="object 7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95250">
              <a:lnSpc>
                <a:spcPts val="1240"/>
              </a:lnSpc>
            </a:pPr>
            <a:r>
              <a:rPr dirty="0">
                <a:latin typeface="Calibri"/>
                <a:cs typeface="Calibri"/>
              </a:rPr>
              <a:t>Batch</a:t>
            </a:r>
            <a:r>
              <a:rPr dirty="0" spc="-45">
                <a:latin typeface="Calibri"/>
                <a:cs typeface="Calibri"/>
              </a:rPr>
              <a:t> </a:t>
            </a:r>
            <a:r>
              <a:rPr dirty="0" spc="-10">
                <a:latin typeface="Calibri"/>
                <a:cs typeface="Calibri"/>
              </a:rPr>
              <a:t>No.DB4</a:t>
            </a:r>
          </a:p>
        </p:txBody>
      </p:sp>
      <p:sp>
        <p:nvSpPr>
          <p:cNvPr id="8" name="object 8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>
                <a:latin typeface="Calibri"/>
                <a:cs typeface="Calibri"/>
              </a:rPr>
              <a:t>Department</a:t>
            </a:r>
            <a:r>
              <a:rPr dirty="0" spc="-4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of</a:t>
            </a:r>
            <a:r>
              <a:rPr dirty="0" spc="-40">
                <a:latin typeface="Calibri"/>
                <a:cs typeface="Calibri"/>
              </a:rPr>
              <a:t> </a:t>
            </a:r>
            <a:r>
              <a:rPr dirty="0" spc="-25">
                <a:latin typeface="Calibri"/>
                <a:cs typeface="Calibri"/>
              </a:rPr>
              <a:t>CSE</a:t>
            </a:r>
          </a:p>
        </p:txBody>
      </p:sp>
      <p:sp>
        <p:nvSpPr>
          <p:cNvPr id="9" name="object 9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>
                <a:latin typeface="Calibri"/>
                <a:cs typeface="Calibri"/>
              </a:rPr>
              <a:t>24</a:t>
            </a:fld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463675">
              <a:lnSpc>
                <a:spcPct val="100000"/>
              </a:lnSpc>
              <a:spcBef>
                <a:spcPts val="100"/>
              </a:spcBef>
            </a:pPr>
            <a:r>
              <a:rPr dirty="0" spc="-30"/>
              <a:t>IMPLEMENTATION</a:t>
            </a:r>
          </a:p>
        </p:txBody>
      </p:sp>
      <p:sp>
        <p:nvSpPr>
          <p:cNvPr id="4" name="object 4" descr=""/>
          <p:cNvSpPr txBox="1"/>
          <p:nvPr/>
        </p:nvSpPr>
        <p:spPr>
          <a:xfrm>
            <a:off x="4338141" y="6466776"/>
            <a:ext cx="796925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z="1200" spc="-10">
                <a:solidFill>
                  <a:srgbClr val="888888"/>
                </a:solidFill>
                <a:latin typeface="Calibri"/>
                <a:cs typeface="Calibri"/>
              </a:rPr>
              <a:t>Review</a:t>
            </a:r>
            <a:r>
              <a:rPr dirty="0" sz="1200" spc="-15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dirty="0" sz="1200" spc="-20">
                <a:solidFill>
                  <a:srgbClr val="888888"/>
                </a:solidFill>
                <a:latin typeface="Calibri"/>
                <a:cs typeface="Calibri"/>
              </a:rPr>
              <a:t>No.1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5" name="object 5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95250">
              <a:lnSpc>
                <a:spcPts val="1240"/>
              </a:lnSpc>
            </a:pPr>
            <a:r>
              <a:rPr dirty="0">
                <a:latin typeface="Calibri"/>
                <a:cs typeface="Calibri"/>
              </a:rPr>
              <a:t>Batch</a:t>
            </a:r>
            <a:r>
              <a:rPr dirty="0" spc="-45">
                <a:latin typeface="Calibri"/>
                <a:cs typeface="Calibri"/>
              </a:rPr>
              <a:t> </a:t>
            </a:r>
            <a:r>
              <a:rPr dirty="0" spc="-10">
                <a:latin typeface="Calibri"/>
                <a:cs typeface="Calibri"/>
              </a:rPr>
              <a:t>No.DB4</a:t>
            </a:r>
          </a:p>
        </p:txBody>
      </p:sp>
      <p:sp>
        <p:nvSpPr>
          <p:cNvPr id="6" name="object 6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>
                <a:latin typeface="Calibri"/>
                <a:cs typeface="Calibri"/>
              </a:rPr>
              <a:t>Department</a:t>
            </a:r>
            <a:r>
              <a:rPr dirty="0" spc="-4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of</a:t>
            </a:r>
            <a:r>
              <a:rPr dirty="0" spc="-40">
                <a:latin typeface="Calibri"/>
                <a:cs typeface="Calibri"/>
              </a:rPr>
              <a:t> </a:t>
            </a:r>
            <a:r>
              <a:rPr dirty="0" spc="-25">
                <a:latin typeface="Calibri"/>
                <a:cs typeface="Calibri"/>
              </a:rPr>
              <a:t>CSE</a:t>
            </a:r>
          </a:p>
        </p:txBody>
      </p:sp>
      <p:sp>
        <p:nvSpPr>
          <p:cNvPr id="7" name="object 7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>
                <a:latin typeface="Calibri"/>
                <a:cs typeface="Calibri"/>
              </a:rPr>
              <a:t>24</a:t>
            </a:fld>
          </a:p>
        </p:txBody>
      </p:sp>
      <p:sp>
        <p:nvSpPr>
          <p:cNvPr id="3" name="object 3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61290" rIns="0" bIns="0" rtlCol="0" vert="horz">
            <a:spAutoFit/>
          </a:bodyPr>
          <a:lstStyle/>
          <a:p>
            <a:pPr marL="24765">
              <a:lnSpc>
                <a:spcPct val="100000"/>
              </a:lnSpc>
              <a:spcBef>
                <a:spcPts val="1270"/>
              </a:spcBef>
            </a:pPr>
            <a:r>
              <a:rPr dirty="0"/>
              <a:t>Software</a:t>
            </a:r>
            <a:r>
              <a:rPr dirty="0" spc="-35"/>
              <a:t> </a:t>
            </a:r>
            <a:r>
              <a:rPr dirty="0" spc="-10"/>
              <a:t>Specifications:</a:t>
            </a:r>
          </a:p>
          <a:p>
            <a:pPr marL="748665" indent="-170180">
              <a:lnSpc>
                <a:spcPct val="100000"/>
              </a:lnSpc>
              <a:spcBef>
                <a:spcPts val="1170"/>
              </a:spcBef>
              <a:buChar char="•"/>
              <a:tabLst>
                <a:tab pos="748665" algn="l"/>
              </a:tabLst>
            </a:pPr>
            <a:r>
              <a:rPr dirty="0" u="none" b="0">
                <a:latin typeface="Times New Roman"/>
                <a:cs typeface="Times New Roman"/>
              </a:rPr>
              <a:t>Browser:</a:t>
            </a:r>
            <a:r>
              <a:rPr dirty="0" u="none" spc="-40" b="0">
                <a:latin typeface="Times New Roman"/>
                <a:cs typeface="Times New Roman"/>
              </a:rPr>
              <a:t> </a:t>
            </a:r>
            <a:r>
              <a:rPr dirty="0" u="none" spc="-10" b="0">
                <a:latin typeface="Times New Roman"/>
                <a:cs typeface="Times New Roman"/>
              </a:rPr>
              <a:t>Chrome</a:t>
            </a:r>
          </a:p>
          <a:p>
            <a:pPr marL="748665" indent="-170180">
              <a:lnSpc>
                <a:spcPct val="100000"/>
              </a:lnSpc>
              <a:spcBef>
                <a:spcPts val="45"/>
              </a:spcBef>
              <a:buChar char="•"/>
              <a:tabLst>
                <a:tab pos="748665" algn="l"/>
              </a:tabLst>
            </a:pPr>
            <a:r>
              <a:rPr dirty="0" u="none" b="0">
                <a:latin typeface="Times New Roman"/>
                <a:cs typeface="Times New Roman"/>
              </a:rPr>
              <a:t>Operating</a:t>
            </a:r>
            <a:r>
              <a:rPr dirty="0" u="none" spc="-20" b="0">
                <a:latin typeface="Times New Roman"/>
                <a:cs typeface="Times New Roman"/>
              </a:rPr>
              <a:t> </a:t>
            </a:r>
            <a:r>
              <a:rPr dirty="0" u="none" spc="-10" b="0">
                <a:latin typeface="Times New Roman"/>
                <a:cs typeface="Times New Roman"/>
              </a:rPr>
              <a:t>System:</a:t>
            </a:r>
            <a:r>
              <a:rPr dirty="0" u="none" spc="-70" b="0">
                <a:latin typeface="Times New Roman"/>
                <a:cs typeface="Times New Roman"/>
              </a:rPr>
              <a:t> </a:t>
            </a:r>
            <a:r>
              <a:rPr dirty="0" u="none" spc="-10" b="0">
                <a:latin typeface="Times New Roman"/>
                <a:cs typeface="Times New Roman"/>
              </a:rPr>
              <a:t>Windows</a:t>
            </a:r>
            <a:r>
              <a:rPr dirty="0" u="none" spc="-20" b="0">
                <a:latin typeface="Times New Roman"/>
                <a:cs typeface="Times New Roman"/>
              </a:rPr>
              <a:t> </a:t>
            </a:r>
            <a:r>
              <a:rPr dirty="0" u="none" spc="-10" b="0">
                <a:latin typeface="Times New Roman"/>
                <a:cs typeface="Times New Roman"/>
              </a:rPr>
              <a:t>10/11</a:t>
            </a:r>
          </a:p>
          <a:p>
            <a:pPr marL="748665" indent="-170180">
              <a:lnSpc>
                <a:spcPct val="100000"/>
              </a:lnSpc>
              <a:spcBef>
                <a:spcPts val="575"/>
              </a:spcBef>
              <a:buChar char="•"/>
              <a:tabLst>
                <a:tab pos="748665" algn="l"/>
              </a:tabLst>
            </a:pPr>
            <a:r>
              <a:rPr dirty="0" u="none" b="0">
                <a:latin typeface="Times New Roman"/>
                <a:cs typeface="Times New Roman"/>
              </a:rPr>
              <a:t>Python</a:t>
            </a:r>
            <a:r>
              <a:rPr dirty="0" u="none" spc="-50" b="0">
                <a:latin typeface="Times New Roman"/>
                <a:cs typeface="Times New Roman"/>
              </a:rPr>
              <a:t> </a:t>
            </a:r>
            <a:r>
              <a:rPr dirty="0" u="none" spc="-10" b="0">
                <a:latin typeface="Times New Roman"/>
                <a:cs typeface="Times New Roman"/>
              </a:rPr>
              <a:t>(COLAB)</a:t>
            </a:r>
          </a:p>
          <a:p>
            <a:pPr marL="748665" indent="-170180">
              <a:lnSpc>
                <a:spcPct val="100000"/>
              </a:lnSpc>
              <a:spcBef>
                <a:spcPts val="575"/>
              </a:spcBef>
              <a:buChar char="•"/>
              <a:tabLst>
                <a:tab pos="748665" algn="l"/>
              </a:tabLst>
            </a:pPr>
            <a:r>
              <a:rPr dirty="0" u="none" spc="-10" b="0">
                <a:latin typeface="Times New Roman"/>
                <a:cs typeface="Times New Roman"/>
              </a:rPr>
              <a:t>Flask</a:t>
            </a:r>
          </a:p>
          <a:p>
            <a:pPr marL="748665" indent="-170180">
              <a:lnSpc>
                <a:spcPct val="100000"/>
              </a:lnSpc>
              <a:spcBef>
                <a:spcPts val="575"/>
              </a:spcBef>
              <a:buChar char="•"/>
              <a:tabLst>
                <a:tab pos="748665" algn="l"/>
              </a:tabLst>
            </a:pPr>
            <a:r>
              <a:rPr dirty="0" u="none" spc="-10" b="0">
                <a:latin typeface="Times New Roman"/>
                <a:cs typeface="Times New Roman"/>
              </a:rPr>
              <a:t>Visualization</a:t>
            </a:r>
            <a:r>
              <a:rPr dirty="0" u="none" spc="-50" b="0">
                <a:latin typeface="Times New Roman"/>
                <a:cs typeface="Times New Roman"/>
              </a:rPr>
              <a:t> </a:t>
            </a:r>
            <a:r>
              <a:rPr dirty="0" u="none" spc="-20" b="0">
                <a:latin typeface="Times New Roman"/>
                <a:cs typeface="Times New Roman"/>
              </a:rPr>
              <a:t>Tools</a:t>
            </a:r>
            <a:r>
              <a:rPr dirty="0" u="none" spc="-10" b="0">
                <a:latin typeface="Times New Roman"/>
                <a:cs typeface="Times New Roman"/>
              </a:rPr>
              <a:t> </a:t>
            </a:r>
            <a:r>
              <a:rPr dirty="0" u="none" b="0">
                <a:latin typeface="Times New Roman"/>
                <a:cs typeface="Times New Roman"/>
              </a:rPr>
              <a:t>:</a:t>
            </a:r>
            <a:r>
              <a:rPr dirty="0" u="none" spc="-15" b="0">
                <a:latin typeface="Times New Roman"/>
                <a:cs typeface="Times New Roman"/>
              </a:rPr>
              <a:t> </a:t>
            </a:r>
            <a:r>
              <a:rPr dirty="0" u="none" b="0">
                <a:latin typeface="Times New Roman"/>
                <a:cs typeface="Times New Roman"/>
              </a:rPr>
              <a:t>LIME</a:t>
            </a:r>
            <a:r>
              <a:rPr dirty="0" u="none" spc="-10" b="0">
                <a:latin typeface="Times New Roman"/>
                <a:cs typeface="Times New Roman"/>
              </a:rPr>
              <a:t> </a:t>
            </a:r>
            <a:r>
              <a:rPr dirty="0" u="none" b="0">
                <a:latin typeface="Times New Roman"/>
                <a:cs typeface="Times New Roman"/>
              </a:rPr>
              <a:t>for</a:t>
            </a:r>
            <a:r>
              <a:rPr dirty="0" u="none" spc="-10" b="0">
                <a:latin typeface="Times New Roman"/>
                <a:cs typeface="Times New Roman"/>
              </a:rPr>
              <a:t> </a:t>
            </a:r>
            <a:r>
              <a:rPr dirty="0" u="none" b="0">
                <a:latin typeface="Times New Roman"/>
                <a:cs typeface="Times New Roman"/>
              </a:rPr>
              <a:t>model</a:t>
            </a:r>
            <a:r>
              <a:rPr dirty="0" u="none" spc="-15" b="0">
                <a:latin typeface="Times New Roman"/>
                <a:cs typeface="Times New Roman"/>
              </a:rPr>
              <a:t> </a:t>
            </a:r>
            <a:r>
              <a:rPr dirty="0" u="none" spc="-10" b="0">
                <a:latin typeface="Times New Roman"/>
                <a:cs typeface="Times New Roman"/>
              </a:rPr>
              <a:t>interpretability, Matplotlib</a:t>
            </a:r>
            <a:r>
              <a:rPr dirty="0" u="none" spc="-15" b="0">
                <a:latin typeface="Times New Roman"/>
                <a:cs typeface="Times New Roman"/>
              </a:rPr>
              <a:t> </a:t>
            </a:r>
            <a:r>
              <a:rPr dirty="0" u="none" b="0">
                <a:latin typeface="Times New Roman"/>
                <a:cs typeface="Times New Roman"/>
              </a:rPr>
              <a:t>for</a:t>
            </a:r>
            <a:r>
              <a:rPr dirty="0" u="none" spc="-10" b="0">
                <a:latin typeface="Times New Roman"/>
                <a:cs typeface="Times New Roman"/>
              </a:rPr>
              <a:t> graphs</a:t>
            </a:r>
          </a:p>
          <a:p>
            <a:pPr marL="12700">
              <a:lnSpc>
                <a:spcPct val="100000"/>
              </a:lnSpc>
              <a:spcBef>
                <a:spcPts val="1215"/>
              </a:spcBef>
            </a:pPr>
            <a:r>
              <a:rPr dirty="0"/>
              <a:t>Hardware</a:t>
            </a:r>
            <a:r>
              <a:rPr dirty="0" spc="-105"/>
              <a:t> </a:t>
            </a:r>
            <a:r>
              <a:rPr dirty="0" spc="-10"/>
              <a:t>Specifications:</a:t>
            </a:r>
          </a:p>
          <a:p>
            <a:pPr marL="698500" indent="-265430">
              <a:lnSpc>
                <a:spcPct val="100000"/>
              </a:lnSpc>
              <a:spcBef>
                <a:spcPts val="254"/>
              </a:spcBef>
              <a:buChar char="•"/>
              <a:tabLst>
                <a:tab pos="698500" algn="l"/>
              </a:tabLst>
            </a:pPr>
            <a:r>
              <a:rPr dirty="0" u="none" b="0">
                <a:latin typeface="Times New Roman"/>
                <a:cs typeface="Times New Roman"/>
              </a:rPr>
              <a:t>Processor</a:t>
            </a:r>
            <a:r>
              <a:rPr dirty="0" u="none" spc="-5" b="0">
                <a:latin typeface="Times New Roman"/>
                <a:cs typeface="Times New Roman"/>
              </a:rPr>
              <a:t> </a:t>
            </a:r>
            <a:r>
              <a:rPr dirty="0" u="none" b="0">
                <a:latin typeface="Times New Roman"/>
                <a:cs typeface="Times New Roman"/>
              </a:rPr>
              <a:t>:</a:t>
            </a:r>
            <a:r>
              <a:rPr dirty="0" u="none" spc="-5" b="0">
                <a:latin typeface="Times New Roman"/>
                <a:cs typeface="Times New Roman"/>
              </a:rPr>
              <a:t> </a:t>
            </a:r>
            <a:r>
              <a:rPr dirty="0" u="none" b="0">
                <a:latin typeface="Times New Roman"/>
                <a:cs typeface="Times New Roman"/>
              </a:rPr>
              <a:t>Intel Core</a:t>
            </a:r>
            <a:r>
              <a:rPr dirty="0" u="none" spc="-5" b="0">
                <a:latin typeface="Times New Roman"/>
                <a:cs typeface="Times New Roman"/>
              </a:rPr>
              <a:t> </a:t>
            </a:r>
            <a:r>
              <a:rPr dirty="0" u="none" b="0">
                <a:latin typeface="Times New Roman"/>
                <a:cs typeface="Times New Roman"/>
              </a:rPr>
              <a:t>i5 or</a:t>
            </a:r>
            <a:r>
              <a:rPr dirty="0" u="none" spc="-5" b="0">
                <a:latin typeface="Times New Roman"/>
                <a:cs typeface="Times New Roman"/>
              </a:rPr>
              <a:t> </a:t>
            </a:r>
            <a:r>
              <a:rPr dirty="0" u="none" spc="-10" b="0">
                <a:latin typeface="Times New Roman"/>
                <a:cs typeface="Times New Roman"/>
              </a:rPr>
              <a:t>Higher</a:t>
            </a:r>
          </a:p>
          <a:p>
            <a:pPr marL="698500" indent="-265430">
              <a:lnSpc>
                <a:spcPct val="100000"/>
              </a:lnSpc>
              <a:spcBef>
                <a:spcPts val="785"/>
              </a:spcBef>
              <a:buChar char="•"/>
              <a:tabLst>
                <a:tab pos="698500" algn="l"/>
              </a:tabLst>
            </a:pPr>
            <a:r>
              <a:rPr dirty="0" u="none" b="0">
                <a:latin typeface="Times New Roman"/>
                <a:cs typeface="Times New Roman"/>
              </a:rPr>
              <a:t>RAM</a:t>
            </a:r>
            <a:r>
              <a:rPr dirty="0" u="none" spc="-20" b="0">
                <a:latin typeface="Times New Roman"/>
                <a:cs typeface="Times New Roman"/>
              </a:rPr>
              <a:t> </a:t>
            </a:r>
            <a:r>
              <a:rPr dirty="0" u="none" b="0">
                <a:latin typeface="Times New Roman"/>
                <a:cs typeface="Times New Roman"/>
              </a:rPr>
              <a:t>:</a:t>
            </a:r>
            <a:r>
              <a:rPr dirty="0" u="none" spc="-15" b="0">
                <a:latin typeface="Times New Roman"/>
                <a:cs typeface="Times New Roman"/>
              </a:rPr>
              <a:t> </a:t>
            </a:r>
            <a:r>
              <a:rPr dirty="0" u="none" b="0">
                <a:latin typeface="Times New Roman"/>
                <a:cs typeface="Times New Roman"/>
              </a:rPr>
              <a:t>8</a:t>
            </a:r>
            <a:r>
              <a:rPr dirty="0" u="none" spc="-15" b="0">
                <a:latin typeface="Times New Roman"/>
                <a:cs typeface="Times New Roman"/>
              </a:rPr>
              <a:t> </a:t>
            </a:r>
            <a:r>
              <a:rPr dirty="0" u="none" b="0">
                <a:latin typeface="Times New Roman"/>
                <a:cs typeface="Times New Roman"/>
              </a:rPr>
              <a:t>GB</a:t>
            </a:r>
            <a:r>
              <a:rPr dirty="0" u="none" spc="-15" b="0">
                <a:latin typeface="Times New Roman"/>
                <a:cs typeface="Times New Roman"/>
              </a:rPr>
              <a:t> </a:t>
            </a:r>
            <a:r>
              <a:rPr dirty="0" u="none" b="0">
                <a:latin typeface="Times New Roman"/>
                <a:cs typeface="Times New Roman"/>
              </a:rPr>
              <a:t>minimum</a:t>
            </a:r>
            <a:r>
              <a:rPr dirty="0" u="none" spc="-15" b="0">
                <a:latin typeface="Times New Roman"/>
                <a:cs typeface="Times New Roman"/>
              </a:rPr>
              <a:t> </a:t>
            </a:r>
            <a:r>
              <a:rPr dirty="0" u="none" b="0">
                <a:latin typeface="Times New Roman"/>
                <a:cs typeface="Times New Roman"/>
              </a:rPr>
              <a:t>(recommended</a:t>
            </a:r>
            <a:r>
              <a:rPr dirty="0" u="none" spc="-15" b="0">
                <a:latin typeface="Times New Roman"/>
                <a:cs typeface="Times New Roman"/>
              </a:rPr>
              <a:t> </a:t>
            </a:r>
            <a:r>
              <a:rPr dirty="0" u="none" b="0">
                <a:latin typeface="Times New Roman"/>
                <a:cs typeface="Times New Roman"/>
              </a:rPr>
              <a:t>16</a:t>
            </a:r>
            <a:r>
              <a:rPr dirty="0" u="none" spc="-15" b="0">
                <a:latin typeface="Times New Roman"/>
                <a:cs typeface="Times New Roman"/>
              </a:rPr>
              <a:t> </a:t>
            </a:r>
            <a:r>
              <a:rPr dirty="0" u="none" b="0">
                <a:latin typeface="Times New Roman"/>
                <a:cs typeface="Times New Roman"/>
              </a:rPr>
              <a:t>GB</a:t>
            </a:r>
            <a:r>
              <a:rPr dirty="0" u="none" spc="-20" b="0">
                <a:latin typeface="Times New Roman"/>
                <a:cs typeface="Times New Roman"/>
              </a:rPr>
              <a:t> </a:t>
            </a:r>
            <a:r>
              <a:rPr dirty="0" u="none" b="0">
                <a:latin typeface="Times New Roman"/>
                <a:cs typeface="Times New Roman"/>
              </a:rPr>
              <a:t>for</a:t>
            </a:r>
            <a:r>
              <a:rPr dirty="0" u="none" spc="-15" b="0">
                <a:latin typeface="Times New Roman"/>
                <a:cs typeface="Times New Roman"/>
              </a:rPr>
              <a:t> </a:t>
            </a:r>
            <a:r>
              <a:rPr dirty="0" u="none" b="0">
                <a:latin typeface="Times New Roman"/>
                <a:cs typeface="Times New Roman"/>
              </a:rPr>
              <a:t>local</a:t>
            </a:r>
            <a:r>
              <a:rPr dirty="0" u="none" spc="-15" b="0">
                <a:latin typeface="Times New Roman"/>
                <a:cs typeface="Times New Roman"/>
              </a:rPr>
              <a:t> </a:t>
            </a:r>
            <a:r>
              <a:rPr dirty="0" u="none" spc="-10" b="0">
                <a:latin typeface="Times New Roman"/>
                <a:cs typeface="Times New Roman"/>
              </a:rPr>
              <a:t>training)</a:t>
            </a:r>
          </a:p>
          <a:p>
            <a:pPr marL="698500" indent="-265430">
              <a:lnSpc>
                <a:spcPct val="100000"/>
              </a:lnSpc>
              <a:spcBef>
                <a:spcPts val="785"/>
              </a:spcBef>
              <a:buChar char="•"/>
              <a:tabLst>
                <a:tab pos="698500" algn="l"/>
              </a:tabLst>
            </a:pPr>
            <a:r>
              <a:rPr dirty="0" u="none" b="0">
                <a:latin typeface="Times New Roman"/>
                <a:cs typeface="Times New Roman"/>
              </a:rPr>
              <a:t>Storage</a:t>
            </a:r>
            <a:r>
              <a:rPr dirty="0" u="none" spc="-5" b="0">
                <a:latin typeface="Times New Roman"/>
                <a:cs typeface="Times New Roman"/>
              </a:rPr>
              <a:t> </a:t>
            </a:r>
            <a:r>
              <a:rPr dirty="0" u="none" b="0">
                <a:latin typeface="Times New Roman"/>
                <a:cs typeface="Times New Roman"/>
              </a:rPr>
              <a:t>:</a:t>
            </a:r>
            <a:r>
              <a:rPr dirty="0" u="none" spc="-5" b="0">
                <a:latin typeface="Times New Roman"/>
                <a:cs typeface="Times New Roman"/>
              </a:rPr>
              <a:t> </a:t>
            </a:r>
            <a:r>
              <a:rPr dirty="0" u="none" spc="-120" b="0">
                <a:latin typeface="Times New Roman"/>
                <a:cs typeface="Times New Roman"/>
              </a:rPr>
              <a:t>≥</a:t>
            </a:r>
            <a:r>
              <a:rPr dirty="0" u="none" b="0">
                <a:latin typeface="Times New Roman"/>
                <a:cs typeface="Times New Roman"/>
              </a:rPr>
              <a:t> 50 GB</a:t>
            </a:r>
            <a:r>
              <a:rPr dirty="0" u="none" spc="-5" b="0">
                <a:latin typeface="Times New Roman"/>
                <a:cs typeface="Times New Roman"/>
              </a:rPr>
              <a:t> </a:t>
            </a:r>
            <a:r>
              <a:rPr dirty="0" u="none" b="0">
                <a:latin typeface="Times New Roman"/>
                <a:cs typeface="Times New Roman"/>
              </a:rPr>
              <a:t>free space for</a:t>
            </a:r>
            <a:r>
              <a:rPr dirty="0" u="none" spc="-5" b="0">
                <a:latin typeface="Times New Roman"/>
                <a:cs typeface="Times New Roman"/>
              </a:rPr>
              <a:t> </a:t>
            </a:r>
            <a:r>
              <a:rPr dirty="0" u="none" b="0">
                <a:latin typeface="Times New Roman"/>
                <a:cs typeface="Times New Roman"/>
              </a:rPr>
              <a:t>dataset and</a:t>
            </a:r>
            <a:r>
              <a:rPr dirty="0" u="none" spc="-5" b="0">
                <a:latin typeface="Times New Roman"/>
                <a:cs typeface="Times New Roman"/>
              </a:rPr>
              <a:t> </a:t>
            </a:r>
            <a:r>
              <a:rPr dirty="0" u="none" spc="-10" b="0">
                <a:latin typeface="Times New Roman"/>
                <a:cs typeface="Times New Roman"/>
              </a:rPr>
              <a:t>models</a:t>
            </a:r>
          </a:p>
          <a:p>
            <a:pPr marL="698500" indent="-265430">
              <a:lnSpc>
                <a:spcPct val="100000"/>
              </a:lnSpc>
              <a:spcBef>
                <a:spcPts val="785"/>
              </a:spcBef>
              <a:buChar char="•"/>
              <a:tabLst>
                <a:tab pos="698500" algn="l"/>
              </a:tabLst>
            </a:pPr>
            <a:r>
              <a:rPr dirty="0" u="none" b="0">
                <a:latin typeface="Times New Roman"/>
                <a:cs typeface="Times New Roman"/>
              </a:rPr>
              <a:t>GPU</a:t>
            </a:r>
            <a:r>
              <a:rPr dirty="0" u="none" spc="-15" b="0">
                <a:latin typeface="Times New Roman"/>
                <a:cs typeface="Times New Roman"/>
              </a:rPr>
              <a:t> </a:t>
            </a:r>
            <a:r>
              <a:rPr dirty="0" u="none" b="0">
                <a:latin typeface="Times New Roman"/>
                <a:cs typeface="Times New Roman"/>
              </a:rPr>
              <a:t>:</a:t>
            </a:r>
            <a:r>
              <a:rPr dirty="0" u="none" spc="-15" b="0">
                <a:latin typeface="Times New Roman"/>
                <a:cs typeface="Times New Roman"/>
              </a:rPr>
              <a:t> </a:t>
            </a:r>
            <a:r>
              <a:rPr dirty="0" u="none" b="0">
                <a:latin typeface="Times New Roman"/>
                <a:cs typeface="Times New Roman"/>
              </a:rPr>
              <a:t>NVIDIA</a:t>
            </a:r>
            <a:r>
              <a:rPr dirty="0" u="none" spc="-50" b="0">
                <a:latin typeface="Times New Roman"/>
                <a:cs typeface="Times New Roman"/>
              </a:rPr>
              <a:t> </a:t>
            </a:r>
            <a:r>
              <a:rPr dirty="0" u="none" spc="-25" b="0">
                <a:latin typeface="Times New Roman"/>
                <a:cs typeface="Times New Roman"/>
              </a:rPr>
              <a:t>Tesla</a:t>
            </a:r>
            <a:r>
              <a:rPr dirty="0" u="none" spc="-45" b="0">
                <a:latin typeface="Times New Roman"/>
                <a:cs typeface="Times New Roman"/>
              </a:rPr>
              <a:t> </a:t>
            </a:r>
            <a:r>
              <a:rPr dirty="0" u="none" b="0">
                <a:latin typeface="Times New Roman"/>
                <a:cs typeface="Times New Roman"/>
              </a:rPr>
              <a:t>T4</a:t>
            </a:r>
            <a:r>
              <a:rPr dirty="0" u="none" spc="-15" b="0">
                <a:latin typeface="Times New Roman"/>
                <a:cs typeface="Times New Roman"/>
              </a:rPr>
              <a:t> </a:t>
            </a:r>
            <a:r>
              <a:rPr dirty="0" u="none" b="0">
                <a:latin typeface="Times New Roman"/>
                <a:cs typeface="Times New Roman"/>
              </a:rPr>
              <a:t>/</a:t>
            </a:r>
            <a:r>
              <a:rPr dirty="0" u="none" spc="-15" b="0">
                <a:latin typeface="Times New Roman"/>
                <a:cs typeface="Times New Roman"/>
              </a:rPr>
              <a:t> </a:t>
            </a:r>
            <a:r>
              <a:rPr dirty="0" u="none" b="0">
                <a:latin typeface="Times New Roman"/>
                <a:cs typeface="Times New Roman"/>
              </a:rPr>
              <a:t>P100</a:t>
            </a:r>
            <a:r>
              <a:rPr dirty="0" u="none" spc="-15" b="0">
                <a:latin typeface="Times New Roman"/>
                <a:cs typeface="Times New Roman"/>
              </a:rPr>
              <a:t> </a:t>
            </a:r>
            <a:r>
              <a:rPr dirty="0" u="none" b="0">
                <a:latin typeface="Times New Roman"/>
                <a:cs typeface="Times New Roman"/>
              </a:rPr>
              <a:t>(via</a:t>
            </a:r>
            <a:r>
              <a:rPr dirty="0" u="none" spc="-15" b="0">
                <a:latin typeface="Times New Roman"/>
                <a:cs typeface="Times New Roman"/>
              </a:rPr>
              <a:t> </a:t>
            </a:r>
            <a:r>
              <a:rPr dirty="0" u="none" b="0">
                <a:latin typeface="Times New Roman"/>
                <a:cs typeface="Times New Roman"/>
              </a:rPr>
              <a:t>Google</a:t>
            </a:r>
            <a:r>
              <a:rPr dirty="0" u="none" spc="-10" b="0">
                <a:latin typeface="Times New Roman"/>
                <a:cs typeface="Times New Roman"/>
              </a:rPr>
              <a:t> </a:t>
            </a:r>
            <a:r>
              <a:rPr dirty="0" u="none" b="0">
                <a:latin typeface="Times New Roman"/>
                <a:cs typeface="Times New Roman"/>
              </a:rPr>
              <a:t>Colab)</a:t>
            </a:r>
            <a:r>
              <a:rPr dirty="0" u="none" spc="-15" b="0">
                <a:latin typeface="Times New Roman"/>
                <a:cs typeface="Times New Roman"/>
              </a:rPr>
              <a:t> </a:t>
            </a:r>
            <a:r>
              <a:rPr dirty="0" u="none" b="0">
                <a:latin typeface="Times New Roman"/>
                <a:cs typeface="Times New Roman"/>
              </a:rPr>
              <a:t>or</a:t>
            </a:r>
            <a:r>
              <a:rPr dirty="0" u="none" spc="-15" b="0">
                <a:latin typeface="Times New Roman"/>
                <a:cs typeface="Times New Roman"/>
              </a:rPr>
              <a:t> </a:t>
            </a:r>
            <a:r>
              <a:rPr dirty="0" u="none" b="0">
                <a:latin typeface="Times New Roman"/>
                <a:cs typeface="Times New Roman"/>
              </a:rPr>
              <a:t>equivalent</a:t>
            </a:r>
            <a:r>
              <a:rPr dirty="0" u="none" spc="-15" b="0">
                <a:latin typeface="Times New Roman"/>
                <a:cs typeface="Times New Roman"/>
              </a:rPr>
              <a:t> </a:t>
            </a:r>
            <a:r>
              <a:rPr dirty="0" u="none" spc="-20" b="0">
                <a:latin typeface="Times New Roman"/>
                <a:cs typeface="Times New Roman"/>
              </a:rPr>
              <a:t>CUDA-</a:t>
            </a:r>
            <a:r>
              <a:rPr dirty="0" u="none" b="0">
                <a:latin typeface="Times New Roman"/>
                <a:cs typeface="Times New Roman"/>
              </a:rPr>
              <a:t>enabled</a:t>
            </a:r>
            <a:r>
              <a:rPr dirty="0" u="none" spc="-15" b="0">
                <a:latin typeface="Times New Roman"/>
                <a:cs typeface="Times New Roman"/>
              </a:rPr>
              <a:t> </a:t>
            </a:r>
            <a:r>
              <a:rPr dirty="0" u="none" spc="-25" b="0">
                <a:latin typeface="Times New Roman"/>
                <a:cs typeface="Times New Roman"/>
              </a:rPr>
              <a:t>GPU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798195">
              <a:lnSpc>
                <a:spcPct val="100000"/>
              </a:lnSpc>
              <a:spcBef>
                <a:spcPts val="100"/>
              </a:spcBef>
            </a:pPr>
            <a:r>
              <a:rPr dirty="0" spc="-30"/>
              <a:t>IMPLEMENTATION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8925" y="1140325"/>
            <a:ext cx="6429374" cy="4819149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845296" y="1140325"/>
            <a:ext cx="5346698" cy="2257424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870700" y="3550149"/>
            <a:ext cx="5168899" cy="2409324"/>
          </a:xfrm>
          <a:prstGeom prst="rect">
            <a:avLst/>
          </a:prstGeom>
        </p:spPr>
      </p:pic>
      <p:sp>
        <p:nvSpPr>
          <p:cNvPr id="6" name="object 6" descr=""/>
          <p:cNvSpPr txBox="1"/>
          <p:nvPr/>
        </p:nvSpPr>
        <p:spPr>
          <a:xfrm>
            <a:off x="4338141" y="6466776"/>
            <a:ext cx="796925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z="1200" spc="-10">
                <a:solidFill>
                  <a:srgbClr val="888888"/>
                </a:solidFill>
                <a:latin typeface="Calibri"/>
                <a:cs typeface="Calibri"/>
              </a:rPr>
              <a:t>Review</a:t>
            </a:r>
            <a:r>
              <a:rPr dirty="0" sz="1200" spc="-15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dirty="0" sz="1200" spc="-20">
                <a:solidFill>
                  <a:srgbClr val="888888"/>
                </a:solidFill>
                <a:latin typeface="Calibri"/>
                <a:cs typeface="Calibri"/>
              </a:rPr>
              <a:t>No.1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7" name="object 7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95250">
              <a:lnSpc>
                <a:spcPts val="1240"/>
              </a:lnSpc>
            </a:pPr>
            <a:r>
              <a:rPr dirty="0">
                <a:latin typeface="Calibri"/>
                <a:cs typeface="Calibri"/>
              </a:rPr>
              <a:t>Batch</a:t>
            </a:r>
            <a:r>
              <a:rPr dirty="0" spc="-45">
                <a:latin typeface="Calibri"/>
                <a:cs typeface="Calibri"/>
              </a:rPr>
              <a:t> </a:t>
            </a:r>
            <a:r>
              <a:rPr dirty="0" spc="-10">
                <a:latin typeface="Calibri"/>
                <a:cs typeface="Calibri"/>
              </a:rPr>
              <a:t>No.DB4</a:t>
            </a:r>
          </a:p>
        </p:txBody>
      </p:sp>
      <p:sp>
        <p:nvSpPr>
          <p:cNvPr id="8" name="object 8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>
                <a:latin typeface="Calibri"/>
                <a:cs typeface="Calibri"/>
              </a:rPr>
              <a:t>Department</a:t>
            </a:r>
            <a:r>
              <a:rPr dirty="0" spc="-4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of</a:t>
            </a:r>
            <a:r>
              <a:rPr dirty="0" spc="-40">
                <a:latin typeface="Calibri"/>
                <a:cs typeface="Calibri"/>
              </a:rPr>
              <a:t> </a:t>
            </a:r>
            <a:r>
              <a:rPr dirty="0" spc="-25">
                <a:latin typeface="Calibri"/>
                <a:cs typeface="Calibri"/>
              </a:rPr>
              <a:t>CSE</a:t>
            </a:r>
          </a:p>
        </p:txBody>
      </p:sp>
      <p:sp>
        <p:nvSpPr>
          <p:cNvPr id="9" name="object 9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>
                <a:latin typeface="Calibri"/>
                <a:cs typeface="Calibri"/>
              </a:rPr>
              <a:t>24</a:t>
            </a:fld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1350" y="638175"/>
            <a:ext cx="4928231" cy="2825748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622400" y="189255"/>
            <a:ext cx="3287395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35"/>
              <a:t>RESULTS</a:t>
            </a:r>
            <a:r>
              <a:rPr dirty="0" spc="-90"/>
              <a:t> </a:t>
            </a:r>
            <a:r>
              <a:rPr dirty="0" spc="-20"/>
              <a:t>&amp;</a:t>
            </a:r>
            <a:r>
              <a:rPr dirty="0" spc="-135"/>
              <a:t> </a:t>
            </a:r>
            <a:r>
              <a:rPr dirty="0" spc="-20"/>
              <a:t>ANALYSIS</a:t>
            </a:r>
          </a:p>
        </p:txBody>
      </p:sp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208987" y="792485"/>
            <a:ext cx="5472494" cy="2760732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549650" y="3665538"/>
            <a:ext cx="5092699" cy="2552633"/>
          </a:xfrm>
          <a:prstGeom prst="rect">
            <a:avLst/>
          </a:prstGeom>
        </p:spPr>
      </p:pic>
      <p:sp>
        <p:nvSpPr>
          <p:cNvPr id="6" name="object 6" descr=""/>
          <p:cNvSpPr txBox="1"/>
          <p:nvPr/>
        </p:nvSpPr>
        <p:spPr>
          <a:xfrm>
            <a:off x="4338141" y="6466776"/>
            <a:ext cx="796925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z="1200" spc="-10">
                <a:solidFill>
                  <a:srgbClr val="888888"/>
                </a:solidFill>
                <a:latin typeface="Calibri"/>
                <a:cs typeface="Calibri"/>
              </a:rPr>
              <a:t>Review</a:t>
            </a:r>
            <a:r>
              <a:rPr dirty="0" sz="1200" spc="-15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dirty="0" sz="1200" spc="-20">
                <a:solidFill>
                  <a:srgbClr val="888888"/>
                </a:solidFill>
                <a:latin typeface="Calibri"/>
                <a:cs typeface="Calibri"/>
              </a:rPr>
              <a:t>No.1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7" name="object 7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95250">
              <a:lnSpc>
                <a:spcPts val="1240"/>
              </a:lnSpc>
            </a:pPr>
            <a:r>
              <a:rPr dirty="0">
                <a:latin typeface="Calibri"/>
                <a:cs typeface="Calibri"/>
              </a:rPr>
              <a:t>Batch</a:t>
            </a:r>
            <a:r>
              <a:rPr dirty="0" spc="-45">
                <a:latin typeface="Calibri"/>
                <a:cs typeface="Calibri"/>
              </a:rPr>
              <a:t> </a:t>
            </a:r>
            <a:r>
              <a:rPr dirty="0" spc="-10">
                <a:latin typeface="Calibri"/>
                <a:cs typeface="Calibri"/>
              </a:rPr>
              <a:t>No.DB4</a:t>
            </a:r>
          </a:p>
        </p:txBody>
      </p:sp>
      <p:sp>
        <p:nvSpPr>
          <p:cNvPr id="8" name="object 8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>
                <a:latin typeface="Calibri"/>
                <a:cs typeface="Calibri"/>
              </a:rPr>
              <a:t>Department</a:t>
            </a:r>
            <a:r>
              <a:rPr dirty="0" spc="-4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of</a:t>
            </a:r>
            <a:r>
              <a:rPr dirty="0" spc="-40">
                <a:latin typeface="Calibri"/>
                <a:cs typeface="Calibri"/>
              </a:rPr>
              <a:t> </a:t>
            </a:r>
            <a:r>
              <a:rPr dirty="0" spc="-25">
                <a:latin typeface="Calibri"/>
                <a:cs typeface="Calibri"/>
              </a:rPr>
              <a:t>CSE</a:t>
            </a:r>
          </a:p>
        </p:txBody>
      </p:sp>
      <p:sp>
        <p:nvSpPr>
          <p:cNvPr id="9" name="object 9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>
                <a:latin typeface="Calibri"/>
                <a:cs typeface="Calibri"/>
              </a:rPr>
              <a:t>24</a:t>
            </a:fld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996315">
              <a:lnSpc>
                <a:spcPct val="100000"/>
              </a:lnSpc>
              <a:spcBef>
                <a:spcPts val="100"/>
              </a:spcBef>
            </a:pPr>
            <a:r>
              <a:rPr dirty="0" spc="-35"/>
              <a:t>RESULTS</a:t>
            </a:r>
            <a:r>
              <a:rPr dirty="0" spc="-90"/>
              <a:t> </a:t>
            </a:r>
            <a:r>
              <a:rPr dirty="0" spc="-20"/>
              <a:t>&amp;</a:t>
            </a:r>
            <a:r>
              <a:rPr dirty="0" spc="-135"/>
              <a:t> </a:t>
            </a:r>
            <a:r>
              <a:rPr dirty="0" spc="-20"/>
              <a:t>ANALYSIS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9486" y="1193961"/>
            <a:ext cx="5262353" cy="4173590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321425" y="1260725"/>
            <a:ext cx="5519749" cy="3881226"/>
          </a:xfrm>
          <a:prstGeom prst="rect">
            <a:avLst/>
          </a:prstGeom>
        </p:spPr>
      </p:pic>
      <p:sp>
        <p:nvSpPr>
          <p:cNvPr id="5" name="object 5" descr=""/>
          <p:cNvSpPr txBox="1"/>
          <p:nvPr/>
        </p:nvSpPr>
        <p:spPr>
          <a:xfrm>
            <a:off x="4338141" y="6466776"/>
            <a:ext cx="796925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z="1200" spc="-10">
                <a:solidFill>
                  <a:srgbClr val="888888"/>
                </a:solidFill>
                <a:latin typeface="Calibri"/>
                <a:cs typeface="Calibri"/>
              </a:rPr>
              <a:t>Review</a:t>
            </a:r>
            <a:r>
              <a:rPr dirty="0" sz="1200" spc="-15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dirty="0" sz="1200" spc="-20">
                <a:solidFill>
                  <a:srgbClr val="888888"/>
                </a:solidFill>
                <a:latin typeface="Calibri"/>
                <a:cs typeface="Calibri"/>
              </a:rPr>
              <a:t>No.1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6" name="object 6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95250">
              <a:lnSpc>
                <a:spcPts val="1240"/>
              </a:lnSpc>
            </a:pPr>
            <a:r>
              <a:rPr dirty="0">
                <a:latin typeface="Calibri"/>
                <a:cs typeface="Calibri"/>
              </a:rPr>
              <a:t>Batch</a:t>
            </a:r>
            <a:r>
              <a:rPr dirty="0" spc="-45">
                <a:latin typeface="Calibri"/>
                <a:cs typeface="Calibri"/>
              </a:rPr>
              <a:t> </a:t>
            </a:r>
            <a:r>
              <a:rPr dirty="0" spc="-10">
                <a:latin typeface="Calibri"/>
                <a:cs typeface="Calibri"/>
              </a:rPr>
              <a:t>No.DB4</a:t>
            </a:r>
          </a:p>
        </p:txBody>
      </p:sp>
      <p:sp>
        <p:nvSpPr>
          <p:cNvPr id="7" name="object 7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>
                <a:latin typeface="Calibri"/>
                <a:cs typeface="Calibri"/>
              </a:rPr>
              <a:t>Department</a:t>
            </a:r>
            <a:r>
              <a:rPr dirty="0" spc="-4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of</a:t>
            </a:r>
            <a:r>
              <a:rPr dirty="0" spc="-40">
                <a:latin typeface="Calibri"/>
                <a:cs typeface="Calibri"/>
              </a:rPr>
              <a:t> </a:t>
            </a:r>
            <a:r>
              <a:rPr dirty="0" spc="-25">
                <a:latin typeface="Calibri"/>
                <a:cs typeface="Calibri"/>
              </a:rPr>
              <a:t>CSE</a:t>
            </a:r>
          </a:p>
        </p:txBody>
      </p:sp>
      <p:sp>
        <p:nvSpPr>
          <p:cNvPr id="8" name="object 8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>
                <a:latin typeface="Calibri"/>
                <a:cs typeface="Calibri"/>
              </a:rPr>
              <a:t>24</a:t>
            </a:fld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726796" y="380380"/>
            <a:ext cx="5077460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CONCLUSION</a:t>
            </a:r>
            <a:r>
              <a:rPr dirty="0" spc="-100"/>
              <a:t> </a:t>
            </a:r>
            <a:r>
              <a:rPr dirty="0"/>
              <a:t>and</a:t>
            </a:r>
            <a:r>
              <a:rPr dirty="0" spc="-100"/>
              <a:t> </a:t>
            </a:r>
            <a:r>
              <a:rPr dirty="0"/>
              <a:t>FUTURE</a:t>
            </a:r>
            <a:r>
              <a:rPr dirty="0" spc="-100"/>
              <a:t> </a:t>
            </a:r>
            <a:r>
              <a:rPr dirty="0" spc="-10"/>
              <a:t>SCOPE</a:t>
            </a:r>
          </a:p>
        </p:txBody>
      </p:sp>
      <p:sp>
        <p:nvSpPr>
          <p:cNvPr id="4" name="object 4" descr=""/>
          <p:cNvSpPr txBox="1"/>
          <p:nvPr/>
        </p:nvSpPr>
        <p:spPr>
          <a:xfrm>
            <a:off x="4338141" y="6466776"/>
            <a:ext cx="796925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z="1200" spc="-10">
                <a:solidFill>
                  <a:srgbClr val="888888"/>
                </a:solidFill>
                <a:latin typeface="Calibri"/>
                <a:cs typeface="Calibri"/>
              </a:rPr>
              <a:t>Review</a:t>
            </a:r>
            <a:r>
              <a:rPr dirty="0" sz="1200" spc="-15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dirty="0" sz="1200" spc="-20">
                <a:solidFill>
                  <a:srgbClr val="888888"/>
                </a:solidFill>
                <a:latin typeface="Calibri"/>
                <a:cs typeface="Calibri"/>
              </a:rPr>
              <a:t>No.1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5" name="object 5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95250">
              <a:lnSpc>
                <a:spcPts val="1240"/>
              </a:lnSpc>
            </a:pPr>
            <a:r>
              <a:rPr dirty="0">
                <a:latin typeface="Calibri"/>
                <a:cs typeface="Calibri"/>
              </a:rPr>
              <a:t>Batch</a:t>
            </a:r>
            <a:r>
              <a:rPr dirty="0" spc="-45">
                <a:latin typeface="Calibri"/>
                <a:cs typeface="Calibri"/>
              </a:rPr>
              <a:t> </a:t>
            </a:r>
            <a:r>
              <a:rPr dirty="0" spc="-10">
                <a:latin typeface="Calibri"/>
                <a:cs typeface="Calibri"/>
              </a:rPr>
              <a:t>No.DB4</a:t>
            </a:r>
          </a:p>
        </p:txBody>
      </p:sp>
      <p:sp>
        <p:nvSpPr>
          <p:cNvPr id="6" name="object 6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>
                <a:latin typeface="Calibri"/>
                <a:cs typeface="Calibri"/>
              </a:rPr>
              <a:t>Department</a:t>
            </a:r>
            <a:r>
              <a:rPr dirty="0" spc="-4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of</a:t>
            </a:r>
            <a:r>
              <a:rPr dirty="0" spc="-40">
                <a:latin typeface="Calibri"/>
                <a:cs typeface="Calibri"/>
              </a:rPr>
              <a:t> </a:t>
            </a:r>
            <a:r>
              <a:rPr dirty="0" spc="-25">
                <a:latin typeface="Calibri"/>
                <a:cs typeface="Calibri"/>
              </a:rPr>
              <a:t>CSE</a:t>
            </a:r>
          </a:p>
        </p:txBody>
      </p:sp>
      <p:sp>
        <p:nvSpPr>
          <p:cNvPr id="7" name="object 7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>
                <a:latin typeface="Calibri"/>
                <a:cs typeface="Calibri"/>
              </a:rPr>
              <a:t>24</a:t>
            </a:fld>
          </a:p>
        </p:txBody>
      </p:sp>
      <p:sp>
        <p:nvSpPr>
          <p:cNvPr id="3" name="object 3" descr=""/>
          <p:cNvSpPr txBox="1"/>
          <p:nvPr/>
        </p:nvSpPr>
        <p:spPr>
          <a:xfrm>
            <a:off x="518173" y="780220"/>
            <a:ext cx="11068050" cy="5365750"/>
          </a:xfrm>
          <a:prstGeom prst="rect">
            <a:avLst/>
          </a:prstGeom>
        </p:spPr>
        <p:txBody>
          <a:bodyPr wrap="square" lIns="0" tIns="113664" rIns="0" bIns="0" rtlCol="0" vert="horz">
            <a:spAutoFit/>
          </a:bodyPr>
          <a:lstStyle/>
          <a:p>
            <a:pPr marL="27305">
              <a:lnSpc>
                <a:spcPct val="100000"/>
              </a:lnSpc>
              <a:spcBef>
                <a:spcPts val="894"/>
              </a:spcBef>
            </a:pPr>
            <a:r>
              <a:rPr dirty="0" sz="1700" spc="-10" b="1">
                <a:latin typeface="Times New Roman"/>
                <a:cs typeface="Times New Roman"/>
              </a:rPr>
              <a:t>Conclusion:</a:t>
            </a:r>
            <a:endParaRPr sz="1700">
              <a:latin typeface="Times New Roman"/>
              <a:cs typeface="Times New Roman"/>
            </a:endParaRPr>
          </a:p>
          <a:p>
            <a:pPr marL="254635" marR="271145" indent="-242570">
              <a:lnSpc>
                <a:spcPts val="1839"/>
              </a:lnSpc>
              <a:spcBef>
                <a:spcPts val="1025"/>
              </a:spcBef>
              <a:buFont typeface="Segoe UI Symbol"/>
              <a:buChar char="□"/>
              <a:tabLst>
                <a:tab pos="255904" algn="l"/>
              </a:tabLst>
            </a:pPr>
            <a:r>
              <a:rPr dirty="0" sz="1700">
                <a:latin typeface="Times New Roman"/>
                <a:cs typeface="Times New Roman"/>
              </a:rPr>
              <a:t>The</a:t>
            </a:r>
            <a:r>
              <a:rPr dirty="0" sz="1700" spc="-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study successfully</a:t>
            </a:r>
            <a:r>
              <a:rPr dirty="0" sz="1700" spc="-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implemented three</a:t>
            </a:r>
            <a:r>
              <a:rPr dirty="0" sz="1700" spc="-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CNN architectures</a:t>
            </a:r>
            <a:r>
              <a:rPr dirty="0" sz="1700" spc="-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— </a:t>
            </a:r>
            <a:r>
              <a:rPr dirty="0" sz="1700" spc="-10">
                <a:latin typeface="Times New Roman"/>
                <a:cs typeface="Times New Roman"/>
              </a:rPr>
              <a:t>EﬃcientNetV2-</a:t>
            </a:r>
            <a:r>
              <a:rPr dirty="0" sz="1700">
                <a:latin typeface="Times New Roman"/>
                <a:cs typeface="Times New Roman"/>
              </a:rPr>
              <a:t>S,</a:t>
            </a:r>
            <a:r>
              <a:rPr dirty="0" sz="1700" spc="-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DenseNet121, and InceptionV3</a:t>
            </a:r>
            <a:r>
              <a:rPr dirty="0" sz="1700" spc="-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— </a:t>
            </a:r>
            <a:r>
              <a:rPr dirty="0" sz="1700" spc="-25">
                <a:latin typeface="Times New Roman"/>
                <a:cs typeface="Times New Roman"/>
              </a:rPr>
              <a:t>for </a:t>
            </a:r>
            <a:r>
              <a:rPr dirty="0" sz="1700" spc="-25">
                <a:latin typeface="Times New Roman"/>
                <a:cs typeface="Times New Roman"/>
              </a:rPr>
              <a:t>	</a:t>
            </a:r>
            <a:r>
              <a:rPr dirty="0" sz="1700">
                <a:latin typeface="Times New Roman"/>
                <a:cs typeface="Times New Roman"/>
              </a:rPr>
              <a:t>Monkeypox</a:t>
            </a:r>
            <a:r>
              <a:rPr dirty="0" sz="1700" spc="-4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detection</a:t>
            </a:r>
            <a:r>
              <a:rPr dirty="0" sz="1700" spc="-4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using</a:t>
            </a:r>
            <a:r>
              <a:rPr dirty="0" sz="1700" spc="-4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skin</a:t>
            </a:r>
            <a:r>
              <a:rPr dirty="0" sz="1700" spc="-4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lesion</a:t>
            </a:r>
            <a:r>
              <a:rPr dirty="0" sz="1700" spc="-40">
                <a:latin typeface="Times New Roman"/>
                <a:cs typeface="Times New Roman"/>
              </a:rPr>
              <a:t> </a:t>
            </a:r>
            <a:r>
              <a:rPr dirty="0" sz="1700" spc="-10">
                <a:latin typeface="Times New Roman"/>
                <a:cs typeface="Times New Roman"/>
              </a:rPr>
              <a:t>images.</a:t>
            </a:r>
            <a:endParaRPr sz="17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869"/>
              </a:spcBef>
              <a:buFont typeface="Segoe UI Symbol"/>
              <a:buChar char="□"/>
            </a:pPr>
            <a:endParaRPr sz="1700">
              <a:latin typeface="Times New Roman"/>
              <a:cs typeface="Times New Roman"/>
            </a:endParaRPr>
          </a:p>
          <a:p>
            <a:pPr marL="254635" marR="348615" indent="-242570">
              <a:lnSpc>
                <a:spcPts val="1839"/>
              </a:lnSpc>
              <a:buFont typeface="Segoe UI Symbol"/>
              <a:buChar char="□"/>
              <a:tabLst>
                <a:tab pos="255904" algn="l"/>
              </a:tabLst>
            </a:pPr>
            <a:r>
              <a:rPr dirty="0" sz="1700">
                <a:latin typeface="Times New Roman"/>
                <a:cs typeface="Times New Roman"/>
              </a:rPr>
              <a:t>Among</a:t>
            </a:r>
            <a:r>
              <a:rPr dirty="0" sz="1700" spc="-2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the</a:t>
            </a:r>
            <a:r>
              <a:rPr dirty="0" sz="1700" spc="-2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models,</a:t>
            </a:r>
            <a:r>
              <a:rPr dirty="0" sz="1700" spc="-2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InceptionV3</a:t>
            </a:r>
            <a:r>
              <a:rPr dirty="0" sz="1700" spc="-2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achieved</a:t>
            </a:r>
            <a:r>
              <a:rPr dirty="0" sz="1700" spc="-2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the</a:t>
            </a:r>
            <a:r>
              <a:rPr dirty="0" sz="1700" spc="-2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highest</a:t>
            </a:r>
            <a:r>
              <a:rPr dirty="0" sz="1700" spc="-2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accuracy</a:t>
            </a:r>
            <a:r>
              <a:rPr dirty="0" sz="1700" spc="-2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(95%),</a:t>
            </a:r>
            <a:r>
              <a:rPr dirty="0" sz="1700" spc="-2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followed</a:t>
            </a:r>
            <a:r>
              <a:rPr dirty="0" sz="1700" spc="-2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closely</a:t>
            </a:r>
            <a:r>
              <a:rPr dirty="0" sz="1700" spc="-2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by</a:t>
            </a:r>
            <a:r>
              <a:rPr dirty="0" sz="1700" spc="-2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DenseNet121</a:t>
            </a:r>
            <a:r>
              <a:rPr dirty="0" sz="1700" spc="-1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(93%),</a:t>
            </a:r>
            <a:r>
              <a:rPr dirty="0" sz="1700" spc="-20">
                <a:latin typeface="Times New Roman"/>
                <a:cs typeface="Times New Roman"/>
              </a:rPr>
              <a:t> </a:t>
            </a:r>
            <a:r>
              <a:rPr dirty="0" sz="1700" spc="-10">
                <a:latin typeface="Times New Roman"/>
                <a:cs typeface="Times New Roman"/>
              </a:rPr>
              <a:t>proving </a:t>
            </a:r>
            <a:r>
              <a:rPr dirty="0" sz="1700" spc="-10">
                <a:latin typeface="Times New Roman"/>
                <a:cs typeface="Times New Roman"/>
              </a:rPr>
              <a:t>	</a:t>
            </a:r>
            <a:r>
              <a:rPr dirty="0" sz="1700">
                <a:latin typeface="Times New Roman"/>
                <a:cs typeface="Times New Roman"/>
              </a:rPr>
              <a:t>their</a:t>
            </a:r>
            <a:r>
              <a:rPr dirty="0" sz="1700" spc="-1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strong</a:t>
            </a:r>
            <a:r>
              <a:rPr dirty="0" sz="1700" spc="-1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diagnostic</a:t>
            </a:r>
            <a:r>
              <a:rPr dirty="0" sz="1700" spc="-10">
                <a:latin typeface="Times New Roman"/>
                <a:cs typeface="Times New Roman"/>
              </a:rPr>
              <a:t> capability.</a:t>
            </a:r>
            <a:endParaRPr sz="17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875"/>
              </a:spcBef>
              <a:buFont typeface="Segoe UI Symbol"/>
              <a:buChar char="□"/>
            </a:pPr>
            <a:endParaRPr sz="1700">
              <a:latin typeface="Times New Roman"/>
              <a:cs typeface="Times New Roman"/>
            </a:endParaRPr>
          </a:p>
          <a:p>
            <a:pPr marL="254635" marR="586740" indent="-242570">
              <a:lnSpc>
                <a:spcPts val="1839"/>
              </a:lnSpc>
              <a:buFont typeface="Segoe UI Symbol"/>
              <a:buChar char="□"/>
              <a:tabLst>
                <a:tab pos="255904" algn="l"/>
              </a:tabLst>
            </a:pPr>
            <a:r>
              <a:rPr dirty="0" sz="1700">
                <a:latin typeface="Times New Roman"/>
                <a:cs typeface="Times New Roman"/>
              </a:rPr>
              <a:t>LIME</a:t>
            </a:r>
            <a:r>
              <a:rPr dirty="0" sz="1700" spc="-25">
                <a:latin typeface="Times New Roman"/>
                <a:cs typeface="Times New Roman"/>
              </a:rPr>
              <a:t> </a:t>
            </a:r>
            <a:r>
              <a:rPr dirty="0" sz="1700" spc="-10">
                <a:latin typeface="Times New Roman"/>
                <a:cs typeface="Times New Roman"/>
              </a:rPr>
              <a:t>explainability</a:t>
            </a:r>
            <a:r>
              <a:rPr dirty="0" sz="1700" spc="-2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provided</a:t>
            </a:r>
            <a:r>
              <a:rPr dirty="0" sz="1700" spc="-2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clear</a:t>
            </a:r>
            <a:r>
              <a:rPr dirty="0" sz="1700" spc="-2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visualization</a:t>
            </a:r>
            <a:r>
              <a:rPr dirty="0" sz="1700" spc="-2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of</a:t>
            </a:r>
            <a:r>
              <a:rPr dirty="0" sz="1700" spc="-2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lesion</a:t>
            </a:r>
            <a:r>
              <a:rPr dirty="0" sz="1700" spc="-2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regions</a:t>
            </a:r>
            <a:r>
              <a:rPr dirty="0" sz="1700" spc="-25">
                <a:latin typeface="Times New Roman"/>
                <a:cs typeface="Times New Roman"/>
              </a:rPr>
              <a:t> </a:t>
            </a:r>
            <a:r>
              <a:rPr dirty="0" sz="1700" spc="-10">
                <a:latin typeface="Times New Roman"/>
                <a:cs typeface="Times New Roman"/>
              </a:rPr>
              <a:t>influencing</a:t>
            </a:r>
            <a:r>
              <a:rPr dirty="0" sz="1700" spc="-2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predictions,</a:t>
            </a:r>
            <a:r>
              <a:rPr dirty="0" sz="1700" spc="-2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enhancing</a:t>
            </a:r>
            <a:r>
              <a:rPr dirty="0" sz="1700" spc="-2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clinical</a:t>
            </a:r>
            <a:r>
              <a:rPr dirty="0" sz="1700" spc="-2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trust</a:t>
            </a:r>
            <a:r>
              <a:rPr dirty="0" sz="1700" spc="-25">
                <a:latin typeface="Times New Roman"/>
                <a:cs typeface="Times New Roman"/>
              </a:rPr>
              <a:t> and </a:t>
            </a:r>
            <a:r>
              <a:rPr dirty="0" sz="1700" spc="-25">
                <a:latin typeface="Times New Roman"/>
                <a:cs typeface="Times New Roman"/>
              </a:rPr>
              <a:t>	</a:t>
            </a:r>
            <a:r>
              <a:rPr dirty="0" sz="1700" spc="-10">
                <a:latin typeface="Times New Roman"/>
                <a:cs typeface="Times New Roman"/>
              </a:rPr>
              <a:t>transparency.</a:t>
            </a:r>
            <a:endParaRPr sz="17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869"/>
              </a:spcBef>
              <a:buFont typeface="Segoe UI Symbol"/>
              <a:buChar char="□"/>
            </a:pPr>
            <a:endParaRPr sz="1700">
              <a:latin typeface="Times New Roman"/>
              <a:cs typeface="Times New Roman"/>
            </a:endParaRPr>
          </a:p>
          <a:p>
            <a:pPr marL="254635" marR="5080" indent="-242570">
              <a:lnSpc>
                <a:spcPts val="1839"/>
              </a:lnSpc>
              <a:spcBef>
                <a:spcPts val="5"/>
              </a:spcBef>
              <a:buFont typeface="Segoe UI Symbol"/>
              <a:buChar char="□"/>
              <a:tabLst>
                <a:tab pos="255904" algn="l"/>
              </a:tabLst>
            </a:pPr>
            <a:r>
              <a:rPr dirty="0" sz="1700">
                <a:latin typeface="Times New Roman"/>
                <a:cs typeface="Times New Roman"/>
              </a:rPr>
              <a:t>The</a:t>
            </a:r>
            <a:r>
              <a:rPr dirty="0" sz="1700" spc="-2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proposed</a:t>
            </a:r>
            <a:r>
              <a:rPr dirty="0" sz="1700" spc="-1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approach</a:t>
            </a:r>
            <a:r>
              <a:rPr dirty="0" sz="1700" spc="-2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demonstrates</a:t>
            </a:r>
            <a:r>
              <a:rPr dirty="0" sz="1700" spc="-1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that</a:t>
            </a:r>
            <a:r>
              <a:rPr dirty="0" sz="1700" spc="-10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AI-driven</a:t>
            </a:r>
            <a:r>
              <a:rPr dirty="0" sz="1700" spc="-2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models</a:t>
            </a:r>
            <a:r>
              <a:rPr dirty="0" sz="1700" spc="-1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can</a:t>
            </a:r>
            <a:r>
              <a:rPr dirty="0" sz="1700" spc="-1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serve</a:t>
            </a:r>
            <a:r>
              <a:rPr dirty="0" sz="1700" spc="-2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as</a:t>
            </a:r>
            <a:r>
              <a:rPr dirty="0" sz="1700" spc="-1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reliable</a:t>
            </a:r>
            <a:r>
              <a:rPr dirty="0" sz="1700" spc="-2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decision-support</a:t>
            </a:r>
            <a:r>
              <a:rPr dirty="0" sz="1700" spc="-1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tools</a:t>
            </a:r>
            <a:r>
              <a:rPr dirty="0" sz="1700" spc="-1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for</a:t>
            </a:r>
            <a:r>
              <a:rPr dirty="0" sz="1700" spc="-2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early</a:t>
            </a:r>
            <a:r>
              <a:rPr dirty="0" sz="1700" spc="-15">
                <a:latin typeface="Times New Roman"/>
                <a:cs typeface="Times New Roman"/>
              </a:rPr>
              <a:t> </a:t>
            </a:r>
            <a:r>
              <a:rPr dirty="0" sz="1700" spc="-10">
                <a:latin typeface="Times New Roman"/>
                <a:cs typeface="Times New Roman"/>
              </a:rPr>
              <a:t>Monkeypox </a:t>
            </a:r>
            <a:r>
              <a:rPr dirty="0" sz="1700" spc="-10">
                <a:latin typeface="Times New Roman"/>
                <a:cs typeface="Times New Roman"/>
              </a:rPr>
              <a:t>	</a:t>
            </a:r>
            <a:r>
              <a:rPr dirty="0" sz="1700">
                <a:latin typeface="Times New Roman"/>
                <a:cs typeface="Times New Roman"/>
              </a:rPr>
              <a:t>screening,</a:t>
            </a:r>
            <a:r>
              <a:rPr dirty="0" sz="1700" spc="-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especially in </a:t>
            </a:r>
            <a:r>
              <a:rPr dirty="0" sz="1700" spc="-20">
                <a:latin typeface="Times New Roman"/>
                <a:cs typeface="Times New Roman"/>
              </a:rPr>
              <a:t>low-</a:t>
            </a:r>
            <a:r>
              <a:rPr dirty="0" sz="1700">
                <a:latin typeface="Times New Roman"/>
                <a:cs typeface="Times New Roman"/>
              </a:rPr>
              <a:t>resource or remote </a:t>
            </a:r>
            <a:r>
              <a:rPr dirty="0" sz="1700" spc="-10">
                <a:latin typeface="Times New Roman"/>
                <a:cs typeface="Times New Roman"/>
              </a:rPr>
              <a:t>areas.</a:t>
            </a:r>
            <a:endParaRPr sz="1700">
              <a:latin typeface="Times New Roman"/>
              <a:cs typeface="Times New Roman"/>
            </a:endParaRPr>
          </a:p>
          <a:p>
            <a:pPr marL="27305">
              <a:lnSpc>
                <a:spcPct val="100000"/>
              </a:lnSpc>
              <a:spcBef>
                <a:spcPts val="760"/>
              </a:spcBef>
            </a:pPr>
            <a:r>
              <a:rPr dirty="0" sz="1700">
                <a:latin typeface="Times New Roman"/>
                <a:cs typeface="Times New Roman"/>
              </a:rPr>
              <a:t>Future</a:t>
            </a:r>
            <a:r>
              <a:rPr dirty="0" sz="1700" spc="-55">
                <a:latin typeface="Times New Roman"/>
                <a:cs typeface="Times New Roman"/>
              </a:rPr>
              <a:t> </a:t>
            </a:r>
            <a:r>
              <a:rPr dirty="0" sz="1700" spc="-10">
                <a:latin typeface="Times New Roman"/>
                <a:cs typeface="Times New Roman"/>
              </a:rPr>
              <a:t>Work:</a:t>
            </a:r>
            <a:endParaRPr sz="1700">
              <a:latin typeface="Times New Roman"/>
              <a:cs typeface="Times New Roman"/>
            </a:endParaRPr>
          </a:p>
          <a:p>
            <a:pPr marL="255270" indent="-242570">
              <a:lnSpc>
                <a:spcPct val="100000"/>
              </a:lnSpc>
              <a:spcBef>
                <a:spcPts val="800"/>
              </a:spcBef>
              <a:buFont typeface="Segoe UI Symbol"/>
              <a:buChar char="□"/>
              <a:tabLst>
                <a:tab pos="255270" algn="l"/>
              </a:tabLst>
            </a:pPr>
            <a:r>
              <a:rPr dirty="0" sz="1700">
                <a:latin typeface="Times New Roman"/>
                <a:cs typeface="Times New Roman"/>
              </a:rPr>
              <a:t>Expand</a:t>
            </a:r>
            <a:r>
              <a:rPr dirty="0" sz="1700" spc="-3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dataset</a:t>
            </a:r>
            <a:r>
              <a:rPr dirty="0" sz="1700" spc="-3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size</a:t>
            </a:r>
            <a:r>
              <a:rPr dirty="0" sz="1700" spc="-3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with</a:t>
            </a:r>
            <a:r>
              <a:rPr dirty="0" sz="1700" spc="-3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diverse,</a:t>
            </a:r>
            <a:r>
              <a:rPr dirty="0" sz="1700" spc="-3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clinically</a:t>
            </a:r>
            <a:r>
              <a:rPr dirty="0" sz="1700" spc="-30">
                <a:latin typeface="Times New Roman"/>
                <a:cs typeface="Times New Roman"/>
              </a:rPr>
              <a:t> </a:t>
            </a:r>
            <a:r>
              <a:rPr dirty="0" sz="1700" spc="-20">
                <a:latin typeface="Times New Roman"/>
                <a:cs typeface="Times New Roman"/>
              </a:rPr>
              <a:t>verified</a:t>
            </a:r>
            <a:r>
              <a:rPr dirty="0" sz="1700" spc="-3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Monkeypox</a:t>
            </a:r>
            <a:r>
              <a:rPr dirty="0" sz="1700" spc="-3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and</a:t>
            </a:r>
            <a:r>
              <a:rPr dirty="0" sz="1700" spc="-3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Normal</a:t>
            </a:r>
            <a:r>
              <a:rPr dirty="0" sz="1700" spc="-2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images</a:t>
            </a:r>
            <a:r>
              <a:rPr dirty="0" sz="1700" spc="-3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to</a:t>
            </a:r>
            <a:r>
              <a:rPr dirty="0" sz="1700" spc="-3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improve</a:t>
            </a:r>
            <a:r>
              <a:rPr dirty="0" sz="1700" spc="-30">
                <a:latin typeface="Times New Roman"/>
                <a:cs typeface="Times New Roman"/>
              </a:rPr>
              <a:t> </a:t>
            </a:r>
            <a:r>
              <a:rPr dirty="0" sz="1700" spc="-10">
                <a:latin typeface="Times New Roman"/>
                <a:cs typeface="Times New Roman"/>
              </a:rPr>
              <a:t>generalization.</a:t>
            </a:r>
            <a:endParaRPr sz="17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675"/>
              </a:spcBef>
              <a:buFont typeface="Segoe UI Symbol"/>
              <a:buChar char="□"/>
            </a:pPr>
            <a:endParaRPr sz="1700">
              <a:latin typeface="Times New Roman"/>
              <a:cs typeface="Times New Roman"/>
            </a:endParaRPr>
          </a:p>
          <a:p>
            <a:pPr marL="255270" indent="-242570">
              <a:lnSpc>
                <a:spcPct val="100000"/>
              </a:lnSpc>
              <a:buFont typeface="Segoe UI Symbol"/>
              <a:buChar char="□"/>
              <a:tabLst>
                <a:tab pos="255270" algn="l"/>
              </a:tabLst>
            </a:pPr>
            <a:r>
              <a:rPr dirty="0" sz="1700">
                <a:latin typeface="Times New Roman"/>
                <a:cs typeface="Times New Roman"/>
              </a:rPr>
              <a:t>Integrate</a:t>
            </a:r>
            <a:r>
              <a:rPr dirty="0" sz="1700" spc="-2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real</a:t>
            </a:r>
            <a:r>
              <a:rPr dirty="0" sz="1700" spc="-2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clinical</a:t>
            </a:r>
            <a:r>
              <a:rPr dirty="0" sz="1700" spc="-2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testing</a:t>
            </a:r>
            <a:r>
              <a:rPr dirty="0" sz="1700" spc="-2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through</a:t>
            </a:r>
            <a:r>
              <a:rPr dirty="0" sz="1700" spc="-2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collaboration</a:t>
            </a:r>
            <a:r>
              <a:rPr dirty="0" sz="1700" spc="-2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with</a:t>
            </a:r>
            <a:r>
              <a:rPr dirty="0" sz="1700" spc="-2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hospitals</a:t>
            </a:r>
            <a:r>
              <a:rPr dirty="0" sz="1700" spc="-2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and</a:t>
            </a:r>
            <a:r>
              <a:rPr dirty="0" sz="1700" spc="-2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medical</a:t>
            </a:r>
            <a:r>
              <a:rPr dirty="0" sz="1700" spc="-25">
                <a:latin typeface="Times New Roman"/>
                <a:cs typeface="Times New Roman"/>
              </a:rPr>
              <a:t> </a:t>
            </a:r>
            <a:r>
              <a:rPr dirty="0" sz="1700" spc="-10">
                <a:latin typeface="Times New Roman"/>
                <a:cs typeface="Times New Roman"/>
              </a:rPr>
              <a:t>professionals.</a:t>
            </a:r>
            <a:endParaRPr sz="17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675"/>
              </a:spcBef>
              <a:buFont typeface="Segoe UI Symbol"/>
              <a:buChar char="□"/>
            </a:pPr>
            <a:endParaRPr sz="1700">
              <a:latin typeface="Times New Roman"/>
              <a:cs typeface="Times New Roman"/>
            </a:endParaRPr>
          </a:p>
          <a:p>
            <a:pPr marL="255270" indent="-242570">
              <a:lnSpc>
                <a:spcPct val="100000"/>
              </a:lnSpc>
              <a:buFont typeface="Segoe UI Symbol"/>
              <a:buChar char="□"/>
              <a:tabLst>
                <a:tab pos="255270" algn="l"/>
              </a:tabLst>
            </a:pPr>
            <a:r>
              <a:rPr dirty="0" sz="1700">
                <a:latin typeface="Times New Roman"/>
                <a:cs typeface="Times New Roman"/>
              </a:rPr>
              <a:t>Develop</a:t>
            </a:r>
            <a:r>
              <a:rPr dirty="0" sz="1700" spc="-2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a</a:t>
            </a:r>
            <a:r>
              <a:rPr dirty="0" sz="1700" spc="-2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mobile</a:t>
            </a:r>
            <a:r>
              <a:rPr dirty="0" sz="1700" spc="-2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or</a:t>
            </a:r>
            <a:r>
              <a:rPr dirty="0" sz="1700" spc="-2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web-based</a:t>
            </a:r>
            <a:r>
              <a:rPr dirty="0" sz="1700" spc="-2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diagnostic</a:t>
            </a:r>
            <a:r>
              <a:rPr dirty="0" sz="1700" spc="-2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app</a:t>
            </a:r>
            <a:r>
              <a:rPr dirty="0" sz="1700" spc="-2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for</a:t>
            </a:r>
            <a:r>
              <a:rPr dirty="0" sz="1700" spc="-2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real-time</a:t>
            </a:r>
            <a:r>
              <a:rPr dirty="0" sz="1700" spc="-2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skin</a:t>
            </a:r>
            <a:r>
              <a:rPr dirty="0" sz="1700" spc="-2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lesion</a:t>
            </a:r>
            <a:r>
              <a:rPr dirty="0" sz="1700" spc="-20">
                <a:latin typeface="Times New Roman"/>
                <a:cs typeface="Times New Roman"/>
              </a:rPr>
              <a:t> </a:t>
            </a:r>
            <a:r>
              <a:rPr dirty="0" sz="1700" spc="-10">
                <a:latin typeface="Times New Roman"/>
                <a:cs typeface="Times New Roman"/>
              </a:rPr>
              <a:t>analysis.</a:t>
            </a:r>
            <a:endParaRPr sz="17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229761" y="345255"/>
            <a:ext cx="2074545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REFERENCES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40005">
              <a:lnSpc>
                <a:spcPts val="1410"/>
              </a:lnSpc>
            </a:pPr>
            <a:fld id="{81D60167-4931-47E6-BA6A-407CBD079E47}" type="slidenum">
              <a:rPr dirty="0" spc="-25"/>
              <a:t>29</a:t>
            </a:fld>
          </a:p>
        </p:txBody>
      </p:sp>
      <p:sp>
        <p:nvSpPr>
          <p:cNvPr id="5" name="object 5" descr=""/>
          <p:cNvSpPr txBox="1"/>
          <p:nvPr/>
        </p:nvSpPr>
        <p:spPr>
          <a:xfrm>
            <a:off x="4227227" y="6581783"/>
            <a:ext cx="868044" cy="19431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 sz="1200">
                <a:solidFill>
                  <a:srgbClr val="888888"/>
                </a:solidFill>
                <a:latin typeface="Times New Roman"/>
                <a:cs typeface="Times New Roman"/>
              </a:rPr>
              <a:t>Review</a:t>
            </a:r>
            <a:r>
              <a:rPr dirty="0" sz="1200" spc="-4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888888"/>
                </a:solidFill>
                <a:latin typeface="Times New Roman"/>
                <a:cs typeface="Times New Roman"/>
              </a:rPr>
              <a:t>No.</a:t>
            </a:r>
            <a:r>
              <a:rPr dirty="0" sz="1200" spc="-3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dirty="0" sz="1200" spc="-50">
                <a:solidFill>
                  <a:srgbClr val="888888"/>
                </a:solidFill>
                <a:latin typeface="Times New Roman"/>
                <a:cs typeface="Times New Roman"/>
              </a:rPr>
              <a:t>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6" name="object 6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36525" rIns="0" bIns="0" rtlCol="0" vert="horz">
            <a:spAutoFit/>
          </a:bodyPr>
          <a:lstStyle/>
          <a:p>
            <a:pPr marL="88900">
              <a:lnSpc>
                <a:spcPts val="1410"/>
              </a:lnSpc>
            </a:pPr>
            <a:r>
              <a:rPr dirty="0"/>
              <a:t>Batch</a:t>
            </a:r>
            <a:r>
              <a:rPr dirty="0" spc="-10"/>
              <a:t> </a:t>
            </a:r>
            <a:r>
              <a:rPr dirty="0"/>
              <a:t>No.</a:t>
            </a:r>
            <a:r>
              <a:rPr dirty="0" spc="280"/>
              <a:t> </a:t>
            </a:r>
            <a:r>
              <a:rPr dirty="0" spc="-25"/>
              <a:t>DB4</a:t>
            </a:r>
          </a:p>
        </p:txBody>
      </p:sp>
      <p:sp>
        <p:nvSpPr>
          <p:cNvPr id="7" name="object 7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136525" rIns="0" bIns="0" rtlCol="0" vert="horz">
            <a:spAutoFit/>
          </a:bodyPr>
          <a:lstStyle/>
          <a:p>
            <a:pPr marL="98425">
              <a:lnSpc>
                <a:spcPts val="1410"/>
              </a:lnSpc>
            </a:pPr>
            <a:r>
              <a:rPr dirty="0" spc="-10"/>
              <a:t>Department</a:t>
            </a:r>
            <a:r>
              <a:rPr dirty="0" spc="-15"/>
              <a:t> </a:t>
            </a:r>
            <a:r>
              <a:rPr dirty="0"/>
              <a:t>of</a:t>
            </a:r>
            <a:r>
              <a:rPr dirty="0" spc="-5"/>
              <a:t> </a:t>
            </a:r>
            <a:r>
              <a:rPr dirty="0" spc="-25"/>
              <a:t>CSE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850323" y="891387"/>
            <a:ext cx="10328910" cy="5476875"/>
          </a:xfrm>
          <a:prstGeom prst="rect">
            <a:avLst/>
          </a:prstGeom>
        </p:spPr>
        <p:txBody>
          <a:bodyPr wrap="square" lIns="0" tIns="41275" rIns="0" bIns="0" rtlCol="0" vert="horz">
            <a:spAutoFit/>
          </a:bodyPr>
          <a:lstStyle/>
          <a:p>
            <a:pPr marL="208279" marR="123825" indent="-196215">
              <a:lnSpc>
                <a:spcPts val="1839"/>
              </a:lnSpc>
              <a:spcBef>
                <a:spcPts val="325"/>
              </a:spcBef>
              <a:buFont typeface="Tahoma"/>
              <a:buChar char="•"/>
              <a:tabLst>
                <a:tab pos="208279" algn="l"/>
                <a:tab pos="209550" algn="l"/>
              </a:tabLst>
            </a:pPr>
            <a:r>
              <a:rPr dirty="0" sz="1700">
                <a:latin typeface="Times New Roman"/>
                <a:cs typeface="Times New Roman"/>
              </a:rPr>
              <a:t>	[1]</a:t>
            </a:r>
            <a:r>
              <a:rPr dirty="0" sz="1700" spc="-1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D. Kundu</a:t>
            </a:r>
            <a:r>
              <a:rPr dirty="0" sz="1700" spc="-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et</a:t>
            </a:r>
            <a:r>
              <a:rPr dirty="0" sz="1700" spc="-1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al.,</a:t>
            </a:r>
            <a:r>
              <a:rPr dirty="0" sz="1700" spc="-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”Federated DL</a:t>
            </a:r>
            <a:r>
              <a:rPr dirty="0" sz="1700" spc="-7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for</a:t>
            </a:r>
            <a:r>
              <a:rPr dirty="0" sz="1700" spc="-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Monkeypox Disease</a:t>
            </a:r>
            <a:r>
              <a:rPr dirty="0" sz="1700" spc="-1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Detection</a:t>
            </a:r>
            <a:r>
              <a:rPr dirty="0" sz="1700" spc="-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on</a:t>
            </a:r>
            <a:r>
              <a:rPr dirty="0" sz="1700" spc="-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GAN-Augmented Dataset,”</a:t>
            </a:r>
            <a:r>
              <a:rPr dirty="0" sz="1700" spc="-10">
                <a:latin typeface="Times New Roman"/>
                <a:cs typeface="Times New Roman"/>
              </a:rPr>
              <a:t> IEEE</a:t>
            </a:r>
            <a:r>
              <a:rPr dirty="0" sz="1700" spc="-95">
                <a:latin typeface="Times New Roman"/>
                <a:cs typeface="Times New Roman"/>
              </a:rPr>
              <a:t> </a:t>
            </a:r>
            <a:r>
              <a:rPr dirty="0" sz="1700" spc="-10">
                <a:latin typeface="Times New Roman"/>
                <a:cs typeface="Times New Roman"/>
              </a:rPr>
              <a:t>Access, </a:t>
            </a:r>
            <a:r>
              <a:rPr dirty="0" sz="1700">
                <a:latin typeface="Times New Roman"/>
                <a:cs typeface="Times New Roman"/>
              </a:rPr>
              <a:t>vol.</a:t>
            </a:r>
            <a:r>
              <a:rPr dirty="0" sz="1700" spc="-1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12,</a:t>
            </a:r>
            <a:r>
              <a:rPr dirty="0" sz="1700" spc="-1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pp.</a:t>
            </a:r>
            <a:r>
              <a:rPr dirty="0" sz="1700" spc="-1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32819–32829,</a:t>
            </a:r>
            <a:r>
              <a:rPr dirty="0" sz="1700" spc="-1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2024,</a:t>
            </a:r>
            <a:r>
              <a:rPr dirty="0" sz="1700" spc="-1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doi:</a:t>
            </a:r>
            <a:r>
              <a:rPr dirty="0" sz="1700" spc="-15">
                <a:latin typeface="Times New Roman"/>
                <a:cs typeface="Times New Roman"/>
              </a:rPr>
              <a:t> </a:t>
            </a:r>
            <a:r>
              <a:rPr dirty="0" sz="1700" spc="-10">
                <a:latin typeface="Times New Roman"/>
                <a:cs typeface="Times New Roman"/>
              </a:rPr>
              <a:t>10.1109/ACCESS.2024.3370838.</a:t>
            </a:r>
            <a:endParaRPr sz="1700">
              <a:latin typeface="Times New Roman"/>
              <a:cs typeface="Times New Roman"/>
            </a:endParaRPr>
          </a:p>
          <a:p>
            <a:pPr marL="208279" marR="5080" indent="-196215">
              <a:lnSpc>
                <a:spcPts val="1839"/>
              </a:lnSpc>
              <a:spcBef>
                <a:spcPts val="994"/>
              </a:spcBef>
              <a:buFont typeface="Tahoma"/>
              <a:buChar char="•"/>
              <a:tabLst>
                <a:tab pos="208279" algn="l"/>
                <a:tab pos="209550" algn="l"/>
              </a:tabLst>
            </a:pPr>
            <a:r>
              <a:rPr dirty="0" sz="1700">
                <a:latin typeface="Times New Roman"/>
                <a:cs typeface="Times New Roman"/>
              </a:rPr>
              <a:t>	[2]</a:t>
            </a:r>
            <a:r>
              <a:rPr dirty="0" sz="1700" spc="-4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Deepa,</a:t>
            </a:r>
            <a:r>
              <a:rPr dirty="0" sz="1700" spc="-20">
                <a:latin typeface="Times New Roman"/>
                <a:cs typeface="Times New Roman"/>
              </a:rPr>
              <a:t> </a:t>
            </a:r>
            <a:r>
              <a:rPr dirty="0" sz="1700" spc="-95">
                <a:latin typeface="Times New Roman"/>
                <a:cs typeface="Times New Roman"/>
              </a:rPr>
              <a:t>P.</a:t>
            </a:r>
            <a:r>
              <a:rPr dirty="0" sz="1700" spc="-1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R.</a:t>
            </a:r>
            <a:r>
              <a:rPr dirty="0" sz="1700" spc="-20">
                <a:latin typeface="Times New Roman"/>
                <a:cs typeface="Times New Roman"/>
              </a:rPr>
              <a:t> </a:t>
            </a:r>
            <a:r>
              <a:rPr dirty="0" sz="1700" spc="-10">
                <a:latin typeface="Times New Roman"/>
                <a:cs typeface="Times New Roman"/>
              </a:rPr>
              <a:t>Shetty,</a:t>
            </a:r>
            <a:r>
              <a:rPr dirty="0" sz="1700" spc="-20">
                <a:latin typeface="Times New Roman"/>
                <a:cs typeface="Times New Roman"/>
              </a:rPr>
              <a:t> </a:t>
            </a:r>
            <a:r>
              <a:rPr dirty="0" sz="1700" spc="-95">
                <a:latin typeface="Times New Roman"/>
                <a:cs typeface="Times New Roman"/>
              </a:rPr>
              <a:t>P.</a:t>
            </a:r>
            <a:r>
              <a:rPr dirty="0" sz="1700" spc="-1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S.</a:t>
            </a:r>
            <a:r>
              <a:rPr dirty="0" sz="1700" spc="-20">
                <a:latin typeface="Times New Roman"/>
                <a:cs typeface="Times New Roman"/>
              </a:rPr>
              <a:t> </a:t>
            </a:r>
            <a:r>
              <a:rPr dirty="0" sz="1700" spc="-10">
                <a:latin typeface="Times New Roman"/>
                <a:cs typeface="Times New Roman"/>
              </a:rPr>
              <a:t>Shetty,</a:t>
            </a:r>
            <a:r>
              <a:rPr dirty="0" sz="1700" spc="-2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S.</a:t>
            </a:r>
            <a:r>
              <a:rPr dirty="0" sz="1700" spc="-2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Namita</a:t>
            </a:r>
            <a:r>
              <a:rPr dirty="0" sz="1700" spc="-2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and</a:t>
            </a:r>
            <a:r>
              <a:rPr dirty="0" sz="1700" spc="-2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Sahana,</a:t>
            </a:r>
            <a:r>
              <a:rPr dirty="0" sz="1700" spc="-2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”Au</a:t>
            </a:r>
            <a:r>
              <a:rPr dirty="0" sz="1700" spc="-2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tomated</a:t>
            </a:r>
            <a:r>
              <a:rPr dirty="0" sz="1700" spc="-2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Classification</a:t>
            </a:r>
            <a:r>
              <a:rPr dirty="0" sz="1700" spc="-2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of</a:t>
            </a:r>
            <a:r>
              <a:rPr dirty="0" sz="1700" spc="-2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Monkeypox</a:t>
            </a:r>
            <a:r>
              <a:rPr dirty="0" sz="1700" spc="-2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Disease</a:t>
            </a:r>
            <a:r>
              <a:rPr dirty="0" sz="1700" spc="-45">
                <a:latin typeface="Times New Roman"/>
                <a:cs typeface="Times New Roman"/>
              </a:rPr>
              <a:t> </a:t>
            </a:r>
            <a:r>
              <a:rPr dirty="0" sz="1700" spc="-10">
                <a:latin typeface="Times New Roman"/>
                <a:cs typeface="Times New Roman"/>
              </a:rPr>
              <a:t>based </a:t>
            </a:r>
            <a:r>
              <a:rPr dirty="0" sz="1700">
                <a:latin typeface="Times New Roman"/>
                <a:cs typeface="Times New Roman"/>
              </a:rPr>
              <a:t>on</a:t>
            </a:r>
            <a:r>
              <a:rPr dirty="0" sz="1700" spc="-1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DL,”</a:t>
            </a:r>
            <a:r>
              <a:rPr dirty="0" sz="1700" spc="-1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in</a:t>
            </a:r>
            <a:r>
              <a:rPr dirty="0" sz="1700" spc="-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Proc.</a:t>
            </a:r>
            <a:r>
              <a:rPr dirty="0" sz="1700" spc="-1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8th</a:t>
            </a:r>
            <a:r>
              <a:rPr dirty="0" sz="1700" spc="-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Int.</a:t>
            </a:r>
            <a:r>
              <a:rPr dirty="0" sz="1700" spc="-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Conf.</a:t>
            </a:r>
            <a:r>
              <a:rPr dirty="0" sz="1700" spc="-1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on</a:t>
            </a:r>
            <a:r>
              <a:rPr dirty="0" sz="1700" spc="-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Electronics,</a:t>
            </a:r>
            <a:r>
              <a:rPr dirty="0" sz="1700" spc="-5">
                <a:latin typeface="Times New Roman"/>
                <a:cs typeface="Times New Roman"/>
              </a:rPr>
              <a:t> </a:t>
            </a:r>
            <a:r>
              <a:rPr dirty="0" sz="1700" spc="-10">
                <a:latin typeface="Times New Roman"/>
                <a:cs typeface="Times New Roman"/>
              </a:rPr>
              <a:t>Communication </a:t>
            </a:r>
            <a:r>
              <a:rPr dirty="0" sz="1700">
                <a:latin typeface="Times New Roman"/>
                <a:cs typeface="Times New Roman"/>
              </a:rPr>
              <a:t>and</a:t>
            </a:r>
            <a:r>
              <a:rPr dirty="0" sz="1700" spc="-10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Aerospace</a:t>
            </a:r>
            <a:r>
              <a:rPr dirty="0" sz="1700" spc="-40">
                <a:latin typeface="Times New Roman"/>
                <a:cs typeface="Times New Roman"/>
              </a:rPr>
              <a:t> </a:t>
            </a:r>
            <a:r>
              <a:rPr dirty="0" sz="1700" spc="-10">
                <a:latin typeface="Times New Roman"/>
                <a:cs typeface="Times New Roman"/>
              </a:rPr>
              <a:t>Technology</a:t>
            </a:r>
            <a:r>
              <a:rPr dirty="0" sz="1700" spc="-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(ICECA),</a:t>
            </a:r>
            <a:r>
              <a:rPr dirty="0" sz="1700" spc="-5">
                <a:latin typeface="Times New Roman"/>
                <a:cs typeface="Times New Roman"/>
              </a:rPr>
              <a:t> </a:t>
            </a:r>
            <a:r>
              <a:rPr dirty="0" sz="1700" spc="-10">
                <a:latin typeface="Times New Roman"/>
                <a:cs typeface="Times New Roman"/>
              </a:rPr>
              <a:t>Coimbatore, </a:t>
            </a:r>
            <a:r>
              <a:rPr dirty="0" sz="1700">
                <a:latin typeface="Times New Roman"/>
                <a:cs typeface="Times New Roman"/>
              </a:rPr>
              <a:t>India,</a:t>
            </a:r>
            <a:r>
              <a:rPr dirty="0" sz="1700" spc="-1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2024,</a:t>
            </a:r>
            <a:r>
              <a:rPr dirty="0" sz="1700" spc="-1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pp.</a:t>
            </a:r>
            <a:r>
              <a:rPr dirty="0" sz="1700" spc="-15">
                <a:latin typeface="Times New Roman"/>
                <a:cs typeface="Times New Roman"/>
              </a:rPr>
              <a:t> </a:t>
            </a:r>
            <a:r>
              <a:rPr dirty="0" sz="1700" spc="-10">
                <a:latin typeface="Times New Roman"/>
                <a:cs typeface="Times New Roman"/>
              </a:rPr>
              <a:t>1186–1190,</a:t>
            </a:r>
            <a:r>
              <a:rPr dirty="0" sz="1700" spc="-1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doi:</a:t>
            </a:r>
            <a:r>
              <a:rPr dirty="0" sz="1700" spc="-20">
                <a:latin typeface="Times New Roman"/>
                <a:cs typeface="Times New Roman"/>
              </a:rPr>
              <a:t> </a:t>
            </a:r>
            <a:r>
              <a:rPr dirty="0" sz="1700" spc="-10">
                <a:latin typeface="Times New Roman"/>
                <a:cs typeface="Times New Roman"/>
              </a:rPr>
              <a:t>10.1109/ICECA63461.2024.10801171.</a:t>
            </a:r>
            <a:endParaRPr sz="1700">
              <a:latin typeface="Times New Roman"/>
              <a:cs typeface="Times New Roman"/>
            </a:endParaRPr>
          </a:p>
          <a:p>
            <a:pPr marL="208279" marR="219075" indent="-196215">
              <a:lnSpc>
                <a:spcPts val="1839"/>
              </a:lnSpc>
              <a:spcBef>
                <a:spcPts val="985"/>
              </a:spcBef>
              <a:buFont typeface="Tahoma"/>
              <a:buChar char="•"/>
              <a:tabLst>
                <a:tab pos="208279" algn="l"/>
                <a:tab pos="209550" algn="l"/>
              </a:tabLst>
            </a:pPr>
            <a:r>
              <a:rPr dirty="0" sz="1700">
                <a:latin typeface="Times New Roman"/>
                <a:cs typeface="Times New Roman"/>
              </a:rPr>
              <a:t>	[3]</a:t>
            </a:r>
            <a:r>
              <a:rPr dirty="0" sz="1700" spc="-1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M.</a:t>
            </a:r>
            <a:r>
              <a:rPr dirty="0" sz="1700" spc="-1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E.</a:t>
            </a:r>
            <a:r>
              <a:rPr dirty="0" sz="1700" spc="-1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Haque,</a:t>
            </a:r>
            <a:r>
              <a:rPr dirty="0" sz="1700" spc="-1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M.</a:t>
            </a:r>
            <a:r>
              <a:rPr dirty="0" sz="1700" spc="-10">
                <a:latin typeface="Times New Roman"/>
                <a:cs typeface="Times New Roman"/>
              </a:rPr>
              <a:t> R.</a:t>
            </a:r>
            <a:r>
              <a:rPr dirty="0" sz="1700" spc="-9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Ahmed,</a:t>
            </a:r>
            <a:r>
              <a:rPr dirty="0" sz="1700" spc="-1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R.</a:t>
            </a:r>
            <a:r>
              <a:rPr dirty="0" sz="1700" spc="-1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S.</a:t>
            </a:r>
            <a:r>
              <a:rPr dirty="0" sz="1700" spc="-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Nila</a:t>
            </a:r>
            <a:r>
              <a:rPr dirty="0" sz="1700" spc="-1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and</a:t>
            </a:r>
            <a:r>
              <a:rPr dirty="0" sz="1700" spc="-1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S.</a:t>
            </a:r>
            <a:r>
              <a:rPr dirty="0" sz="1700" spc="-1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Islam,</a:t>
            </a:r>
            <a:r>
              <a:rPr dirty="0" sz="1700" spc="-1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”Human</a:t>
            </a:r>
            <a:r>
              <a:rPr dirty="0" sz="1700" spc="-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Monkeypox</a:t>
            </a:r>
            <a:r>
              <a:rPr dirty="0" sz="1700" spc="-1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Disease</a:t>
            </a:r>
            <a:r>
              <a:rPr dirty="0" sz="1700" spc="-1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Detection</a:t>
            </a:r>
            <a:r>
              <a:rPr dirty="0" sz="1700" spc="-1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Using</a:t>
            </a:r>
            <a:r>
              <a:rPr dirty="0" sz="1700" spc="-1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DL</a:t>
            </a:r>
            <a:r>
              <a:rPr dirty="0" sz="1700" spc="-70">
                <a:latin typeface="Times New Roman"/>
                <a:cs typeface="Times New Roman"/>
              </a:rPr>
              <a:t> </a:t>
            </a:r>
            <a:r>
              <a:rPr dirty="0" sz="1700" spc="-25">
                <a:latin typeface="Times New Roman"/>
                <a:cs typeface="Times New Roman"/>
              </a:rPr>
              <a:t>and </a:t>
            </a:r>
            <a:r>
              <a:rPr dirty="0" sz="1700">
                <a:latin typeface="Times New Roman"/>
                <a:cs typeface="Times New Roman"/>
              </a:rPr>
              <a:t>Attention</a:t>
            </a:r>
            <a:r>
              <a:rPr dirty="0" sz="1700" spc="-2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Mechanisms,”</a:t>
            </a:r>
            <a:r>
              <a:rPr dirty="0" sz="1700" spc="-2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in</a:t>
            </a:r>
            <a:r>
              <a:rPr dirty="0" sz="1700" spc="-2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Proc.</a:t>
            </a:r>
            <a:r>
              <a:rPr dirty="0" sz="1700" spc="-2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25th</a:t>
            </a:r>
            <a:r>
              <a:rPr dirty="0" sz="1700" spc="-2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Int.</a:t>
            </a:r>
            <a:r>
              <a:rPr dirty="0" sz="1700" spc="-2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Conf.</a:t>
            </a:r>
            <a:r>
              <a:rPr dirty="0" sz="1700" spc="-2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on</a:t>
            </a:r>
            <a:r>
              <a:rPr dirty="0" sz="1700" spc="-2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Computer</a:t>
            </a:r>
            <a:r>
              <a:rPr dirty="0" sz="1700" spc="-2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and</a:t>
            </a:r>
            <a:r>
              <a:rPr dirty="0" sz="1700" spc="-2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Information</a:t>
            </a:r>
            <a:r>
              <a:rPr dirty="0" sz="1700" spc="-55">
                <a:latin typeface="Times New Roman"/>
                <a:cs typeface="Times New Roman"/>
              </a:rPr>
              <a:t> </a:t>
            </a:r>
            <a:r>
              <a:rPr dirty="0" sz="1700" spc="-10">
                <a:latin typeface="Times New Roman"/>
                <a:cs typeface="Times New Roman"/>
              </a:rPr>
              <a:t>Technology</a:t>
            </a:r>
            <a:r>
              <a:rPr dirty="0" sz="1700" spc="-2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(IC</a:t>
            </a:r>
            <a:r>
              <a:rPr dirty="0" sz="1700" spc="-3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CIT),</a:t>
            </a:r>
            <a:r>
              <a:rPr dirty="0" sz="1700" spc="-20">
                <a:latin typeface="Times New Roman"/>
                <a:cs typeface="Times New Roman"/>
              </a:rPr>
              <a:t> </a:t>
            </a:r>
            <a:r>
              <a:rPr dirty="0" sz="1700" spc="-10">
                <a:latin typeface="Times New Roman"/>
                <a:cs typeface="Times New Roman"/>
              </a:rPr>
              <a:t>Cox’s</a:t>
            </a:r>
            <a:r>
              <a:rPr dirty="0" sz="1700" spc="-25">
                <a:latin typeface="Times New Roman"/>
                <a:cs typeface="Times New Roman"/>
              </a:rPr>
              <a:t> </a:t>
            </a:r>
            <a:r>
              <a:rPr dirty="0" sz="1700" spc="-10">
                <a:latin typeface="Times New Roman"/>
                <a:cs typeface="Times New Roman"/>
              </a:rPr>
              <a:t>Bazar, </a:t>
            </a:r>
            <a:r>
              <a:rPr dirty="0" sz="1700">
                <a:latin typeface="Times New Roman"/>
                <a:cs typeface="Times New Roman"/>
              </a:rPr>
              <a:t>Bangladesh,</a:t>
            </a:r>
            <a:r>
              <a:rPr dirty="0" sz="1700" spc="-1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2022,</a:t>
            </a:r>
            <a:r>
              <a:rPr dirty="0" sz="1700" spc="-1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pp.</a:t>
            </a:r>
            <a:r>
              <a:rPr dirty="0" sz="1700" spc="-1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1069–1073,</a:t>
            </a:r>
            <a:r>
              <a:rPr dirty="0" sz="1700" spc="-1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doi:</a:t>
            </a:r>
            <a:r>
              <a:rPr dirty="0" sz="1700" spc="-20">
                <a:latin typeface="Times New Roman"/>
                <a:cs typeface="Times New Roman"/>
              </a:rPr>
              <a:t> </a:t>
            </a:r>
            <a:r>
              <a:rPr dirty="0" sz="1700" spc="-10">
                <a:latin typeface="Times New Roman"/>
                <a:cs typeface="Times New Roman"/>
              </a:rPr>
              <a:t>10.1109/IC</a:t>
            </a:r>
            <a:r>
              <a:rPr dirty="0" sz="1700" spc="-15">
                <a:latin typeface="Times New Roman"/>
                <a:cs typeface="Times New Roman"/>
              </a:rPr>
              <a:t> </a:t>
            </a:r>
            <a:r>
              <a:rPr dirty="0" sz="1700" spc="-10">
                <a:latin typeface="Times New Roman"/>
                <a:cs typeface="Times New Roman"/>
              </a:rPr>
              <a:t>CIT57492.2022.10055870.</a:t>
            </a:r>
            <a:endParaRPr sz="1700">
              <a:latin typeface="Times New Roman"/>
              <a:cs typeface="Times New Roman"/>
            </a:endParaRPr>
          </a:p>
          <a:p>
            <a:pPr marL="208279" marR="205740" indent="-196215">
              <a:lnSpc>
                <a:spcPts val="1839"/>
              </a:lnSpc>
              <a:spcBef>
                <a:spcPts val="990"/>
              </a:spcBef>
              <a:buFont typeface="Tahoma"/>
              <a:buChar char="•"/>
              <a:tabLst>
                <a:tab pos="208279" algn="l"/>
                <a:tab pos="209550" algn="l"/>
              </a:tabLst>
            </a:pPr>
            <a:r>
              <a:rPr dirty="0" sz="1700">
                <a:latin typeface="Times New Roman"/>
                <a:cs typeface="Times New Roman"/>
              </a:rPr>
              <a:t>	[4]</a:t>
            </a:r>
            <a:r>
              <a:rPr dirty="0" sz="1700" spc="-1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R.</a:t>
            </a:r>
            <a:r>
              <a:rPr dirty="0" sz="1700" spc="-1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Dhiman</a:t>
            </a:r>
            <a:r>
              <a:rPr dirty="0" sz="1700" spc="-1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et</a:t>
            </a:r>
            <a:r>
              <a:rPr dirty="0" sz="1700" spc="-1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al.,</a:t>
            </a:r>
            <a:r>
              <a:rPr dirty="0" sz="1700" spc="-1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”Deep</a:t>
            </a:r>
            <a:r>
              <a:rPr dirty="0" sz="1700" spc="-1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Learning</a:t>
            </a:r>
            <a:r>
              <a:rPr dirty="0" sz="1700" spc="-1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Based</a:t>
            </a:r>
            <a:r>
              <a:rPr dirty="0" sz="1700" spc="-1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Monkeypox</a:t>
            </a:r>
            <a:r>
              <a:rPr dirty="0" sz="1700" spc="-45">
                <a:latin typeface="Times New Roman"/>
                <a:cs typeface="Times New Roman"/>
              </a:rPr>
              <a:t> </a:t>
            </a:r>
            <a:r>
              <a:rPr dirty="0" sz="1700" spc="-10">
                <a:latin typeface="Times New Roman"/>
                <a:cs typeface="Times New Roman"/>
              </a:rPr>
              <a:t>Virus</a:t>
            </a:r>
            <a:r>
              <a:rPr dirty="0" sz="1700" spc="-2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De</a:t>
            </a:r>
            <a:r>
              <a:rPr dirty="0" sz="1700" spc="-2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tection</a:t>
            </a:r>
            <a:r>
              <a:rPr dirty="0" sz="1700" spc="-1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Model</a:t>
            </a:r>
            <a:r>
              <a:rPr dirty="0" sz="1700" spc="-1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Using</a:t>
            </a:r>
            <a:r>
              <a:rPr dirty="0" sz="1700" spc="-1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Skin</a:t>
            </a:r>
            <a:r>
              <a:rPr dirty="0" sz="1700" spc="-1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Lesion</a:t>
            </a:r>
            <a:r>
              <a:rPr dirty="0" sz="1700" spc="-1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Images,”</a:t>
            </a:r>
            <a:r>
              <a:rPr dirty="0" sz="1700" spc="-20">
                <a:latin typeface="Times New Roman"/>
                <a:cs typeface="Times New Roman"/>
              </a:rPr>
              <a:t> </a:t>
            </a:r>
            <a:r>
              <a:rPr dirty="0" sz="1700" spc="-25">
                <a:latin typeface="Times New Roman"/>
                <a:cs typeface="Times New Roman"/>
              </a:rPr>
              <a:t>in </a:t>
            </a:r>
            <a:r>
              <a:rPr dirty="0" sz="1700">
                <a:latin typeface="Times New Roman"/>
                <a:cs typeface="Times New Roman"/>
              </a:rPr>
              <a:t>Proc.</a:t>
            </a:r>
            <a:r>
              <a:rPr dirty="0" sz="1700" spc="-2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4th</a:t>
            </a:r>
            <a:r>
              <a:rPr dirty="0" sz="1700" spc="-1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Int.</a:t>
            </a:r>
            <a:r>
              <a:rPr dirty="0" sz="1700" spc="-1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Conf.</a:t>
            </a:r>
            <a:r>
              <a:rPr dirty="0" sz="1700" spc="-1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on</a:t>
            </a:r>
            <a:r>
              <a:rPr dirty="0" sz="1700" spc="-45">
                <a:latin typeface="Times New Roman"/>
                <a:cs typeface="Times New Roman"/>
              </a:rPr>
              <a:t> </a:t>
            </a:r>
            <a:r>
              <a:rPr dirty="0" sz="1700" spc="-20">
                <a:latin typeface="Times New Roman"/>
                <a:cs typeface="Times New Roman"/>
              </a:rPr>
              <a:t>Technological</a:t>
            </a:r>
            <a:r>
              <a:rPr dirty="0" sz="1700" spc="-9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Advancements</a:t>
            </a:r>
            <a:r>
              <a:rPr dirty="0" sz="1700" spc="-1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in</a:t>
            </a:r>
            <a:r>
              <a:rPr dirty="0" sz="1700" spc="-10">
                <a:latin typeface="Times New Roman"/>
                <a:cs typeface="Times New Roman"/>
              </a:rPr>
              <a:t> Computational</a:t>
            </a:r>
            <a:r>
              <a:rPr dirty="0" sz="1700" spc="-1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Sciences</a:t>
            </a:r>
            <a:r>
              <a:rPr dirty="0" sz="1700" spc="-1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(IC</a:t>
            </a:r>
            <a:r>
              <a:rPr dirty="0" sz="1700" spc="-45">
                <a:latin typeface="Times New Roman"/>
                <a:cs typeface="Times New Roman"/>
              </a:rPr>
              <a:t> </a:t>
            </a:r>
            <a:r>
              <a:rPr dirty="0" sz="1700" spc="-25">
                <a:latin typeface="Times New Roman"/>
                <a:cs typeface="Times New Roman"/>
              </a:rPr>
              <a:t>TACS),</a:t>
            </a:r>
            <a:r>
              <a:rPr dirty="0" sz="1700" spc="-45">
                <a:latin typeface="Times New Roman"/>
                <a:cs typeface="Times New Roman"/>
              </a:rPr>
              <a:t> </a:t>
            </a:r>
            <a:r>
              <a:rPr dirty="0" sz="1700" spc="-10">
                <a:latin typeface="Times New Roman"/>
                <a:cs typeface="Times New Roman"/>
              </a:rPr>
              <a:t>Tashkent, Uzbekistan, </a:t>
            </a:r>
            <a:r>
              <a:rPr dirty="0" sz="1700">
                <a:latin typeface="Times New Roman"/>
                <a:cs typeface="Times New Roman"/>
              </a:rPr>
              <a:t>2024,</a:t>
            </a:r>
            <a:r>
              <a:rPr dirty="0" sz="1700" spc="-2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pp.</a:t>
            </a:r>
            <a:r>
              <a:rPr dirty="0" sz="1700" spc="-1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1362–1366,</a:t>
            </a:r>
            <a:r>
              <a:rPr dirty="0" sz="1700" spc="-1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doi:</a:t>
            </a:r>
            <a:r>
              <a:rPr dirty="0" sz="1700" spc="-20">
                <a:latin typeface="Times New Roman"/>
                <a:cs typeface="Times New Roman"/>
              </a:rPr>
              <a:t> </a:t>
            </a:r>
            <a:r>
              <a:rPr dirty="0" sz="1700" spc="-10">
                <a:latin typeface="Times New Roman"/>
                <a:cs typeface="Times New Roman"/>
              </a:rPr>
              <a:t>10.1109/IC</a:t>
            </a:r>
            <a:r>
              <a:rPr dirty="0" sz="1700" spc="-50">
                <a:latin typeface="Times New Roman"/>
                <a:cs typeface="Times New Roman"/>
              </a:rPr>
              <a:t> </a:t>
            </a:r>
            <a:r>
              <a:rPr dirty="0" sz="1700" spc="-10">
                <a:latin typeface="Times New Roman"/>
                <a:cs typeface="Times New Roman"/>
              </a:rPr>
              <a:t>TACS62700.2024.10840698.</a:t>
            </a:r>
            <a:endParaRPr sz="1700">
              <a:latin typeface="Times New Roman"/>
              <a:cs typeface="Times New Roman"/>
            </a:endParaRPr>
          </a:p>
          <a:p>
            <a:pPr marL="208279" marR="146050" indent="-196215">
              <a:lnSpc>
                <a:spcPts val="1839"/>
              </a:lnSpc>
              <a:spcBef>
                <a:spcPts val="985"/>
              </a:spcBef>
              <a:buFont typeface="Tahoma"/>
              <a:buChar char="•"/>
              <a:tabLst>
                <a:tab pos="208279" algn="l"/>
                <a:tab pos="209550" algn="l"/>
              </a:tabLst>
            </a:pPr>
            <a:r>
              <a:rPr dirty="0" sz="1700">
                <a:latin typeface="Times New Roman"/>
                <a:cs typeface="Times New Roman"/>
              </a:rPr>
              <a:t>	[5]</a:t>
            </a:r>
            <a:r>
              <a:rPr dirty="0" sz="1700" spc="-11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A.</a:t>
            </a:r>
            <a:r>
              <a:rPr dirty="0" sz="1700" spc="-55">
                <a:latin typeface="Times New Roman"/>
                <a:cs typeface="Times New Roman"/>
              </a:rPr>
              <a:t> </a:t>
            </a:r>
            <a:r>
              <a:rPr dirty="0" sz="1700" spc="-114">
                <a:latin typeface="Times New Roman"/>
                <a:cs typeface="Times New Roman"/>
              </a:rPr>
              <a:t>V.</a:t>
            </a:r>
            <a:r>
              <a:rPr dirty="0" sz="1700">
                <a:latin typeface="Times New Roman"/>
                <a:cs typeface="Times New Roman"/>
              </a:rPr>
              <a:t> Kottath</a:t>
            </a:r>
            <a:r>
              <a:rPr dirty="0" sz="1700" spc="-1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and</a:t>
            </a:r>
            <a:r>
              <a:rPr dirty="0" sz="1700" spc="-1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M.</a:t>
            </a:r>
            <a:r>
              <a:rPr dirty="0" sz="1700" spc="-1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Malarvel,</a:t>
            </a:r>
            <a:r>
              <a:rPr dirty="0" sz="1700" spc="-1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”Comparison</a:t>
            </a:r>
            <a:r>
              <a:rPr dirty="0" sz="1700" spc="-1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Of</a:t>
            </a:r>
            <a:r>
              <a:rPr dirty="0" sz="1700" spc="-1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Deep</a:t>
            </a:r>
            <a:r>
              <a:rPr dirty="0" sz="1700" spc="-1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Learn</a:t>
            </a:r>
            <a:r>
              <a:rPr dirty="0" sz="1700" spc="-1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ing</a:t>
            </a:r>
            <a:r>
              <a:rPr dirty="0" sz="1700" spc="-1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Models</a:t>
            </a:r>
            <a:r>
              <a:rPr dirty="0" sz="1700" spc="-1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for</a:t>
            </a:r>
            <a:r>
              <a:rPr dirty="0" sz="1700" spc="-1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Monkeypox</a:t>
            </a:r>
            <a:r>
              <a:rPr dirty="0" sz="1700" spc="-1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Disease</a:t>
            </a:r>
            <a:r>
              <a:rPr dirty="0" sz="1700" spc="-2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Detection,”</a:t>
            </a:r>
            <a:r>
              <a:rPr dirty="0" sz="1700" spc="-15">
                <a:latin typeface="Times New Roman"/>
                <a:cs typeface="Times New Roman"/>
              </a:rPr>
              <a:t> </a:t>
            </a:r>
            <a:r>
              <a:rPr dirty="0" sz="1700" spc="-25">
                <a:latin typeface="Times New Roman"/>
                <a:cs typeface="Times New Roman"/>
              </a:rPr>
              <a:t>in </a:t>
            </a:r>
            <a:r>
              <a:rPr dirty="0" sz="1700">
                <a:latin typeface="Times New Roman"/>
                <a:cs typeface="Times New Roman"/>
              </a:rPr>
              <a:t>Proc.</a:t>
            </a:r>
            <a:r>
              <a:rPr dirty="0" sz="1700" spc="-2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1st</a:t>
            </a:r>
            <a:r>
              <a:rPr dirty="0" sz="1700" spc="-2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Int.</a:t>
            </a:r>
            <a:r>
              <a:rPr dirty="0" sz="1700" spc="-2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Conf.</a:t>
            </a:r>
            <a:r>
              <a:rPr dirty="0" sz="1700" spc="-2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on</a:t>
            </a:r>
            <a:r>
              <a:rPr dirty="0" sz="1700" spc="-10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Advances</a:t>
            </a:r>
            <a:r>
              <a:rPr dirty="0" sz="1700" spc="-2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in</a:t>
            </a:r>
            <a:r>
              <a:rPr dirty="0" sz="1700" spc="-1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Electrical,</a:t>
            </a:r>
            <a:r>
              <a:rPr dirty="0" sz="1700" spc="-2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Electronics</a:t>
            </a:r>
            <a:r>
              <a:rPr dirty="0" sz="1700" spc="-2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and</a:t>
            </a:r>
            <a:r>
              <a:rPr dirty="0" sz="1700" spc="-20">
                <a:latin typeface="Times New Roman"/>
                <a:cs typeface="Times New Roman"/>
              </a:rPr>
              <a:t> </a:t>
            </a:r>
            <a:r>
              <a:rPr dirty="0" sz="1700" spc="-10">
                <a:latin typeface="Times New Roman"/>
                <a:cs typeface="Times New Roman"/>
              </a:rPr>
              <a:t>Computational</a:t>
            </a:r>
            <a:r>
              <a:rPr dirty="0" sz="1700" spc="-2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Intelligence</a:t>
            </a:r>
            <a:r>
              <a:rPr dirty="0" sz="1700" spc="-20">
                <a:latin typeface="Times New Roman"/>
                <a:cs typeface="Times New Roman"/>
              </a:rPr>
              <a:t> </a:t>
            </a:r>
            <a:r>
              <a:rPr dirty="0" sz="1700" spc="-10">
                <a:latin typeface="Times New Roman"/>
                <a:cs typeface="Times New Roman"/>
              </a:rPr>
              <a:t>(ICAEECI), </a:t>
            </a:r>
            <a:r>
              <a:rPr dirty="0" sz="1700">
                <a:latin typeface="Times New Roman"/>
                <a:cs typeface="Times New Roman"/>
              </a:rPr>
              <a:t>Tiruchengode,</a:t>
            </a:r>
            <a:r>
              <a:rPr dirty="0" sz="1700" spc="-2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India,</a:t>
            </a:r>
            <a:r>
              <a:rPr dirty="0" sz="1700" spc="-2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2023,</a:t>
            </a:r>
            <a:r>
              <a:rPr dirty="0" sz="1700" spc="-1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pp.</a:t>
            </a:r>
            <a:r>
              <a:rPr dirty="0" sz="1700" spc="-2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1–8,</a:t>
            </a:r>
            <a:r>
              <a:rPr dirty="0" sz="1700" spc="-1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doi:</a:t>
            </a:r>
            <a:r>
              <a:rPr dirty="0" sz="1700" spc="-25">
                <a:latin typeface="Times New Roman"/>
                <a:cs typeface="Times New Roman"/>
              </a:rPr>
              <a:t> </a:t>
            </a:r>
            <a:r>
              <a:rPr dirty="0" sz="1700" spc="-10">
                <a:latin typeface="Times New Roman"/>
                <a:cs typeface="Times New Roman"/>
              </a:rPr>
              <a:t>10.1109/ICAEECI58247.2023.10370981.</a:t>
            </a:r>
            <a:endParaRPr sz="1700">
              <a:latin typeface="Times New Roman"/>
              <a:cs typeface="Times New Roman"/>
            </a:endParaRPr>
          </a:p>
          <a:p>
            <a:pPr marL="208279" marR="810260" indent="-196215">
              <a:lnSpc>
                <a:spcPts val="1839"/>
              </a:lnSpc>
              <a:spcBef>
                <a:spcPts val="990"/>
              </a:spcBef>
              <a:buFont typeface="Tahoma"/>
              <a:buChar char="•"/>
              <a:tabLst>
                <a:tab pos="208279" algn="l"/>
                <a:tab pos="209550" algn="l"/>
              </a:tabLst>
            </a:pPr>
            <a:r>
              <a:rPr dirty="0" sz="1700">
                <a:latin typeface="Times New Roman"/>
                <a:cs typeface="Times New Roman"/>
              </a:rPr>
              <a:t>	[6]</a:t>
            </a:r>
            <a:r>
              <a:rPr dirty="0" sz="1700" spc="-20">
                <a:latin typeface="Times New Roman"/>
                <a:cs typeface="Times New Roman"/>
              </a:rPr>
              <a:t> </a:t>
            </a:r>
            <a:r>
              <a:rPr dirty="0" sz="1700" spc="-10">
                <a:latin typeface="Times New Roman"/>
                <a:cs typeface="Times New Roman"/>
              </a:rPr>
              <a:t>M.</a:t>
            </a:r>
            <a:r>
              <a:rPr dirty="0" sz="1700" spc="-9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Arumugam,</a:t>
            </a:r>
            <a:r>
              <a:rPr dirty="0" sz="1700" spc="-1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G.</a:t>
            </a:r>
            <a:r>
              <a:rPr dirty="0" sz="1700" spc="-10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Arun</a:t>
            </a:r>
            <a:r>
              <a:rPr dirty="0" sz="1700" spc="-1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and</a:t>
            </a:r>
            <a:r>
              <a:rPr dirty="0" sz="1700" spc="-1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S.</a:t>
            </a:r>
            <a:r>
              <a:rPr dirty="0" sz="1700" spc="-4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Tharun</a:t>
            </a:r>
            <a:r>
              <a:rPr dirty="0" sz="1700" spc="-45">
                <a:latin typeface="Times New Roman"/>
                <a:cs typeface="Times New Roman"/>
              </a:rPr>
              <a:t> </a:t>
            </a:r>
            <a:r>
              <a:rPr dirty="0" sz="1700" spc="-10">
                <a:latin typeface="Times New Roman"/>
                <a:cs typeface="Times New Roman"/>
              </a:rPr>
              <a:t>Vikas,</a:t>
            </a:r>
            <a:r>
              <a:rPr dirty="0" sz="1700" spc="-1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”Detection</a:t>
            </a:r>
            <a:r>
              <a:rPr dirty="0" sz="1700" spc="-1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Of</a:t>
            </a:r>
            <a:r>
              <a:rPr dirty="0" sz="1700" spc="-1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Mon</a:t>
            </a:r>
            <a:r>
              <a:rPr dirty="0" sz="1700" spc="-1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keypox</a:t>
            </a:r>
            <a:r>
              <a:rPr dirty="0" sz="1700" spc="-1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Disease</a:t>
            </a:r>
            <a:r>
              <a:rPr dirty="0" sz="1700" spc="-1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Using</a:t>
            </a:r>
            <a:r>
              <a:rPr dirty="0" sz="1700" spc="-1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Deep</a:t>
            </a:r>
            <a:r>
              <a:rPr dirty="0" sz="1700" spc="-15">
                <a:latin typeface="Times New Roman"/>
                <a:cs typeface="Times New Roman"/>
              </a:rPr>
              <a:t> </a:t>
            </a:r>
            <a:r>
              <a:rPr dirty="0" sz="1700" spc="-10">
                <a:latin typeface="Times New Roman"/>
                <a:cs typeface="Times New Roman"/>
              </a:rPr>
              <a:t>Learning Techniques,”</a:t>
            </a:r>
            <a:r>
              <a:rPr dirty="0" sz="1700" spc="-1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in</a:t>
            </a:r>
            <a:r>
              <a:rPr dirty="0" sz="1700" spc="-1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Proc.</a:t>
            </a:r>
            <a:r>
              <a:rPr dirty="0" sz="1700" spc="-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OPJU</a:t>
            </a:r>
            <a:r>
              <a:rPr dirty="0" sz="1700" spc="-1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Int.</a:t>
            </a:r>
            <a:r>
              <a:rPr dirty="0" sz="1700" spc="-40">
                <a:latin typeface="Times New Roman"/>
                <a:cs typeface="Times New Roman"/>
              </a:rPr>
              <a:t> </a:t>
            </a:r>
            <a:r>
              <a:rPr dirty="0" sz="1700" spc="-10">
                <a:latin typeface="Times New Roman"/>
                <a:cs typeface="Times New Roman"/>
              </a:rPr>
              <a:t>Technology</a:t>
            </a:r>
            <a:r>
              <a:rPr dirty="0" sz="1700" spc="-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Conf.</a:t>
            </a:r>
            <a:r>
              <a:rPr dirty="0" sz="1700" spc="-1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(OTCON),</a:t>
            </a:r>
            <a:r>
              <a:rPr dirty="0" sz="1700" spc="-1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Raigarh,</a:t>
            </a:r>
            <a:r>
              <a:rPr dirty="0" sz="1700" spc="-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India,</a:t>
            </a:r>
            <a:r>
              <a:rPr dirty="0" sz="1700" spc="-1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2024,</a:t>
            </a:r>
            <a:r>
              <a:rPr dirty="0" sz="1700" spc="-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pp.</a:t>
            </a:r>
            <a:r>
              <a:rPr dirty="0" sz="1700" spc="-1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1–6,</a:t>
            </a:r>
            <a:r>
              <a:rPr dirty="0" sz="1700" spc="-5">
                <a:latin typeface="Times New Roman"/>
                <a:cs typeface="Times New Roman"/>
              </a:rPr>
              <a:t> </a:t>
            </a:r>
            <a:r>
              <a:rPr dirty="0" sz="1700" spc="-20">
                <a:latin typeface="Times New Roman"/>
                <a:cs typeface="Times New Roman"/>
              </a:rPr>
              <a:t>doi: </a:t>
            </a:r>
            <a:r>
              <a:rPr dirty="0" sz="1700" spc="-10">
                <a:latin typeface="Times New Roman"/>
                <a:cs typeface="Times New Roman"/>
              </a:rPr>
              <a:t>10.1109/OTCON60325.2024.10688010.</a:t>
            </a:r>
            <a:endParaRPr sz="1700">
              <a:latin typeface="Times New Roman"/>
              <a:cs typeface="Times New Roman"/>
            </a:endParaRPr>
          </a:p>
          <a:p>
            <a:pPr marL="208279" marR="457200" indent="-196215">
              <a:lnSpc>
                <a:spcPts val="1839"/>
              </a:lnSpc>
              <a:spcBef>
                <a:spcPts val="990"/>
              </a:spcBef>
              <a:buChar char="•"/>
              <a:tabLst>
                <a:tab pos="208279" algn="l"/>
              </a:tabLst>
            </a:pPr>
            <a:r>
              <a:rPr dirty="0" sz="1700">
                <a:latin typeface="Times New Roman"/>
                <a:cs typeface="Times New Roman"/>
              </a:rPr>
              <a:t>[7]</a:t>
            </a:r>
            <a:r>
              <a:rPr dirty="0" sz="1700" spc="-55">
                <a:latin typeface="Times New Roman"/>
                <a:cs typeface="Times New Roman"/>
              </a:rPr>
              <a:t> </a:t>
            </a:r>
            <a:r>
              <a:rPr dirty="0" sz="1700" spc="-114">
                <a:latin typeface="Times New Roman"/>
                <a:cs typeface="Times New Roman"/>
              </a:rPr>
              <a:t>V.</a:t>
            </a:r>
            <a:r>
              <a:rPr dirty="0" sz="1700">
                <a:latin typeface="Times New Roman"/>
                <a:cs typeface="Times New Roman"/>
              </a:rPr>
              <a:t> M.</a:t>
            </a:r>
            <a:r>
              <a:rPr dirty="0" sz="1700" spc="-1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Llamas</a:t>
            </a:r>
            <a:r>
              <a:rPr dirty="0" sz="1700" spc="-1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et</a:t>
            </a:r>
            <a:r>
              <a:rPr dirty="0" sz="1700" spc="-1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al.,</a:t>
            </a:r>
            <a:r>
              <a:rPr dirty="0" sz="1700" spc="-1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”Systematic</a:t>
            </a:r>
            <a:r>
              <a:rPr dirty="0" sz="1700" spc="-1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Study</a:t>
            </a:r>
            <a:r>
              <a:rPr dirty="0" sz="1700" spc="-1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of</a:t>
            </a:r>
            <a:r>
              <a:rPr dirty="0" sz="1700" spc="-1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Deep</a:t>
            </a:r>
            <a:r>
              <a:rPr dirty="0" sz="1700" spc="-1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Learning</a:t>
            </a:r>
            <a:r>
              <a:rPr dirty="0" sz="1700" spc="-1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Models</a:t>
            </a:r>
            <a:r>
              <a:rPr dirty="0" sz="1700" spc="-1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for</a:t>
            </a:r>
            <a:r>
              <a:rPr dirty="0" sz="1700" spc="-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Image-Based</a:t>
            </a:r>
            <a:r>
              <a:rPr dirty="0" sz="1700" spc="-1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Detection</a:t>
            </a:r>
            <a:r>
              <a:rPr dirty="0" sz="1700" spc="-1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of</a:t>
            </a:r>
            <a:r>
              <a:rPr dirty="0" sz="1700" spc="-10">
                <a:latin typeface="Times New Roman"/>
                <a:cs typeface="Times New Roman"/>
              </a:rPr>
              <a:t> Monkeypox Virus,”</a:t>
            </a:r>
            <a:r>
              <a:rPr dirty="0" sz="1700" spc="-3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in</a:t>
            </a:r>
            <a:r>
              <a:rPr dirty="0" sz="1700" spc="-2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Proc.</a:t>
            </a:r>
            <a:r>
              <a:rPr dirty="0" sz="1700" spc="-2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12th</a:t>
            </a:r>
            <a:r>
              <a:rPr dirty="0" sz="1700" spc="-2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Int.</a:t>
            </a:r>
            <a:r>
              <a:rPr dirty="0" sz="1700" spc="-2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Conf.</a:t>
            </a:r>
            <a:r>
              <a:rPr dirty="0" sz="1700" spc="-2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on</a:t>
            </a:r>
            <a:r>
              <a:rPr dirty="0" sz="1700" spc="-2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Software</a:t>
            </a:r>
            <a:r>
              <a:rPr dirty="0" sz="1700" spc="-2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Process</a:t>
            </a:r>
            <a:r>
              <a:rPr dirty="0" sz="1700" spc="-2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Improvement</a:t>
            </a:r>
            <a:r>
              <a:rPr dirty="0" sz="1700" spc="-2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(CIMPS),</a:t>
            </a:r>
            <a:r>
              <a:rPr dirty="0" sz="1700" spc="-2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Cuernavaca,</a:t>
            </a:r>
            <a:r>
              <a:rPr dirty="0" sz="1700" spc="-2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Mexico,</a:t>
            </a:r>
            <a:r>
              <a:rPr dirty="0" sz="1700" spc="-2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2023,</a:t>
            </a:r>
            <a:r>
              <a:rPr dirty="0" sz="1700" spc="-20">
                <a:latin typeface="Times New Roman"/>
                <a:cs typeface="Times New Roman"/>
              </a:rPr>
              <a:t> </a:t>
            </a:r>
            <a:r>
              <a:rPr dirty="0" sz="1700" spc="-25">
                <a:latin typeface="Times New Roman"/>
                <a:cs typeface="Times New Roman"/>
              </a:rPr>
              <a:t>pp. </a:t>
            </a:r>
            <a:r>
              <a:rPr dirty="0" sz="1700">
                <a:latin typeface="Times New Roman"/>
                <a:cs typeface="Times New Roman"/>
              </a:rPr>
              <a:t>225–233,</a:t>
            </a:r>
            <a:r>
              <a:rPr dirty="0" sz="1700" spc="-2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doi:</a:t>
            </a:r>
            <a:r>
              <a:rPr dirty="0" sz="1700" spc="-25">
                <a:latin typeface="Times New Roman"/>
                <a:cs typeface="Times New Roman"/>
              </a:rPr>
              <a:t> </a:t>
            </a:r>
            <a:r>
              <a:rPr dirty="0" sz="1700" spc="-10">
                <a:latin typeface="Times New Roman"/>
                <a:cs typeface="Times New Roman"/>
              </a:rPr>
              <a:t>10.1109/CIMPS61323.2023.10528817.</a:t>
            </a:r>
            <a:endParaRPr sz="17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834469" y="629612"/>
            <a:ext cx="10286365" cy="5603875"/>
          </a:xfrm>
          <a:prstGeom prst="rect">
            <a:avLst/>
          </a:prstGeom>
        </p:spPr>
        <p:txBody>
          <a:bodyPr wrap="square" lIns="0" tIns="41275" rIns="0" bIns="0" rtlCol="0" vert="horz">
            <a:spAutoFit/>
          </a:bodyPr>
          <a:lstStyle/>
          <a:p>
            <a:pPr marL="208279" marR="5080" indent="-196215">
              <a:lnSpc>
                <a:spcPts val="1839"/>
              </a:lnSpc>
              <a:spcBef>
                <a:spcPts val="325"/>
              </a:spcBef>
              <a:buChar char="•"/>
              <a:tabLst>
                <a:tab pos="208279" algn="l"/>
              </a:tabLst>
            </a:pPr>
            <a:r>
              <a:rPr dirty="0" sz="1700">
                <a:latin typeface="Times New Roman"/>
                <a:cs typeface="Times New Roman"/>
              </a:rPr>
              <a:t>[8]</a:t>
            </a:r>
            <a:r>
              <a:rPr dirty="0" sz="1700" spc="-1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K.</a:t>
            </a:r>
            <a:r>
              <a:rPr dirty="0" sz="1700" spc="-9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Arora</a:t>
            </a:r>
            <a:r>
              <a:rPr dirty="0" sz="1700" spc="-1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et</a:t>
            </a:r>
            <a:r>
              <a:rPr dirty="0" sz="1700" spc="-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al.,</a:t>
            </a:r>
            <a:r>
              <a:rPr dirty="0" sz="1700" spc="-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”Using</a:t>
            </a:r>
            <a:r>
              <a:rPr dirty="0" sz="1700" spc="-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DL</a:t>
            </a:r>
            <a:r>
              <a:rPr dirty="0" sz="1700" spc="-10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Algorithms</a:t>
            </a:r>
            <a:r>
              <a:rPr dirty="0" sz="1700" spc="-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for</a:t>
            </a:r>
            <a:r>
              <a:rPr dirty="0" sz="1700" spc="-10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Accurate</a:t>
            </a:r>
            <a:r>
              <a:rPr dirty="0" sz="1700" spc="-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Diagnosis</a:t>
            </a:r>
            <a:r>
              <a:rPr dirty="0" sz="1700" spc="-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and</a:t>
            </a:r>
            <a:r>
              <a:rPr dirty="0" sz="1700" spc="-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Out</a:t>
            </a:r>
            <a:r>
              <a:rPr dirty="0" sz="1700" spc="-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break</a:t>
            </a:r>
            <a:r>
              <a:rPr dirty="0" sz="1700" spc="-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Prediction</a:t>
            </a:r>
            <a:r>
              <a:rPr dirty="0" sz="1700" spc="-1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of</a:t>
            </a:r>
            <a:r>
              <a:rPr dirty="0" sz="1700" spc="-5">
                <a:latin typeface="Times New Roman"/>
                <a:cs typeface="Times New Roman"/>
              </a:rPr>
              <a:t> </a:t>
            </a:r>
            <a:r>
              <a:rPr dirty="0" sz="1700" spc="-20">
                <a:latin typeface="Times New Roman"/>
                <a:cs typeface="Times New Roman"/>
              </a:rPr>
              <a:t>Monkeypox,”</a:t>
            </a:r>
            <a:r>
              <a:rPr dirty="0" sz="1700" spc="-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in</a:t>
            </a:r>
            <a:r>
              <a:rPr dirty="0" sz="1700" spc="-45">
                <a:latin typeface="Times New Roman"/>
                <a:cs typeface="Times New Roman"/>
              </a:rPr>
              <a:t> </a:t>
            </a:r>
            <a:r>
              <a:rPr dirty="0" sz="1700" spc="-10">
                <a:latin typeface="Times New Roman"/>
                <a:cs typeface="Times New Roman"/>
              </a:rPr>
              <a:t>Proc. </a:t>
            </a:r>
            <a:r>
              <a:rPr dirty="0" sz="1700">
                <a:latin typeface="Times New Roman"/>
                <a:cs typeface="Times New Roman"/>
              </a:rPr>
              <a:t>4th</a:t>
            </a:r>
            <a:r>
              <a:rPr dirty="0" sz="1700" spc="-1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Int.</a:t>
            </a:r>
            <a:r>
              <a:rPr dirty="0" sz="1700" spc="-1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Conf.</a:t>
            </a:r>
            <a:r>
              <a:rPr dirty="0" sz="1700" spc="-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on</a:t>
            </a:r>
            <a:r>
              <a:rPr dirty="0" sz="1700" spc="-10">
                <a:latin typeface="Times New Roman"/>
                <a:cs typeface="Times New Roman"/>
              </a:rPr>
              <a:t> Innovative</a:t>
            </a:r>
            <a:r>
              <a:rPr dirty="0" sz="1700" spc="-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Practices</a:t>
            </a:r>
            <a:r>
              <a:rPr dirty="0" sz="1700" spc="-1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in</a:t>
            </a:r>
            <a:r>
              <a:rPr dirty="0" sz="1700" spc="-40">
                <a:latin typeface="Times New Roman"/>
                <a:cs typeface="Times New Roman"/>
              </a:rPr>
              <a:t> </a:t>
            </a:r>
            <a:r>
              <a:rPr dirty="0" sz="1700" spc="-10">
                <a:latin typeface="Times New Roman"/>
                <a:cs typeface="Times New Roman"/>
              </a:rPr>
              <a:t>Technology</a:t>
            </a:r>
            <a:r>
              <a:rPr dirty="0" sz="1700" spc="-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and</a:t>
            </a:r>
            <a:r>
              <a:rPr dirty="0" sz="1700" spc="-1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Management</a:t>
            </a:r>
            <a:r>
              <a:rPr dirty="0" sz="1700" spc="-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(ICIPTM),</a:t>
            </a:r>
            <a:r>
              <a:rPr dirty="0" sz="1700" spc="-1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Noida,</a:t>
            </a:r>
            <a:r>
              <a:rPr dirty="0" sz="1700" spc="-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India,</a:t>
            </a:r>
            <a:r>
              <a:rPr dirty="0" sz="1700" spc="-1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2024,</a:t>
            </a:r>
            <a:r>
              <a:rPr dirty="0" sz="1700" spc="-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pp.</a:t>
            </a:r>
            <a:r>
              <a:rPr dirty="0" sz="1700" spc="-1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1–5,</a:t>
            </a:r>
            <a:r>
              <a:rPr dirty="0" sz="1700" spc="-5">
                <a:latin typeface="Times New Roman"/>
                <a:cs typeface="Times New Roman"/>
              </a:rPr>
              <a:t> </a:t>
            </a:r>
            <a:r>
              <a:rPr dirty="0" sz="1700" spc="-20">
                <a:latin typeface="Times New Roman"/>
                <a:cs typeface="Times New Roman"/>
              </a:rPr>
              <a:t>doi: </a:t>
            </a:r>
            <a:r>
              <a:rPr dirty="0" sz="1700" spc="-10">
                <a:latin typeface="Times New Roman"/>
                <a:cs typeface="Times New Roman"/>
              </a:rPr>
              <a:t>10.1109/ICIPTM59628.2024.10563418.</a:t>
            </a:r>
            <a:endParaRPr sz="1700">
              <a:latin typeface="Times New Roman"/>
              <a:cs typeface="Times New Roman"/>
            </a:endParaRPr>
          </a:p>
          <a:p>
            <a:pPr algn="just" marL="208279" marR="74930" indent="-196215">
              <a:lnSpc>
                <a:spcPts val="1839"/>
              </a:lnSpc>
              <a:spcBef>
                <a:spcPts val="990"/>
              </a:spcBef>
              <a:buChar char="•"/>
              <a:tabLst>
                <a:tab pos="208279" algn="l"/>
              </a:tabLst>
            </a:pPr>
            <a:r>
              <a:rPr dirty="0" sz="1700">
                <a:latin typeface="Times New Roman"/>
                <a:cs typeface="Times New Roman"/>
              </a:rPr>
              <a:t>[9]</a:t>
            </a:r>
            <a:r>
              <a:rPr dirty="0" sz="1700" spc="-11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A.</a:t>
            </a:r>
            <a:r>
              <a:rPr dirty="0" sz="1700" spc="-10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A,</a:t>
            </a:r>
            <a:r>
              <a:rPr dirty="0" sz="1700" spc="-1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J.</a:t>
            </a:r>
            <a:r>
              <a:rPr dirty="0" sz="1700" spc="-10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Anitha,</a:t>
            </a:r>
            <a:r>
              <a:rPr dirty="0" sz="1700" spc="-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G.</a:t>
            </a:r>
            <a:r>
              <a:rPr dirty="0" sz="1700" spc="-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P</a:t>
            </a:r>
            <a:r>
              <a:rPr dirty="0" sz="1700" spc="-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and</a:t>
            </a:r>
            <a:r>
              <a:rPr dirty="0" sz="1700" spc="-1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S.</a:t>
            </a:r>
            <a:r>
              <a:rPr dirty="0" sz="1700" spc="-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J.</a:t>
            </a:r>
            <a:r>
              <a:rPr dirty="0" sz="1700" spc="-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D,</a:t>
            </a:r>
            <a:r>
              <a:rPr dirty="0" sz="1700" spc="-1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”Monkeypox</a:t>
            </a:r>
            <a:r>
              <a:rPr dirty="0" sz="1700" spc="-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Detection</a:t>
            </a:r>
            <a:r>
              <a:rPr dirty="0" sz="1700" spc="-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us</a:t>
            </a:r>
            <a:r>
              <a:rPr dirty="0" sz="1700" spc="-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ing</a:t>
            </a:r>
            <a:r>
              <a:rPr dirty="0" sz="1700" spc="-1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Skin</a:t>
            </a:r>
            <a:r>
              <a:rPr dirty="0" sz="1700" spc="-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Lesion</a:t>
            </a:r>
            <a:r>
              <a:rPr dirty="0" sz="1700" spc="-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Images:</a:t>
            </a:r>
            <a:r>
              <a:rPr dirty="0" sz="1700" spc="-10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A</a:t>
            </a:r>
            <a:r>
              <a:rPr dirty="0" sz="1700" spc="-10">
                <a:latin typeface="Times New Roman"/>
                <a:cs typeface="Times New Roman"/>
              </a:rPr>
              <a:t> Comparative</a:t>
            </a:r>
            <a:r>
              <a:rPr dirty="0" sz="1700" spc="-9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Analysis</a:t>
            </a:r>
            <a:r>
              <a:rPr dirty="0" sz="1700" spc="-5">
                <a:latin typeface="Times New Roman"/>
                <a:cs typeface="Times New Roman"/>
              </a:rPr>
              <a:t> </a:t>
            </a:r>
            <a:r>
              <a:rPr dirty="0" sz="1700" spc="-25">
                <a:latin typeface="Times New Roman"/>
                <a:cs typeface="Times New Roman"/>
              </a:rPr>
              <a:t>of </a:t>
            </a:r>
            <a:r>
              <a:rPr dirty="0" sz="1700">
                <a:latin typeface="Times New Roman"/>
                <a:cs typeface="Times New Roman"/>
              </a:rPr>
              <a:t>Deep</a:t>
            </a:r>
            <a:r>
              <a:rPr dirty="0" sz="1700" spc="-2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Learn</a:t>
            </a:r>
            <a:r>
              <a:rPr dirty="0" sz="1700" spc="-2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ing</a:t>
            </a:r>
            <a:r>
              <a:rPr dirty="0" sz="1700" spc="-20">
                <a:latin typeface="Times New Roman"/>
                <a:cs typeface="Times New Roman"/>
              </a:rPr>
              <a:t> </a:t>
            </a:r>
            <a:r>
              <a:rPr dirty="0" sz="1700" spc="-10">
                <a:latin typeface="Times New Roman"/>
                <a:cs typeface="Times New Roman"/>
              </a:rPr>
              <a:t>Models,”</a:t>
            </a:r>
            <a:r>
              <a:rPr dirty="0" sz="1700" spc="-2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in</a:t>
            </a:r>
            <a:r>
              <a:rPr dirty="0" sz="1700" spc="-2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Proc.</a:t>
            </a:r>
            <a:r>
              <a:rPr dirty="0" sz="1700" spc="-2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5th</a:t>
            </a:r>
            <a:r>
              <a:rPr dirty="0" sz="1700" spc="-2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Int.</a:t>
            </a:r>
            <a:r>
              <a:rPr dirty="0" sz="1700" spc="-2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Conf.</a:t>
            </a:r>
            <a:r>
              <a:rPr dirty="0" sz="1700" spc="-2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on</a:t>
            </a:r>
            <a:r>
              <a:rPr dirty="0" sz="1700" spc="-20">
                <a:latin typeface="Times New Roman"/>
                <a:cs typeface="Times New Roman"/>
              </a:rPr>
              <a:t> </a:t>
            </a:r>
            <a:r>
              <a:rPr dirty="0" sz="1700" spc="-10">
                <a:latin typeface="Times New Roman"/>
                <a:cs typeface="Times New Roman"/>
              </a:rPr>
              <a:t>Pervasive</a:t>
            </a:r>
            <a:r>
              <a:rPr dirty="0" sz="1700" spc="-2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Computing</a:t>
            </a:r>
            <a:r>
              <a:rPr dirty="0" sz="1700" spc="-2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and</a:t>
            </a:r>
            <a:r>
              <a:rPr dirty="0" sz="1700" spc="-2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Social</a:t>
            </a:r>
            <a:r>
              <a:rPr dirty="0" sz="1700" spc="-2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Networking</a:t>
            </a:r>
            <a:r>
              <a:rPr dirty="0" sz="1700" spc="-2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(ICPCSN),</a:t>
            </a:r>
            <a:r>
              <a:rPr dirty="0" sz="1700" spc="-20">
                <a:latin typeface="Times New Roman"/>
                <a:cs typeface="Times New Roman"/>
              </a:rPr>
              <a:t> </a:t>
            </a:r>
            <a:r>
              <a:rPr dirty="0" sz="1700" spc="-10">
                <a:latin typeface="Times New Roman"/>
                <a:cs typeface="Times New Roman"/>
              </a:rPr>
              <a:t>Salem, </a:t>
            </a:r>
            <a:r>
              <a:rPr dirty="0" sz="1700">
                <a:latin typeface="Times New Roman"/>
                <a:cs typeface="Times New Roman"/>
              </a:rPr>
              <a:t>India,</a:t>
            </a:r>
            <a:r>
              <a:rPr dirty="0" sz="1700" spc="-1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2025,</a:t>
            </a:r>
            <a:r>
              <a:rPr dirty="0" sz="1700" spc="-1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pp.</a:t>
            </a:r>
            <a:r>
              <a:rPr dirty="0" sz="1700" spc="-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482–487,</a:t>
            </a:r>
            <a:r>
              <a:rPr dirty="0" sz="1700" spc="-1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doi:</a:t>
            </a:r>
            <a:r>
              <a:rPr dirty="0" sz="1700" spc="-10">
                <a:latin typeface="Times New Roman"/>
                <a:cs typeface="Times New Roman"/>
              </a:rPr>
              <a:t> 10.1109/ICPCSN65854.2025.11035422.</a:t>
            </a:r>
            <a:endParaRPr sz="1700">
              <a:latin typeface="Times New Roman"/>
              <a:cs typeface="Times New Roman"/>
            </a:endParaRPr>
          </a:p>
          <a:p>
            <a:pPr algn="just" marL="208279" marR="36830" indent="-196215">
              <a:lnSpc>
                <a:spcPts val="1839"/>
              </a:lnSpc>
              <a:spcBef>
                <a:spcPts val="985"/>
              </a:spcBef>
              <a:buChar char="•"/>
              <a:tabLst>
                <a:tab pos="208279" algn="l"/>
              </a:tabLst>
            </a:pPr>
            <a:r>
              <a:rPr dirty="0" sz="1700">
                <a:latin typeface="Times New Roman"/>
                <a:cs typeface="Times New Roman"/>
              </a:rPr>
              <a:t>[10]</a:t>
            </a:r>
            <a:r>
              <a:rPr dirty="0" sz="1700" spc="-110">
                <a:latin typeface="Times New Roman"/>
                <a:cs typeface="Times New Roman"/>
              </a:rPr>
              <a:t> </a:t>
            </a:r>
            <a:r>
              <a:rPr dirty="0" sz="1700" spc="-20">
                <a:latin typeface="Times New Roman"/>
                <a:cs typeface="Times New Roman"/>
              </a:rPr>
              <a:t>Vandana,</a:t>
            </a:r>
            <a:r>
              <a:rPr dirty="0" sz="1700" spc="-2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C.</a:t>
            </a:r>
            <a:r>
              <a:rPr dirty="0" sz="1700" spc="-1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Sharma</a:t>
            </a:r>
            <a:r>
              <a:rPr dirty="0" sz="1700" spc="-1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and</a:t>
            </a:r>
            <a:r>
              <a:rPr dirty="0" sz="1700" spc="-100">
                <a:latin typeface="Times New Roman"/>
                <a:cs typeface="Times New Roman"/>
              </a:rPr>
              <a:t> </a:t>
            </a:r>
            <a:r>
              <a:rPr dirty="0" sz="1700" spc="-114">
                <a:latin typeface="Times New Roman"/>
                <a:cs typeface="Times New Roman"/>
              </a:rPr>
              <a:t>V.</a:t>
            </a:r>
            <a:r>
              <a:rPr dirty="0" sz="1700" spc="1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Kant,</a:t>
            </a:r>
            <a:r>
              <a:rPr dirty="0" sz="1700" spc="-1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”Mpoxnet:</a:t>
            </a:r>
            <a:r>
              <a:rPr dirty="0" sz="1700" spc="-1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Fast</a:t>
            </a:r>
            <a:r>
              <a:rPr dirty="0" sz="1700" spc="-1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Detection</a:t>
            </a:r>
            <a:r>
              <a:rPr dirty="0" sz="1700" spc="-1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of</a:t>
            </a:r>
            <a:r>
              <a:rPr dirty="0" sz="1700" spc="-1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Mon</a:t>
            </a:r>
            <a:r>
              <a:rPr dirty="0" sz="1700" spc="-1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keypox</a:t>
            </a:r>
            <a:r>
              <a:rPr dirty="0" sz="1700" spc="-1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using</a:t>
            </a:r>
            <a:r>
              <a:rPr dirty="0" sz="1700" spc="-1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Deep</a:t>
            </a:r>
            <a:r>
              <a:rPr dirty="0" sz="1700" spc="-1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Learning</a:t>
            </a:r>
            <a:r>
              <a:rPr dirty="0" sz="1700" spc="-1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in</a:t>
            </a:r>
            <a:r>
              <a:rPr dirty="0" sz="1700" spc="-15">
                <a:latin typeface="Times New Roman"/>
                <a:cs typeface="Times New Roman"/>
              </a:rPr>
              <a:t> </a:t>
            </a:r>
            <a:r>
              <a:rPr dirty="0" sz="1700" spc="-10">
                <a:latin typeface="Times New Roman"/>
                <a:cs typeface="Times New Roman"/>
              </a:rPr>
              <a:t>Digital </a:t>
            </a:r>
            <a:r>
              <a:rPr dirty="0" sz="1700">
                <a:latin typeface="Times New Roman"/>
                <a:cs typeface="Times New Roman"/>
              </a:rPr>
              <a:t>Skin</a:t>
            </a:r>
            <a:r>
              <a:rPr dirty="0" sz="1700" spc="-25">
                <a:latin typeface="Times New Roman"/>
                <a:cs typeface="Times New Roman"/>
              </a:rPr>
              <a:t> </a:t>
            </a:r>
            <a:r>
              <a:rPr dirty="0" sz="1700" spc="-10">
                <a:latin typeface="Times New Roman"/>
                <a:cs typeface="Times New Roman"/>
              </a:rPr>
              <a:t>Images,”</a:t>
            </a:r>
            <a:r>
              <a:rPr dirty="0" sz="1700" spc="-2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in</a:t>
            </a:r>
            <a:r>
              <a:rPr dirty="0" sz="1700" spc="-2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Proc.</a:t>
            </a:r>
            <a:r>
              <a:rPr dirty="0" sz="1700" spc="-2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8th</a:t>
            </a:r>
            <a:r>
              <a:rPr dirty="0" sz="1700" spc="-2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Int.</a:t>
            </a:r>
            <a:r>
              <a:rPr dirty="0" sz="1700" spc="-2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Conf.</a:t>
            </a:r>
            <a:r>
              <a:rPr dirty="0" sz="1700" spc="-2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on</a:t>
            </a:r>
            <a:r>
              <a:rPr dirty="0" sz="1700" spc="-2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Parallel,</a:t>
            </a:r>
            <a:r>
              <a:rPr dirty="0" sz="1700" spc="-2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Distributed</a:t>
            </a:r>
            <a:r>
              <a:rPr dirty="0" sz="1700" spc="-2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and</a:t>
            </a:r>
            <a:r>
              <a:rPr dirty="0" sz="1700" spc="-2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Grid</a:t>
            </a:r>
            <a:r>
              <a:rPr dirty="0" sz="1700" spc="-2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Computing</a:t>
            </a:r>
            <a:r>
              <a:rPr dirty="0" sz="1700" spc="-2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(PDGC),</a:t>
            </a:r>
            <a:r>
              <a:rPr dirty="0" sz="1700" spc="-75">
                <a:latin typeface="Times New Roman"/>
                <a:cs typeface="Times New Roman"/>
              </a:rPr>
              <a:t> </a:t>
            </a:r>
            <a:r>
              <a:rPr dirty="0" sz="1700" spc="-10">
                <a:latin typeface="Times New Roman"/>
                <a:cs typeface="Times New Roman"/>
              </a:rPr>
              <a:t>Waknaghat,</a:t>
            </a:r>
            <a:r>
              <a:rPr dirty="0" sz="1700" spc="-2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India,</a:t>
            </a:r>
            <a:r>
              <a:rPr dirty="0" sz="1700" spc="-20">
                <a:latin typeface="Times New Roman"/>
                <a:cs typeface="Times New Roman"/>
              </a:rPr>
              <a:t> </a:t>
            </a:r>
            <a:r>
              <a:rPr dirty="0" sz="1700" spc="-10">
                <a:latin typeface="Times New Roman"/>
                <a:cs typeface="Times New Roman"/>
              </a:rPr>
              <a:t>2024,</a:t>
            </a:r>
            <a:endParaRPr sz="1700">
              <a:latin typeface="Times New Roman"/>
              <a:cs typeface="Times New Roman"/>
            </a:endParaRPr>
          </a:p>
          <a:p>
            <a:pPr marL="208279">
              <a:lnSpc>
                <a:spcPts val="1805"/>
              </a:lnSpc>
            </a:pPr>
            <a:r>
              <a:rPr dirty="0" sz="1700">
                <a:latin typeface="Times New Roman"/>
                <a:cs typeface="Times New Roman"/>
              </a:rPr>
              <a:t>pp.</a:t>
            </a:r>
            <a:r>
              <a:rPr dirty="0" sz="1700" spc="-1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409–415,</a:t>
            </a:r>
            <a:r>
              <a:rPr dirty="0" sz="1700" spc="-1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doi:</a:t>
            </a:r>
            <a:r>
              <a:rPr dirty="0" sz="1700" spc="-10">
                <a:latin typeface="Times New Roman"/>
                <a:cs typeface="Times New Roman"/>
              </a:rPr>
              <a:t> 10.1109/PDGC64653.2024.10984329.</a:t>
            </a:r>
            <a:endParaRPr sz="1700">
              <a:latin typeface="Times New Roman"/>
              <a:cs typeface="Times New Roman"/>
            </a:endParaRPr>
          </a:p>
          <a:p>
            <a:pPr marL="208279" marR="903605" indent="-196215">
              <a:lnSpc>
                <a:spcPts val="1839"/>
              </a:lnSpc>
              <a:spcBef>
                <a:spcPts val="1025"/>
              </a:spcBef>
              <a:buChar char="•"/>
              <a:tabLst>
                <a:tab pos="208279" algn="l"/>
              </a:tabLst>
            </a:pPr>
            <a:r>
              <a:rPr dirty="0" sz="1700">
                <a:latin typeface="Times New Roman"/>
                <a:cs typeface="Times New Roman"/>
              </a:rPr>
              <a:t>[11]</a:t>
            </a:r>
            <a:r>
              <a:rPr dirty="0" sz="1700" spc="-30">
                <a:latin typeface="Times New Roman"/>
                <a:cs typeface="Times New Roman"/>
              </a:rPr>
              <a:t> </a:t>
            </a:r>
            <a:r>
              <a:rPr dirty="0" sz="1700" spc="-10">
                <a:latin typeface="Times New Roman"/>
                <a:cs typeface="Times New Roman"/>
              </a:rPr>
              <a:t>M.</a:t>
            </a:r>
            <a:r>
              <a:rPr dirty="0" sz="1700" spc="-9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Ahsan</a:t>
            </a:r>
            <a:r>
              <a:rPr dirty="0" sz="1700" spc="-2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et</a:t>
            </a:r>
            <a:r>
              <a:rPr dirty="0" sz="1700" spc="-1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al.,</a:t>
            </a:r>
            <a:r>
              <a:rPr dirty="0" sz="1700" spc="-1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“Enhancing</a:t>
            </a:r>
            <a:r>
              <a:rPr dirty="0" sz="1700" spc="-2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Monkeypox</a:t>
            </a:r>
            <a:r>
              <a:rPr dirty="0" sz="1700" spc="-1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Diagnosis</a:t>
            </a:r>
            <a:r>
              <a:rPr dirty="0" sz="1700" spc="-1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and</a:t>
            </a:r>
            <a:r>
              <a:rPr dirty="0" sz="1700" spc="-2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Explanation</a:t>
            </a:r>
            <a:r>
              <a:rPr dirty="0" sz="1700" spc="-1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through</a:t>
            </a:r>
            <a:r>
              <a:rPr dirty="0" sz="1700" spc="-2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Deep</a:t>
            </a:r>
            <a:r>
              <a:rPr dirty="0" sz="1700" spc="-5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Transfer</a:t>
            </a:r>
            <a:r>
              <a:rPr dirty="0" sz="1700" spc="-15">
                <a:latin typeface="Times New Roman"/>
                <a:cs typeface="Times New Roman"/>
              </a:rPr>
              <a:t> </a:t>
            </a:r>
            <a:r>
              <a:rPr dirty="0" sz="1700" spc="-10">
                <a:latin typeface="Times New Roman"/>
                <a:cs typeface="Times New Roman"/>
              </a:rPr>
              <a:t>Learning Approaches,”</a:t>
            </a:r>
            <a:r>
              <a:rPr dirty="0" sz="1700">
                <a:latin typeface="Times New Roman"/>
                <a:cs typeface="Times New Roman"/>
              </a:rPr>
              <a:t> Journal of Biomedical Informatics, </a:t>
            </a:r>
            <a:r>
              <a:rPr dirty="0" sz="1700" spc="-10">
                <a:latin typeface="Times New Roman"/>
                <a:cs typeface="Times New Roman"/>
              </a:rPr>
              <a:t>2024.</a:t>
            </a:r>
            <a:endParaRPr sz="1700">
              <a:latin typeface="Times New Roman"/>
              <a:cs typeface="Times New Roman"/>
            </a:endParaRPr>
          </a:p>
          <a:p>
            <a:pPr marL="208279" marR="56515" indent="-196215">
              <a:lnSpc>
                <a:spcPts val="1839"/>
              </a:lnSpc>
              <a:spcBef>
                <a:spcPts val="995"/>
              </a:spcBef>
              <a:buChar char="•"/>
              <a:tabLst>
                <a:tab pos="208279" algn="l"/>
              </a:tabLst>
            </a:pPr>
            <a:r>
              <a:rPr dirty="0" sz="1700">
                <a:latin typeface="Times New Roman"/>
                <a:cs typeface="Times New Roman"/>
              </a:rPr>
              <a:t>[12]</a:t>
            </a:r>
            <a:r>
              <a:rPr dirty="0" sz="1700" spc="-11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A.</a:t>
            </a:r>
            <a:r>
              <a:rPr dirty="0" sz="1700" spc="-2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Shateri,</a:t>
            </a:r>
            <a:r>
              <a:rPr dirty="0" sz="1700" spc="-1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N.</a:t>
            </a:r>
            <a:r>
              <a:rPr dirty="0" sz="1700" spc="-2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Nourani,</a:t>
            </a:r>
            <a:r>
              <a:rPr dirty="0" sz="1700" spc="-1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M.</a:t>
            </a:r>
            <a:r>
              <a:rPr dirty="0" sz="1700" spc="-2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Dorrigiv</a:t>
            </a:r>
            <a:r>
              <a:rPr dirty="0" sz="1700" spc="-1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and</a:t>
            </a:r>
            <a:r>
              <a:rPr dirty="0" sz="1700" spc="-1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H.</a:t>
            </a:r>
            <a:r>
              <a:rPr dirty="0" sz="1700" spc="-2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Nasiri,</a:t>
            </a:r>
            <a:r>
              <a:rPr dirty="0" sz="1700" spc="-15">
                <a:latin typeface="Times New Roman"/>
                <a:cs typeface="Times New Roman"/>
              </a:rPr>
              <a:t> </a:t>
            </a:r>
            <a:r>
              <a:rPr dirty="0" sz="1700" spc="-20">
                <a:latin typeface="Times New Roman"/>
                <a:cs typeface="Times New Roman"/>
              </a:rPr>
              <a:t>“An </a:t>
            </a:r>
            <a:r>
              <a:rPr dirty="0" sz="1700">
                <a:latin typeface="Times New Roman"/>
                <a:cs typeface="Times New Roman"/>
              </a:rPr>
              <a:t>Explain</a:t>
            </a:r>
            <a:r>
              <a:rPr dirty="0" sz="1700" spc="-1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able</a:t>
            </a:r>
            <a:r>
              <a:rPr dirty="0" sz="1700" spc="-2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Nature-Inspired</a:t>
            </a:r>
            <a:r>
              <a:rPr dirty="0" sz="1700" spc="-1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Framework</a:t>
            </a:r>
            <a:r>
              <a:rPr dirty="0" sz="1700" spc="-20">
                <a:latin typeface="Times New Roman"/>
                <a:cs typeface="Times New Roman"/>
              </a:rPr>
              <a:t> </a:t>
            </a:r>
            <a:r>
              <a:rPr dirty="0" sz="1700" spc="-25">
                <a:latin typeface="Times New Roman"/>
                <a:cs typeface="Times New Roman"/>
              </a:rPr>
              <a:t>for </a:t>
            </a:r>
            <a:r>
              <a:rPr dirty="0" sz="1700">
                <a:latin typeface="Times New Roman"/>
                <a:cs typeface="Times New Roman"/>
              </a:rPr>
              <a:t>Monkeypox</a:t>
            </a:r>
            <a:r>
              <a:rPr dirty="0" sz="1700" spc="-9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Diagnosis:</a:t>
            </a:r>
            <a:r>
              <a:rPr dirty="0" sz="1700" spc="-3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Xception</a:t>
            </a:r>
            <a:r>
              <a:rPr dirty="0" sz="1700" spc="-3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Features</a:t>
            </a:r>
            <a:r>
              <a:rPr dirty="0" sz="1700" spc="-3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Combined</a:t>
            </a:r>
            <a:r>
              <a:rPr dirty="0" sz="1700" spc="-3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with</a:t>
            </a:r>
            <a:r>
              <a:rPr dirty="0" sz="1700" spc="-3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NGBoost</a:t>
            </a:r>
            <a:r>
              <a:rPr dirty="0" sz="1700" spc="-3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and</a:t>
            </a:r>
            <a:r>
              <a:rPr dirty="0" sz="1700" spc="-11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African</a:t>
            </a:r>
            <a:r>
              <a:rPr dirty="0" sz="1700" spc="-105">
                <a:latin typeface="Times New Roman"/>
                <a:cs typeface="Times New Roman"/>
              </a:rPr>
              <a:t> </a:t>
            </a:r>
            <a:r>
              <a:rPr dirty="0" sz="1700" spc="-10">
                <a:latin typeface="Times New Roman"/>
                <a:cs typeface="Times New Roman"/>
              </a:rPr>
              <a:t>Vultures</a:t>
            </a:r>
            <a:r>
              <a:rPr dirty="0" sz="1700" spc="-35">
                <a:latin typeface="Times New Roman"/>
                <a:cs typeface="Times New Roman"/>
              </a:rPr>
              <a:t> </a:t>
            </a:r>
            <a:r>
              <a:rPr dirty="0" sz="1700" spc="-10">
                <a:latin typeface="Times New Roman"/>
                <a:cs typeface="Times New Roman"/>
              </a:rPr>
              <a:t>Optimization</a:t>
            </a:r>
            <a:r>
              <a:rPr dirty="0" sz="1700" spc="-100">
                <a:latin typeface="Times New Roman"/>
                <a:cs typeface="Times New Roman"/>
              </a:rPr>
              <a:t> </a:t>
            </a:r>
            <a:r>
              <a:rPr dirty="0" sz="1700" spc="-10">
                <a:latin typeface="Times New Roman"/>
                <a:cs typeface="Times New Roman"/>
              </a:rPr>
              <a:t>Algorithm,” </a:t>
            </a:r>
            <a:r>
              <a:rPr dirty="0" sz="1700" spc="-30">
                <a:latin typeface="Times New Roman"/>
                <a:cs typeface="Times New Roman"/>
              </a:rPr>
              <a:t>arXiv,</a:t>
            </a:r>
            <a:r>
              <a:rPr dirty="0" sz="1700" spc="-9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Apr.</a:t>
            </a:r>
            <a:r>
              <a:rPr dirty="0" sz="1700" spc="-70">
                <a:latin typeface="Times New Roman"/>
                <a:cs typeface="Times New Roman"/>
              </a:rPr>
              <a:t> </a:t>
            </a:r>
            <a:r>
              <a:rPr dirty="0" sz="1700" spc="-10">
                <a:latin typeface="Times New Roman"/>
                <a:cs typeface="Times New Roman"/>
              </a:rPr>
              <a:t>2025.</a:t>
            </a:r>
            <a:endParaRPr sz="1700">
              <a:latin typeface="Times New Roman"/>
              <a:cs typeface="Times New Roman"/>
            </a:endParaRPr>
          </a:p>
          <a:p>
            <a:pPr algn="just" marL="208279" marR="29209" indent="-196215">
              <a:lnSpc>
                <a:spcPts val="1839"/>
              </a:lnSpc>
              <a:spcBef>
                <a:spcPts val="985"/>
              </a:spcBef>
              <a:buChar char="•"/>
              <a:tabLst>
                <a:tab pos="208279" algn="l"/>
              </a:tabLst>
            </a:pPr>
            <a:r>
              <a:rPr dirty="0" sz="1700">
                <a:latin typeface="Times New Roman"/>
                <a:cs typeface="Times New Roman"/>
              </a:rPr>
              <a:t>[13]</a:t>
            </a:r>
            <a:r>
              <a:rPr dirty="0" sz="1700" spc="-1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N.</a:t>
            </a:r>
            <a:r>
              <a:rPr dirty="0" sz="1700" spc="-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Soe</a:t>
            </a:r>
            <a:r>
              <a:rPr dirty="0" sz="1700" spc="-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et</a:t>
            </a:r>
            <a:r>
              <a:rPr dirty="0" sz="1700" spc="-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al.,</a:t>
            </a:r>
            <a:r>
              <a:rPr dirty="0" sz="1700" spc="-5">
                <a:latin typeface="Times New Roman"/>
                <a:cs typeface="Times New Roman"/>
              </a:rPr>
              <a:t> </a:t>
            </a:r>
            <a:r>
              <a:rPr dirty="0" sz="1700" spc="-10">
                <a:latin typeface="Times New Roman"/>
                <a:cs typeface="Times New Roman"/>
              </a:rPr>
              <a:t>“Explainable</a:t>
            </a:r>
            <a:r>
              <a:rPr dirty="0" sz="1700" spc="-9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AI-Driven</a:t>
            </a:r>
            <a:r>
              <a:rPr dirty="0" sz="1700" spc="-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Detection</a:t>
            </a:r>
            <a:r>
              <a:rPr dirty="0" sz="1700" spc="-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of</a:t>
            </a:r>
            <a:r>
              <a:rPr dirty="0" sz="1700" spc="-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Human</a:t>
            </a:r>
            <a:r>
              <a:rPr dirty="0" sz="1700" spc="-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Mon</a:t>
            </a:r>
            <a:r>
              <a:rPr dirty="0" sz="1700" spc="-1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keypox</a:t>
            </a:r>
            <a:r>
              <a:rPr dirty="0" sz="1700" spc="-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from</a:t>
            </a:r>
            <a:r>
              <a:rPr dirty="0" sz="1700" spc="-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Skin</a:t>
            </a:r>
            <a:r>
              <a:rPr dirty="0" sz="1700" spc="-5">
                <a:latin typeface="Times New Roman"/>
                <a:cs typeface="Times New Roman"/>
              </a:rPr>
              <a:t> </a:t>
            </a:r>
            <a:r>
              <a:rPr dirty="0" sz="1700" spc="-10">
                <a:latin typeface="Times New Roman"/>
                <a:cs typeface="Times New Roman"/>
              </a:rPr>
              <a:t>Lesions:</a:t>
            </a:r>
            <a:r>
              <a:rPr dirty="0" sz="1700" spc="-90">
                <a:latin typeface="Times New Roman"/>
                <a:cs typeface="Times New Roman"/>
              </a:rPr>
              <a:t> </a:t>
            </a:r>
            <a:r>
              <a:rPr dirty="0" sz="1700" spc="-20">
                <a:latin typeface="Times New Roman"/>
                <a:cs typeface="Times New Roman"/>
              </a:rPr>
              <a:t>Vision</a:t>
            </a:r>
            <a:r>
              <a:rPr dirty="0" sz="1700" spc="-40">
                <a:latin typeface="Times New Roman"/>
                <a:cs typeface="Times New Roman"/>
              </a:rPr>
              <a:t> </a:t>
            </a:r>
            <a:r>
              <a:rPr dirty="0" sz="1700" spc="-10">
                <a:latin typeface="Times New Roman"/>
                <a:cs typeface="Times New Roman"/>
              </a:rPr>
              <a:t>Transformer </a:t>
            </a:r>
            <a:r>
              <a:rPr dirty="0" sz="1700">
                <a:latin typeface="Times New Roman"/>
                <a:cs typeface="Times New Roman"/>
              </a:rPr>
              <a:t>vs</a:t>
            </a:r>
            <a:r>
              <a:rPr dirty="0" sz="1700" spc="-10">
                <a:latin typeface="Times New Roman"/>
                <a:cs typeface="Times New Roman"/>
              </a:rPr>
              <a:t> CNNs,” </a:t>
            </a:r>
            <a:r>
              <a:rPr dirty="0" sz="1700">
                <a:latin typeface="Times New Roman"/>
                <a:cs typeface="Times New Roman"/>
              </a:rPr>
              <a:t>J.</a:t>
            </a:r>
            <a:r>
              <a:rPr dirty="0" sz="1700" spc="-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Med.</a:t>
            </a:r>
            <a:r>
              <a:rPr dirty="0" sz="1700" spc="-1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Internet</a:t>
            </a:r>
            <a:r>
              <a:rPr dirty="0" sz="1700" spc="-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Res.,</a:t>
            </a:r>
            <a:r>
              <a:rPr dirty="0" sz="1700" spc="-1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vol.</a:t>
            </a:r>
            <a:r>
              <a:rPr dirty="0" sz="1700" spc="-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26,</a:t>
            </a:r>
            <a:r>
              <a:rPr dirty="0" sz="1700" spc="-1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e52490,</a:t>
            </a:r>
            <a:r>
              <a:rPr dirty="0" sz="1700" spc="-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2024,</a:t>
            </a:r>
            <a:r>
              <a:rPr dirty="0" sz="1700" spc="-10">
                <a:latin typeface="Times New Roman"/>
                <a:cs typeface="Times New Roman"/>
              </a:rPr>
              <a:t> doi:10.2196/52490.</a:t>
            </a:r>
            <a:r>
              <a:rPr dirty="0" sz="1700" spc="-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:contentRef</a:t>
            </a:r>
            <a:r>
              <a:rPr dirty="0" sz="1700" spc="-10">
                <a:latin typeface="Times New Roman"/>
                <a:cs typeface="Times New Roman"/>
              </a:rPr>
              <a:t> erence[oaicite:1]index=1</a:t>
            </a:r>
            <a:endParaRPr sz="1700">
              <a:latin typeface="Times New Roman"/>
              <a:cs typeface="Times New Roman"/>
            </a:endParaRPr>
          </a:p>
          <a:p>
            <a:pPr marL="208279" marR="316865" indent="-196215">
              <a:lnSpc>
                <a:spcPts val="1839"/>
              </a:lnSpc>
              <a:spcBef>
                <a:spcPts val="995"/>
              </a:spcBef>
              <a:buChar char="•"/>
              <a:tabLst>
                <a:tab pos="208279" algn="l"/>
              </a:tabLst>
            </a:pPr>
            <a:r>
              <a:rPr dirty="0" sz="1700">
                <a:latin typeface="Times New Roman"/>
                <a:cs typeface="Times New Roman"/>
              </a:rPr>
              <a:t>[14]</a:t>
            </a:r>
            <a:r>
              <a:rPr dirty="0" sz="1700" spc="-1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J.</a:t>
            </a:r>
            <a:r>
              <a:rPr dirty="0" sz="1700" spc="-1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Chen,</a:t>
            </a:r>
            <a:r>
              <a:rPr dirty="0" sz="1700" spc="-1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Z.</a:t>
            </a:r>
            <a:r>
              <a:rPr dirty="0" sz="1700" spc="-1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Lu</a:t>
            </a:r>
            <a:r>
              <a:rPr dirty="0" sz="1700" spc="-1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and</a:t>
            </a:r>
            <a:r>
              <a:rPr dirty="0" sz="1700" spc="-1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S.</a:t>
            </a:r>
            <a:r>
              <a:rPr dirty="0" sz="1700" spc="-1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Kang,</a:t>
            </a:r>
            <a:r>
              <a:rPr dirty="0" sz="1700" spc="-1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“Monkeypox</a:t>
            </a:r>
            <a:r>
              <a:rPr dirty="0" sz="1700" spc="-1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Disease</a:t>
            </a:r>
            <a:r>
              <a:rPr dirty="0" sz="1700" spc="-1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Recognition</a:t>
            </a:r>
            <a:r>
              <a:rPr dirty="0" sz="1700" spc="-1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Model</a:t>
            </a:r>
            <a:r>
              <a:rPr dirty="0" sz="1700" spc="-1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based</a:t>
            </a:r>
            <a:r>
              <a:rPr dirty="0" sz="1700" spc="-1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on</a:t>
            </a:r>
            <a:r>
              <a:rPr dirty="0" sz="1700" spc="-1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Improved</a:t>
            </a:r>
            <a:r>
              <a:rPr dirty="0" sz="1700" spc="-1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SE-</a:t>
            </a:r>
            <a:r>
              <a:rPr dirty="0" sz="1700" spc="-10">
                <a:latin typeface="Times New Roman"/>
                <a:cs typeface="Times New Roman"/>
              </a:rPr>
              <a:t>InceptionV3,” arXiv,</a:t>
            </a:r>
            <a:r>
              <a:rPr dirty="0" sz="1700" spc="-9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Mar.</a:t>
            </a:r>
            <a:r>
              <a:rPr dirty="0" sz="1700" spc="-95">
                <a:latin typeface="Times New Roman"/>
                <a:cs typeface="Times New Roman"/>
              </a:rPr>
              <a:t> </a:t>
            </a:r>
            <a:r>
              <a:rPr dirty="0" sz="1700" spc="-10">
                <a:latin typeface="Times New Roman"/>
                <a:cs typeface="Times New Roman"/>
              </a:rPr>
              <a:t>2024.</a:t>
            </a:r>
            <a:endParaRPr sz="1700">
              <a:latin typeface="Times New Roman"/>
              <a:cs typeface="Times New Roman"/>
            </a:endParaRPr>
          </a:p>
          <a:p>
            <a:pPr marL="208279" marR="219710" indent="-196215">
              <a:lnSpc>
                <a:spcPts val="1839"/>
              </a:lnSpc>
              <a:spcBef>
                <a:spcPts val="990"/>
              </a:spcBef>
              <a:buChar char="•"/>
              <a:tabLst>
                <a:tab pos="208279" algn="l"/>
              </a:tabLst>
            </a:pPr>
            <a:r>
              <a:rPr dirty="0" sz="1700">
                <a:latin typeface="Times New Roman"/>
                <a:cs typeface="Times New Roman"/>
              </a:rPr>
              <a:t>[15]</a:t>
            </a:r>
            <a:r>
              <a:rPr dirty="0" sz="1700" spc="-2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M.</a:t>
            </a:r>
            <a:r>
              <a:rPr dirty="0" sz="1700" spc="-1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Pal</a:t>
            </a:r>
            <a:r>
              <a:rPr dirty="0" sz="1700" spc="-1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et</a:t>
            </a:r>
            <a:r>
              <a:rPr dirty="0" sz="1700" spc="-1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al.,</a:t>
            </a:r>
            <a:r>
              <a:rPr dirty="0" sz="1700" spc="-1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“Early</a:t>
            </a:r>
            <a:r>
              <a:rPr dirty="0" sz="1700" spc="-1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Detection</a:t>
            </a:r>
            <a:r>
              <a:rPr dirty="0" sz="1700" spc="-1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of</a:t>
            </a:r>
            <a:r>
              <a:rPr dirty="0" sz="1700" spc="-1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Human</a:t>
            </a:r>
            <a:r>
              <a:rPr dirty="0" sz="1700" spc="-15">
                <a:latin typeface="Times New Roman"/>
                <a:cs typeface="Times New Roman"/>
              </a:rPr>
              <a:t> </a:t>
            </a:r>
            <a:r>
              <a:rPr dirty="0" sz="1700" spc="-10">
                <a:latin typeface="Times New Roman"/>
                <a:cs typeface="Times New Roman"/>
              </a:rPr>
              <a:t>Mpox:</a:t>
            </a:r>
            <a:r>
              <a:rPr dirty="0" sz="1700" spc="-10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A</a:t>
            </a:r>
            <a:r>
              <a:rPr dirty="0" sz="1700" spc="-1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Comparative</a:t>
            </a:r>
            <a:r>
              <a:rPr dirty="0" sz="1700" spc="-1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Study</a:t>
            </a:r>
            <a:r>
              <a:rPr dirty="0" sz="1700" spc="-1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of</a:t>
            </a:r>
            <a:r>
              <a:rPr dirty="0" sz="1700" spc="-1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ML/DL</a:t>
            </a:r>
            <a:r>
              <a:rPr dirty="0" sz="1700" spc="-1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Ensemble</a:t>
            </a:r>
            <a:r>
              <a:rPr dirty="0" sz="1700" spc="-15">
                <a:latin typeface="Times New Roman"/>
                <a:cs typeface="Times New Roman"/>
              </a:rPr>
              <a:t> </a:t>
            </a:r>
            <a:r>
              <a:rPr dirty="0" sz="1700" spc="-10">
                <a:latin typeface="Times New Roman"/>
                <a:cs typeface="Times New Roman"/>
              </a:rPr>
              <a:t>Models,” Digital </a:t>
            </a:r>
            <a:r>
              <a:rPr dirty="0" sz="1700">
                <a:latin typeface="Times New Roman"/>
                <a:cs typeface="Times New Roman"/>
              </a:rPr>
              <a:t>Health,</a:t>
            </a:r>
            <a:r>
              <a:rPr dirty="0" sz="1700" spc="-1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2025. :contentRefer </a:t>
            </a:r>
            <a:r>
              <a:rPr dirty="0" sz="1700" spc="-10">
                <a:latin typeface="Times New Roman"/>
                <a:cs typeface="Times New Roman"/>
              </a:rPr>
              <a:t>ence[oaicite:2]index=2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3" name="object 3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40005">
              <a:lnSpc>
                <a:spcPts val="1410"/>
              </a:lnSpc>
            </a:pPr>
            <a:fld id="{81D60167-4931-47E6-BA6A-407CBD079E47}" type="slidenum">
              <a:rPr dirty="0" spc="-25"/>
              <a:t>29</a:t>
            </a:fld>
          </a:p>
        </p:txBody>
      </p:sp>
      <p:sp>
        <p:nvSpPr>
          <p:cNvPr id="4" name="object 4" descr=""/>
          <p:cNvSpPr txBox="1"/>
          <p:nvPr/>
        </p:nvSpPr>
        <p:spPr>
          <a:xfrm>
            <a:off x="4227227" y="6581783"/>
            <a:ext cx="868044" cy="19431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 sz="1200">
                <a:solidFill>
                  <a:srgbClr val="888888"/>
                </a:solidFill>
                <a:latin typeface="Times New Roman"/>
                <a:cs typeface="Times New Roman"/>
              </a:rPr>
              <a:t>Review</a:t>
            </a:r>
            <a:r>
              <a:rPr dirty="0" sz="1200" spc="-4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888888"/>
                </a:solidFill>
                <a:latin typeface="Times New Roman"/>
                <a:cs typeface="Times New Roman"/>
              </a:rPr>
              <a:t>No.</a:t>
            </a:r>
            <a:r>
              <a:rPr dirty="0" sz="1200" spc="-3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dirty="0" sz="1200" spc="-50">
                <a:solidFill>
                  <a:srgbClr val="888888"/>
                </a:solidFill>
                <a:latin typeface="Times New Roman"/>
                <a:cs typeface="Times New Roman"/>
              </a:rPr>
              <a:t>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5" name="object 5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36525" rIns="0" bIns="0" rtlCol="0" vert="horz">
            <a:spAutoFit/>
          </a:bodyPr>
          <a:lstStyle/>
          <a:p>
            <a:pPr marL="88900">
              <a:lnSpc>
                <a:spcPts val="1410"/>
              </a:lnSpc>
            </a:pPr>
            <a:r>
              <a:rPr dirty="0"/>
              <a:t>Batch</a:t>
            </a:r>
            <a:r>
              <a:rPr dirty="0" spc="-10"/>
              <a:t> </a:t>
            </a:r>
            <a:r>
              <a:rPr dirty="0"/>
              <a:t>No.</a:t>
            </a:r>
            <a:r>
              <a:rPr dirty="0" spc="280"/>
              <a:t> </a:t>
            </a:r>
            <a:r>
              <a:rPr dirty="0" spc="-25"/>
              <a:t>DB4</a:t>
            </a:r>
          </a:p>
        </p:txBody>
      </p:sp>
      <p:sp>
        <p:nvSpPr>
          <p:cNvPr id="6" name="object 6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136525" rIns="0" bIns="0" rtlCol="0" vert="horz">
            <a:spAutoFit/>
          </a:bodyPr>
          <a:lstStyle/>
          <a:p>
            <a:pPr marL="98425">
              <a:lnSpc>
                <a:spcPts val="1410"/>
              </a:lnSpc>
            </a:pPr>
            <a:r>
              <a:rPr dirty="0" spc="-10"/>
              <a:t>Department</a:t>
            </a:r>
            <a:r>
              <a:rPr dirty="0" spc="-15"/>
              <a:t> </a:t>
            </a:r>
            <a:r>
              <a:rPr dirty="0"/>
              <a:t>of</a:t>
            </a:r>
            <a:r>
              <a:rPr dirty="0" spc="-5"/>
              <a:t> </a:t>
            </a:r>
            <a:r>
              <a:rPr dirty="0" spc="-25"/>
              <a:t>CSE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4246277" y="6428676"/>
            <a:ext cx="868044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888888"/>
                </a:solidFill>
                <a:latin typeface="Times New Roman"/>
                <a:cs typeface="Times New Roman"/>
              </a:rPr>
              <a:t>Review</a:t>
            </a:r>
            <a:r>
              <a:rPr dirty="0" sz="1200" spc="-4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888888"/>
                </a:solidFill>
                <a:latin typeface="Times New Roman"/>
                <a:cs typeface="Times New Roman"/>
              </a:rPr>
              <a:t>No.</a:t>
            </a:r>
            <a:r>
              <a:rPr dirty="0" sz="1200" spc="-3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dirty="0" sz="1200" spc="-50">
                <a:solidFill>
                  <a:srgbClr val="888888"/>
                </a:solidFill>
                <a:latin typeface="Times New Roman"/>
                <a:cs typeface="Times New Roman"/>
              </a:rPr>
              <a:t>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5393216" y="6428676"/>
            <a:ext cx="969644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888888"/>
                </a:solidFill>
                <a:latin typeface="Times New Roman"/>
                <a:cs typeface="Times New Roman"/>
              </a:rPr>
              <a:t>Batch</a:t>
            </a:r>
            <a:r>
              <a:rPr dirty="0" sz="1200" spc="-15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888888"/>
                </a:solidFill>
                <a:latin typeface="Times New Roman"/>
                <a:cs typeface="Times New Roman"/>
              </a:rPr>
              <a:t>No.</a:t>
            </a:r>
            <a:r>
              <a:rPr dirty="0" sz="1200" spc="-15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dirty="0" sz="1200" spc="-25">
                <a:solidFill>
                  <a:srgbClr val="888888"/>
                </a:solidFill>
                <a:latin typeface="Times New Roman"/>
                <a:cs typeface="Times New Roman"/>
              </a:rPr>
              <a:t>DB4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6718158" y="6428676"/>
            <a:ext cx="122618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solidFill>
                  <a:srgbClr val="888888"/>
                </a:solidFill>
                <a:latin typeface="Times New Roman"/>
                <a:cs typeface="Times New Roman"/>
              </a:rPr>
              <a:t>Department</a:t>
            </a:r>
            <a:r>
              <a:rPr dirty="0" sz="1200" spc="-15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888888"/>
                </a:solidFill>
                <a:latin typeface="Times New Roman"/>
                <a:cs typeface="Times New Roman"/>
              </a:rPr>
              <a:t>of</a:t>
            </a:r>
            <a:r>
              <a:rPr dirty="0" sz="1200" spc="-5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dirty="0" sz="1200" spc="-25">
                <a:solidFill>
                  <a:srgbClr val="888888"/>
                </a:solidFill>
                <a:latin typeface="Times New Roman"/>
                <a:cs typeface="Times New Roman"/>
              </a:rPr>
              <a:t>CSE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11102975" y="6428676"/>
            <a:ext cx="17780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>
                <a:solidFill>
                  <a:srgbClr val="888888"/>
                </a:solidFill>
                <a:latin typeface="Times New Roman"/>
                <a:cs typeface="Times New Roman"/>
              </a:rPr>
              <a:t>31</a:t>
            </a:r>
            <a:endParaRPr sz="1200">
              <a:latin typeface="Times New Roman"/>
              <a:cs typeface="Times New Roman"/>
            </a:endParaRPr>
          </a:p>
        </p:txBody>
      </p:sp>
      <p:pic>
        <p:nvPicPr>
          <p:cNvPr id="6" name="object 6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777355" y="1403903"/>
            <a:ext cx="4775632" cy="389579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DB_4_PPT (9)</dc:title>
  <dcterms:created xsi:type="dcterms:W3CDTF">2026-02-11T07:31:26Z</dcterms:created>
  <dcterms:modified xsi:type="dcterms:W3CDTF">2026-02-11T07:31:26Z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2026-02-11T00:00:00Z</vt:filetime>
  </property>
  <property fmtid="{D5CDD505-2E9C-101B-9397-08002B2CF9AE}" pid="3" name="Creator">
    <vt:lpwstr>Google</vt:lpwstr>
  </property>
  <property fmtid="{D5CDD505-2E9C-101B-9397-08002B2CF9AE}" pid="4" name="LastSaved">
    <vt:filetime>2026-02-11T00:00:00Z</vt:filetime>
  </property>
</Properties>
</file>