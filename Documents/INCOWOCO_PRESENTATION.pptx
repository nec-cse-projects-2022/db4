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89" name="Google Shape;89;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99636159e2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8" name="Google Shape;98;g399636159e2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99" name="Google Shape;99;g399636159e2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g399636159e2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01" name="Google Shape;101;g399636159e2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2" name="Google Shape;102;g399636159e2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9636159e2_0_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0" name="Google Shape;110;g399636159e2_0_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1" name="Google Shape;111;g399636159e2_0_9: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99636159e2_0_9: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13" name="Google Shape;113;g399636159e2_0_9: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4" name="Google Shape;114;g399636159e2_0_9: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9636159e2_0_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2" name="Google Shape;122;g399636159e2_0_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3" name="Google Shape;123;g399636159e2_0_18: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399636159e2_0_1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25" name="Google Shape;125;g399636159e2_0_18: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6" name="Google Shape;126;g399636159e2_0_18: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99636159e2_0_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4" name="Google Shape;134;g399636159e2_0_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5" name="Google Shape;135;g399636159e2_0_27: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g399636159e2_0_2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37" name="Google Shape;137;g399636159e2_0_27: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38" name="Google Shape;138;g399636159e2_0_27: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99636159e2_0_3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6" name="Google Shape;146;g399636159e2_0_3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7" name="Google Shape;147;g399636159e2_0_36: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g399636159e2_0_3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49" name="Google Shape;149;g399636159e2_0_36: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0" name="Google Shape;150;g399636159e2_0_36: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9636159e2_0_4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9" name="Google Shape;159;g399636159e2_0_4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0" name="Google Shape;160;g399636159e2_0_45: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99636159e2_0_4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62" name="Google Shape;162;g399636159e2_0_45: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3" name="Google Shape;163;g399636159e2_0_45: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9636159e2_0_5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1" name="Google Shape;171;g399636159e2_0_5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2" name="Google Shape;172;g399636159e2_0_54: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99636159e2_0_5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74" name="Google Shape;174;g399636159e2_0_5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5" name="Google Shape;175;g399636159e2_0_5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99636159e2_0_6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3" name="Google Shape;183;g399636159e2_0_6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4" name="Google Shape;184;g399636159e2_0_63: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99636159e2_0_6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186" name="Google Shape;186;g399636159e2_0_63: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7" name="Google Shape;187;g399636159e2_0_63: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9636159e2_0_7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7" name="Google Shape;197;g399636159e2_0_7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8" name="Google Shape;198;g399636159e2_0_72: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g399636159e2_0_72: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00" name="Google Shape;200;g399636159e2_0_72: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1" name="Google Shape;201;g399636159e2_0_72: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9636159e2_0_18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0" name="Google Shape;210;g399636159e2_0_18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11" name="Google Shape;211;g399636159e2_0_183: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g399636159e2_0_18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13" name="Google Shape;213;g399636159e2_0_183: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4" name="Google Shape;214;g399636159e2_0_183: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99636159e2_0_1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4" name="Google Shape;224;g399636159e2_0_1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5" name="Google Shape;225;g399636159e2_0_116: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99636159e2_0_116: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27" name="Google Shape;227;g399636159e2_0_116: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8" name="Google Shape;228;g399636159e2_0_116: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9636159e2_0_9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7" name="Google Shape;237;g399636159e2_0_9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8" name="Google Shape;238;g399636159e2_0_9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g399636159e2_0_9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40" name="Google Shape;240;g399636159e2_0_9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1" name="Google Shape;241;g399636159e2_0_9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9636159e2_0_10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0" name="Google Shape;250;g399636159e2_0_10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1" name="Google Shape;251;g399636159e2_0_107: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399636159e2_0_107: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53" name="Google Shape;253;g399636159e2_0_107: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4" name="Google Shape;254;g399636159e2_0_107: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9636159e2_0_1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7" name="Google Shape;267;g399636159e2_0_1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8" name="Google Shape;268;g399636159e2_0_125: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g399636159e2_0_125: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70" name="Google Shape;270;g399636159e2_0_125: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1" name="Google Shape;271;g399636159e2_0_125: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99636159e2_0_1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0" name="Google Shape;280;g399636159e2_0_1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1" name="Google Shape;281;g399636159e2_0_134: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99636159e2_0_134: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83" name="Google Shape;283;g399636159e2_0_134: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4" name="Google Shape;284;g399636159e2_0_134: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99636159e2_0_20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2" name="Google Shape;292;g399636159e2_0_20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93" name="Google Shape;293;g399636159e2_0_208: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g399636159e2_0_208: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1.7.2013</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p:txBody>
      </p:sp>
      <p:sp>
        <p:nvSpPr>
          <p:cNvPr id="295" name="Google Shape;295;g399636159e2_0_208: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6" name="Google Shape;296;g399636159e2_0_208: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5.png"/><Relationship Id="rId7"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10.png"/><Relationship Id="rId8"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8" l="0" r="0" t="-14459"/>
            </a:stretch>
          </a:blipFill>
          <a:ln>
            <a:noFill/>
          </a:ln>
        </p:spPr>
      </p:sp>
      <p:sp>
        <p:nvSpPr>
          <p:cNvPr id="93" name="Google Shape;93;p13"/>
          <p:cNvSpPr/>
          <p:nvPr/>
        </p:nvSpPr>
        <p:spPr>
          <a:xfrm>
            <a:off x="1" y="1"/>
            <a:ext cx="18288000" cy="2367724"/>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30" l="0" r="0" t="-5231"/>
            </a:stretch>
          </a:blipFill>
          <a:ln>
            <a:noFill/>
          </a:ln>
        </p:spPr>
      </p:sp>
      <p:sp>
        <p:nvSpPr>
          <p:cNvPr id="94" name="Google Shape;94;p13"/>
          <p:cNvSpPr txBox="1"/>
          <p:nvPr/>
        </p:nvSpPr>
        <p:spPr>
          <a:xfrm>
            <a:off x="269875" y="2367725"/>
            <a:ext cx="17753700" cy="649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chemeClr val="dk1"/>
                </a:solidFill>
                <a:latin typeface="Times"/>
                <a:ea typeface="Times"/>
                <a:cs typeface="Times"/>
                <a:sym typeface="Times"/>
              </a:rPr>
              <a:t>                                                </a:t>
            </a:r>
            <a:endParaRPr b="1" sz="2600">
              <a:solidFill>
                <a:schemeClr val="dk1"/>
              </a:solidFill>
              <a:latin typeface="Times"/>
              <a:ea typeface="Times"/>
              <a:cs typeface="Times"/>
              <a:sym typeface="Times"/>
            </a:endParaRPr>
          </a:p>
          <a:p>
            <a:pPr indent="0" lvl="0" marL="0" rtl="0" algn="l">
              <a:spcBef>
                <a:spcPts val="0"/>
              </a:spcBef>
              <a:spcAft>
                <a:spcPts val="0"/>
              </a:spcAft>
              <a:buNone/>
            </a:pPr>
            <a:r>
              <a:t/>
            </a:r>
            <a:endParaRPr b="1" sz="2600">
              <a:solidFill>
                <a:schemeClr val="dk1"/>
              </a:solidFill>
              <a:latin typeface="Times"/>
              <a:ea typeface="Times"/>
              <a:cs typeface="Times"/>
              <a:sym typeface="Times"/>
            </a:endParaRPr>
          </a:p>
          <a:p>
            <a:pPr indent="0" lvl="0" marL="0" rtl="0" algn="l">
              <a:spcBef>
                <a:spcPts val="0"/>
              </a:spcBef>
              <a:spcAft>
                <a:spcPts val="0"/>
              </a:spcAft>
              <a:buNone/>
            </a:pPr>
            <a:r>
              <a:rPr b="1" lang="en-US" sz="2600">
                <a:solidFill>
                  <a:schemeClr val="dk1"/>
                </a:solidFill>
                <a:latin typeface="Times"/>
                <a:ea typeface="Times"/>
                <a:cs typeface="Times"/>
                <a:sym typeface="Times"/>
              </a:rPr>
              <a:t>     </a:t>
            </a:r>
            <a:endParaRPr b="1" sz="2600">
              <a:solidFill>
                <a:schemeClr val="dk1"/>
              </a:solidFill>
              <a:latin typeface="Times"/>
              <a:ea typeface="Times"/>
              <a:cs typeface="Times"/>
              <a:sym typeface="Times"/>
            </a:endParaRPr>
          </a:p>
          <a:p>
            <a:pPr indent="0" lvl="0" marL="0" rtl="0" algn="l">
              <a:spcBef>
                <a:spcPts val="0"/>
              </a:spcBef>
              <a:spcAft>
                <a:spcPts val="0"/>
              </a:spcAft>
              <a:buNone/>
            </a:pPr>
            <a:r>
              <a:rPr b="1" lang="en-US" sz="2600">
                <a:solidFill>
                  <a:schemeClr val="dk1"/>
                </a:solidFill>
                <a:latin typeface="Times"/>
                <a:ea typeface="Times"/>
                <a:cs typeface="Times"/>
                <a:sym typeface="Times"/>
              </a:rPr>
              <a:t>             CMT ID                                                                          </a:t>
            </a:r>
            <a:r>
              <a:rPr lang="en-US" sz="3200">
                <a:solidFill>
                  <a:schemeClr val="dk1"/>
                </a:solidFill>
                <a:latin typeface="Times"/>
                <a:ea typeface="Times"/>
                <a:cs typeface="Times"/>
                <a:sym typeface="Times"/>
              </a:rPr>
              <a:t>: </a:t>
            </a:r>
            <a:r>
              <a:rPr lang="en-US" sz="2400">
                <a:solidFill>
                  <a:schemeClr val="dk1"/>
                </a:solidFill>
                <a:latin typeface="Times"/>
                <a:ea typeface="Times"/>
                <a:cs typeface="Times"/>
                <a:sym typeface="Times"/>
              </a:rPr>
              <a:t>208</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Times"/>
              <a:ea typeface="Times"/>
              <a:cs typeface="Times"/>
              <a:sym typeface="Times"/>
            </a:endParaRPr>
          </a:p>
          <a:p>
            <a:pPr indent="0" lvl="0" marL="0" rtl="0" algn="l">
              <a:lnSpc>
                <a:spcPct val="115000"/>
              </a:lnSpc>
              <a:spcBef>
                <a:spcPts val="0"/>
              </a:spcBef>
              <a:spcAft>
                <a:spcPts val="0"/>
              </a:spcAft>
              <a:buNone/>
            </a:pPr>
            <a:r>
              <a:rPr b="1" lang="en-US" sz="2600">
                <a:solidFill>
                  <a:schemeClr val="dk1"/>
                </a:solidFill>
                <a:latin typeface="Times"/>
                <a:ea typeface="Times"/>
                <a:cs typeface="Times"/>
                <a:sym typeface="Times"/>
              </a:rPr>
              <a:t>             ARTICLE TITLE</a:t>
            </a:r>
            <a:r>
              <a:rPr lang="en-US" sz="3200">
                <a:solidFill>
                  <a:schemeClr val="dk1"/>
                </a:solidFill>
                <a:latin typeface="Times"/>
                <a:ea typeface="Times"/>
                <a:cs typeface="Times"/>
                <a:sym typeface="Times"/>
              </a:rPr>
              <a:t>                                               : </a:t>
            </a:r>
            <a:r>
              <a:rPr lang="en-US" sz="2400">
                <a:solidFill>
                  <a:schemeClr val="dk1"/>
                </a:solidFill>
                <a:latin typeface="Times"/>
                <a:ea typeface="Times"/>
                <a:cs typeface="Times"/>
                <a:sym typeface="Times"/>
              </a:rPr>
              <a:t>A COMPARATIVE STUDY OF CNN ARCHITECTURES FOR </a:t>
            </a:r>
            <a:endParaRPr sz="2400">
              <a:solidFill>
                <a:schemeClr val="dk1"/>
              </a:solidFill>
              <a:latin typeface="Times"/>
              <a:ea typeface="Times"/>
              <a:cs typeface="Times"/>
              <a:sym typeface="Times"/>
            </a:endParaRPr>
          </a:p>
          <a:p>
            <a:pPr indent="0" lvl="0" marL="0" rtl="0" algn="l">
              <a:lnSpc>
                <a:spcPct val="115000"/>
              </a:lnSpc>
              <a:spcBef>
                <a:spcPts val="0"/>
              </a:spcBef>
              <a:spcAft>
                <a:spcPts val="0"/>
              </a:spcAft>
              <a:buNone/>
            </a:pPr>
            <a:r>
              <a:rPr lang="en-US" sz="2400">
                <a:solidFill>
                  <a:schemeClr val="dk1"/>
                </a:solidFill>
                <a:latin typeface="Times"/>
                <a:ea typeface="Times"/>
                <a:cs typeface="Times"/>
                <a:sym typeface="Times"/>
              </a:rPr>
              <a:t>                                                                                                                  MONKEYPOX DETECTION</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Times"/>
              <a:ea typeface="Times"/>
              <a:cs typeface="Times"/>
              <a:sym typeface="Times"/>
            </a:endParaRPr>
          </a:p>
          <a:p>
            <a:pPr indent="0" lvl="0" marL="0" rtl="0" algn="l">
              <a:spcBef>
                <a:spcPts val="0"/>
              </a:spcBef>
              <a:spcAft>
                <a:spcPts val="0"/>
              </a:spcAft>
              <a:buNone/>
            </a:pPr>
            <a:r>
              <a:rPr b="1" lang="en-US" sz="2600">
                <a:solidFill>
                  <a:schemeClr val="dk1"/>
                </a:solidFill>
                <a:latin typeface="Times"/>
                <a:ea typeface="Times"/>
                <a:cs typeface="Times"/>
                <a:sym typeface="Times"/>
              </a:rPr>
              <a:t>             NAME OF THE PRESENTING AUTHOR</a:t>
            </a:r>
            <a:r>
              <a:rPr lang="en-US" sz="3200">
                <a:solidFill>
                  <a:schemeClr val="dk1"/>
                </a:solidFill>
                <a:latin typeface="Times"/>
                <a:ea typeface="Times"/>
                <a:cs typeface="Times"/>
                <a:sym typeface="Times"/>
              </a:rPr>
              <a:t>             : </a:t>
            </a:r>
            <a:r>
              <a:rPr lang="en-US" sz="2400">
                <a:solidFill>
                  <a:schemeClr val="dk1"/>
                </a:solidFill>
                <a:latin typeface="Times"/>
                <a:ea typeface="Times"/>
                <a:cs typeface="Times"/>
                <a:sym typeface="Times"/>
              </a:rPr>
              <a:t>SHAIK SUBHANI</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Times"/>
              <a:ea typeface="Times"/>
              <a:cs typeface="Times"/>
              <a:sym typeface="Times"/>
            </a:endParaRPr>
          </a:p>
          <a:p>
            <a:pPr indent="0" lvl="0" marL="0" rtl="0" algn="just">
              <a:lnSpc>
                <a:spcPct val="115000"/>
              </a:lnSpc>
              <a:spcBef>
                <a:spcPts val="0"/>
              </a:spcBef>
              <a:spcAft>
                <a:spcPts val="0"/>
              </a:spcAft>
              <a:buNone/>
            </a:pPr>
            <a:r>
              <a:rPr b="1" lang="en-US" sz="2600">
                <a:solidFill>
                  <a:schemeClr val="dk1"/>
                </a:solidFill>
                <a:latin typeface="Times"/>
                <a:ea typeface="Times"/>
                <a:cs typeface="Times"/>
                <a:sym typeface="Times"/>
              </a:rPr>
              <a:t>         </a:t>
            </a:r>
            <a:r>
              <a:rPr b="1" lang="en-US" sz="2600">
                <a:solidFill>
                  <a:schemeClr val="dk1"/>
                </a:solidFill>
                <a:latin typeface="Times"/>
                <a:ea typeface="Times"/>
                <a:cs typeface="Times"/>
                <a:sym typeface="Times"/>
              </a:rPr>
              <a:t>    AFFILIATION OF THE PRESENTING AUTHOR</a:t>
            </a:r>
            <a:r>
              <a:rPr lang="en-US" sz="3200">
                <a:solidFill>
                  <a:schemeClr val="dk1"/>
                </a:solidFill>
                <a:latin typeface="Times"/>
                <a:ea typeface="Times"/>
                <a:cs typeface="Times"/>
                <a:sym typeface="Times"/>
              </a:rPr>
              <a:t> : </a:t>
            </a:r>
            <a:r>
              <a:rPr lang="en-US" sz="2400">
                <a:solidFill>
                  <a:schemeClr val="dk1"/>
                </a:solidFill>
                <a:latin typeface="Times"/>
                <a:ea typeface="Times"/>
                <a:cs typeface="Times"/>
                <a:sym typeface="Times"/>
              </a:rPr>
              <a:t>DEPARTMENT OF COMPUTER SCIENCE AND ENGINEERING,                      </a:t>
            </a:r>
            <a:endParaRPr sz="2400">
              <a:solidFill>
                <a:schemeClr val="dk1"/>
              </a:solidFill>
              <a:latin typeface="Times"/>
              <a:ea typeface="Times"/>
              <a:cs typeface="Times"/>
              <a:sym typeface="Times"/>
            </a:endParaRPr>
          </a:p>
          <a:p>
            <a:pPr indent="0" lvl="0" marL="0" rtl="0" algn="just">
              <a:lnSpc>
                <a:spcPct val="115000"/>
              </a:lnSpc>
              <a:spcBef>
                <a:spcPts val="0"/>
              </a:spcBef>
              <a:spcAft>
                <a:spcPts val="0"/>
              </a:spcAft>
              <a:buNone/>
            </a:pPr>
            <a:r>
              <a:rPr lang="en-US" sz="2400">
                <a:solidFill>
                  <a:schemeClr val="dk1"/>
                </a:solidFill>
                <a:latin typeface="Times"/>
                <a:ea typeface="Times"/>
                <a:cs typeface="Times"/>
                <a:sym typeface="Times"/>
              </a:rPr>
              <a:t>                                                                                                                 NARASARAOPETA ENGINEERING COLLEGE (AUTONOMOUS),  </a:t>
            </a:r>
            <a:endParaRPr sz="2400">
              <a:solidFill>
                <a:schemeClr val="dk1"/>
              </a:solidFill>
              <a:latin typeface="Times"/>
              <a:ea typeface="Times"/>
              <a:cs typeface="Times"/>
              <a:sym typeface="Times"/>
            </a:endParaRPr>
          </a:p>
          <a:p>
            <a:pPr indent="0" lvl="0" marL="0" rtl="0" algn="just">
              <a:lnSpc>
                <a:spcPct val="115000"/>
              </a:lnSpc>
              <a:spcBef>
                <a:spcPts val="0"/>
              </a:spcBef>
              <a:spcAft>
                <a:spcPts val="0"/>
              </a:spcAft>
              <a:buNone/>
            </a:pPr>
            <a:r>
              <a:rPr lang="en-US" sz="2400">
                <a:solidFill>
                  <a:schemeClr val="dk1"/>
                </a:solidFill>
                <a:latin typeface="Times"/>
                <a:ea typeface="Times"/>
                <a:cs typeface="Times"/>
                <a:sym typeface="Times"/>
              </a:rPr>
              <a:t>                                                                                                                 NARASARAOPET, INDIA</a:t>
            </a:r>
            <a:endParaRPr sz="2400">
              <a:solidFill>
                <a:schemeClr val="dk1"/>
              </a:solidFill>
              <a:latin typeface="Times"/>
              <a:ea typeface="Times"/>
              <a:cs typeface="Times"/>
              <a:sym typeface="Times"/>
            </a:endParaRPr>
          </a:p>
          <a:p>
            <a:pPr indent="0" lvl="0" marL="0" rtl="0" algn="l">
              <a:spcBef>
                <a:spcPts val="0"/>
              </a:spcBef>
              <a:spcAft>
                <a:spcPts val="0"/>
              </a:spcAft>
              <a:buClr>
                <a:schemeClr val="dk1"/>
              </a:buClr>
              <a:buSzPts val="1100"/>
              <a:buFont typeface="Arial"/>
              <a:buNone/>
            </a:pPr>
            <a:r>
              <a:t/>
            </a:r>
            <a:endParaRPr sz="32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95" name="Google Shape;95;p13"/>
          <p:cNvSpPr txBox="1"/>
          <p:nvPr/>
        </p:nvSpPr>
        <p:spPr>
          <a:xfrm>
            <a:off x="4053425" y="2367725"/>
            <a:ext cx="10874400" cy="76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3200">
                <a:solidFill>
                  <a:schemeClr val="dk1"/>
                </a:solidFill>
                <a:latin typeface="Times"/>
                <a:ea typeface="Times"/>
                <a:cs typeface="Times"/>
                <a:sym typeface="Times"/>
              </a:rPr>
              <a:t>               PAPER ID, TITLE AND AUTHOR DETAILS</a:t>
            </a:r>
            <a:endParaRPr b="1" sz="3200">
              <a:solidFill>
                <a:schemeClr val="dk1"/>
              </a:solidFill>
              <a:latin typeface="Times"/>
              <a:ea typeface="Times"/>
              <a:cs typeface="Times"/>
              <a:sym typeface="Times"/>
            </a:endParaRPr>
          </a:p>
          <a:p>
            <a:pPr indent="0" lvl="0" marL="0" rtl="0" algn="l">
              <a:spcBef>
                <a:spcPts val="0"/>
              </a:spcBef>
              <a:spcAft>
                <a:spcPts val="0"/>
              </a:spcAft>
              <a:buClr>
                <a:schemeClr val="dk1"/>
              </a:buClr>
              <a:buSzPts val="1100"/>
              <a:buFont typeface="Arial"/>
              <a:buNone/>
            </a:pPr>
            <a:r>
              <a:t/>
            </a:r>
            <a:endParaRPr b="1" sz="3200">
              <a:solidFill>
                <a:schemeClr val="dk1"/>
              </a:solidFill>
              <a:latin typeface="Times"/>
              <a:ea typeface="Times"/>
              <a:cs typeface="Times"/>
              <a:sym typeface="Times"/>
            </a:endParaRPr>
          </a:p>
          <a:p>
            <a:pPr indent="0" lvl="0" marL="0" rtl="0" algn="l">
              <a:spcBef>
                <a:spcPts val="0"/>
              </a:spcBef>
              <a:spcAft>
                <a:spcPts val="0"/>
              </a:spcAft>
              <a:buNone/>
            </a:pPr>
            <a:r>
              <a:t/>
            </a:r>
            <a:endParaRPr b="1" sz="3200">
              <a:solidFill>
                <a:schemeClr val="dk1"/>
              </a:solidFill>
              <a:latin typeface="Times"/>
              <a:ea typeface="Times"/>
              <a:cs typeface="Times"/>
              <a:sym typeface="Time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4"/>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05" name="Google Shape;105;p14"/>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06" name="Google Shape;106;p14"/>
          <p:cNvSpPr txBox="1"/>
          <p:nvPr/>
        </p:nvSpPr>
        <p:spPr>
          <a:xfrm>
            <a:off x="852525" y="2367725"/>
            <a:ext cx="16137300" cy="6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381000" lvl="0" marL="457200" rtl="0" algn="just">
              <a:spcBef>
                <a:spcPts val="0"/>
              </a:spcBef>
              <a:spcAft>
                <a:spcPts val="0"/>
              </a:spcAft>
              <a:buClr>
                <a:schemeClr val="dk1"/>
              </a:buClr>
              <a:buSzPts val="2400"/>
              <a:buFont typeface="Times"/>
              <a:buChar char="❖"/>
            </a:pPr>
            <a:r>
              <a:rPr lang="en-US" sz="2400">
                <a:solidFill>
                  <a:schemeClr val="dk1"/>
                </a:solidFill>
                <a:latin typeface="Times"/>
                <a:ea typeface="Times"/>
                <a:cs typeface="Times"/>
                <a:sym typeface="Times"/>
              </a:rPr>
              <a:t>With Monkeypox increasingly becoming a rising public health concern, the demand for rapid, accurate, and convenient diagnostic tools is greater than ever. This paper evaluates the deep learning methods can play in facilitating the early diagnosis of Monkeypox via skin lesion image analysis. We fine-tuned three popular convolutional neural network (CNN) models—EfficientNetV2-S, DenseNet121, and InceptionV3—on a binary classification dataset of Monkeypox and normal skin images. To enhance generalization of models, we employed a variety of data augmentation techniques while training. Further, to provide insight into the predictions of the models, we employed LIME to plot the most mandatory regions of the images that can be used to give to the output.he dataset utilized within this work was selected with care to mimic real-world clinical conditions such that the models could learn from varied visual patterns. Explainability is also a focus of our approach, which is essential in developing trust in AI-influenced medical aids. The models are only need image inputs, and thus they are deployable for mobile or remote healthcare use.</a:t>
            </a:r>
            <a:endParaRPr sz="2400">
              <a:solidFill>
                <a:schemeClr val="dk1"/>
              </a:solidFill>
              <a:latin typeface="Times"/>
              <a:ea typeface="Times"/>
              <a:cs typeface="Times"/>
              <a:sym typeface="Times"/>
            </a:endParaRPr>
          </a:p>
        </p:txBody>
      </p:sp>
      <p:sp>
        <p:nvSpPr>
          <p:cNvPr id="107" name="Google Shape;107;p14"/>
          <p:cNvSpPr txBox="1"/>
          <p:nvPr/>
        </p:nvSpPr>
        <p:spPr>
          <a:xfrm>
            <a:off x="6110650" y="2367725"/>
            <a:ext cx="5397600" cy="6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Times"/>
                <a:ea typeface="Times"/>
                <a:cs typeface="Times"/>
                <a:sym typeface="Times"/>
              </a:rPr>
              <a:t>                ABSTRACT</a:t>
            </a:r>
            <a:endParaRPr b="1" sz="3200">
              <a:solidFill>
                <a:schemeClr val="dk1"/>
              </a:solidFill>
              <a:latin typeface="Times"/>
              <a:ea typeface="Times"/>
              <a:cs typeface="Times"/>
              <a:sym typeface="Time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5"/>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17" name="Google Shape;117;p15"/>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18" name="Google Shape;118;p15"/>
          <p:cNvSpPr txBox="1"/>
          <p:nvPr/>
        </p:nvSpPr>
        <p:spPr>
          <a:xfrm>
            <a:off x="678550" y="2401025"/>
            <a:ext cx="17203200" cy="63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381000" lvl="0" marL="457200" rtl="0" algn="just">
              <a:lnSpc>
                <a:spcPct val="110000"/>
              </a:lnSpc>
              <a:spcBef>
                <a:spcPts val="1000"/>
              </a:spcBef>
              <a:spcAft>
                <a:spcPts val="0"/>
              </a:spcAft>
              <a:buClr>
                <a:schemeClr val="dk1"/>
              </a:buClr>
              <a:buSzPts val="2400"/>
              <a:buChar char="❖"/>
            </a:pPr>
            <a:r>
              <a:rPr lang="en-US" sz="2400">
                <a:solidFill>
                  <a:schemeClr val="dk1"/>
                </a:solidFill>
                <a:latin typeface="Times"/>
                <a:ea typeface="Times"/>
                <a:cs typeface="Times"/>
                <a:sym typeface="Times"/>
              </a:rPr>
              <a:t>Monkeypox detection through skin lesion images is a fast, non-invasive, and accessible diagnostic approach.</a:t>
            </a:r>
            <a:endParaRPr sz="2400">
              <a:solidFill>
                <a:schemeClr val="dk1"/>
              </a:solidFill>
              <a:latin typeface="Times"/>
              <a:ea typeface="Times"/>
              <a:cs typeface="Times"/>
              <a:sym typeface="Times"/>
            </a:endParaRPr>
          </a:p>
          <a:p>
            <a:pPr indent="0" lvl="0" marL="0" rtl="0" algn="just">
              <a:lnSpc>
                <a:spcPct val="110000"/>
              </a:lnSpc>
              <a:spcBef>
                <a:spcPts val="1000"/>
              </a:spcBef>
              <a:spcAft>
                <a:spcPts val="0"/>
              </a:spcAft>
              <a:buClr>
                <a:schemeClr val="dk1"/>
              </a:buClr>
              <a:buSzPts val="1800"/>
              <a:buFont typeface="Arial"/>
              <a:buNone/>
            </a:pPr>
            <a:r>
              <a:t/>
            </a:r>
            <a:endParaRPr sz="2400">
              <a:solidFill>
                <a:schemeClr val="dk1"/>
              </a:solidFill>
              <a:latin typeface="Times"/>
              <a:ea typeface="Times"/>
              <a:cs typeface="Times"/>
              <a:sym typeface="Times"/>
            </a:endParaRPr>
          </a:p>
          <a:p>
            <a:pPr indent="-381000" lvl="0" marL="457200" rtl="0" algn="just">
              <a:lnSpc>
                <a:spcPct val="110000"/>
              </a:lnSpc>
              <a:spcBef>
                <a:spcPts val="1000"/>
              </a:spcBef>
              <a:spcAft>
                <a:spcPts val="0"/>
              </a:spcAft>
              <a:buClr>
                <a:schemeClr val="dk1"/>
              </a:buClr>
              <a:buSzPts val="2400"/>
              <a:buChar char="❖"/>
            </a:pPr>
            <a:r>
              <a:rPr lang="en-US" sz="2400">
                <a:solidFill>
                  <a:schemeClr val="dk1"/>
                </a:solidFill>
                <a:latin typeface="Times"/>
                <a:ea typeface="Times"/>
                <a:cs typeface="Times"/>
                <a:sym typeface="Times"/>
              </a:rPr>
              <a:t>A CNN-based transfer learning model is proposed to automatically extract discriminative features for Monkeypox diagnosis.</a:t>
            </a:r>
            <a:endParaRPr sz="2400">
              <a:solidFill>
                <a:schemeClr val="dk1"/>
              </a:solidFill>
              <a:latin typeface="Times"/>
              <a:ea typeface="Times"/>
              <a:cs typeface="Times"/>
              <a:sym typeface="Times"/>
            </a:endParaRPr>
          </a:p>
          <a:p>
            <a:pPr indent="0" lvl="0" marL="457200" rtl="0" algn="just">
              <a:lnSpc>
                <a:spcPct val="110000"/>
              </a:lnSpc>
              <a:spcBef>
                <a:spcPts val="1000"/>
              </a:spcBef>
              <a:spcAft>
                <a:spcPts val="0"/>
              </a:spcAft>
              <a:buClr>
                <a:schemeClr val="dk1"/>
              </a:buClr>
              <a:buSzPts val="1800"/>
              <a:buFont typeface="Arial"/>
              <a:buNone/>
            </a:pPr>
            <a:r>
              <a:t/>
            </a:r>
            <a:endParaRPr sz="2400">
              <a:solidFill>
                <a:schemeClr val="dk1"/>
              </a:solidFill>
              <a:latin typeface="Times"/>
              <a:ea typeface="Times"/>
              <a:cs typeface="Times"/>
              <a:sym typeface="Times"/>
            </a:endParaRPr>
          </a:p>
          <a:p>
            <a:pPr indent="-381000" lvl="0" marL="457200" rtl="0" algn="just">
              <a:lnSpc>
                <a:spcPct val="110000"/>
              </a:lnSpc>
              <a:spcBef>
                <a:spcPts val="1000"/>
              </a:spcBef>
              <a:spcAft>
                <a:spcPts val="0"/>
              </a:spcAft>
              <a:buClr>
                <a:schemeClr val="dk1"/>
              </a:buClr>
              <a:buSzPts val="2400"/>
              <a:buChar char="❖"/>
            </a:pPr>
            <a:r>
              <a:rPr lang="en-US" sz="2400">
                <a:solidFill>
                  <a:schemeClr val="dk1"/>
                </a:solidFill>
                <a:latin typeface="Times"/>
                <a:ea typeface="Times"/>
                <a:cs typeface="Times"/>
                <a:sym typeface="Times"/>
              </a:rPr>
              <a:t>The model integrates data augmentation, fine-tuning, and LIME explainability to enhance accuracy, robustness, and interpretability.</a:t>
            </a:r>
            <a:endParaRPr sz="2400">
              <a:solidFill>
                <a:schemeClr val="dk1"/>
              </a:solidFill>
              <a:latin typeface="Times"/>
              <a:ea typeface="Times"/>
              <a:cs typeface="Times"/>
              <a:sym typeface="Times"/>
            </a:endParaRPr>
          </a:p>
          <a:p>
            <a:pPr indent="0" lvl="0" marL="457200" rtl="0" algn="just">
              <a:lnSpc>
                <a:spcPct val="110000"/>
              </a:lnSpc>
              <a:spcBef>
                <a:spcPts val="1000"/>
              </a:spcBef>
              <a:spcAft>
                <a:spcPts val="0"/>
              </a:spcAft>
              <a:buClr>
                <a:schemeClr val="dk1"/>
              </a:buClr>
              <a:buSzPts val="1800"/>
              <a:buFont typeface="Arial"/>
              <a:buNone/>
            </a:pPr>
            <a:r>
              <a:t/>
            </a:r>
            <a:endParaRPr sz="2400">
              <a:solidFill>
                <a:schemeClr val="dk1"/>
              </a:solidFill>
              <a:latin typeface="Times"/>
              <a:ea typeface="Times"/>
              <a:cs typeface="Times"/>
              <a:sym typeface="Times"/>
            </a:endParaRPr>
          </a:p>
          <a:p>
            <a:pPr indent="-381000" lvl="0" marL="457200" rtl="0" algn="just">
              <a:lnSpc>
                <a:spcPct val="110000"/>
              </a:lnSpc>
              <a:spcBef>
                <a:spcPts val="1000"/>
              </a:spcBef>
              <a:spcAft>
                <a:spcPts val="0"/>
              </a:spcAft>
              <a:buClr>
                <a:schemeClr val="dk1"/>
              </a:buClr>
              <a:buSzPts val="2400"/>
              <a:buFont typeface="Times"/>
              <a:buChar char="❖"/>
            </a:pPr>
            <a:r>
              <a:rPr lang="en-US" sz="2400">
                <a:solidFill>
                  <a:schemeClr val="dk1"/>
                </a:solidFill>
                <a:latin typeface="Times"/>
                <a:ea typeface="Times"/>
                <a:cs typeface="Times"/>
                <a:sym typeface="Times"/>
              </a:rPr>
              <a:t> In this study, we examine and contrast the effectiveness of three top-performing CNN architectures for the binary classification of monkeypox versus normal skin: InceptionV3, DenseNet121, and EfficientNetV2-S.</a:t>
            </a:r>
            <a:endParaRPr sz="2400">
              <a:solidFill>
                <a:schemeClr val="dk1"/>
              </a:solidFill>
              <a:latin typeface="Times"/>
              <a:ea typeface="Times"/>
              <a:cs typeface="Times"/>
              <a:sym typeface="Times"/>
            </a:endParaRPr>
          </a:p>
          <a:p>
            <a:pPr indent="0" lvl="0" marL="457200" rtl="0" algn="just">
              <a:lnSpc>
                <a:spcPct val="110000"/>
              </a:lnSpc>
              <a:spcBef>
                <a:spcPts val="1000"/>
              </a:spcBef>
              <a:spcAft>
                <a:spcPts val="0"/>
              </a:spcAft>
              <a:buNone/>
            </a:pPr>
            <a:r>
              <a:t/>
            </a:r>
            <a:endParaRPr sz="2400">
              <a:solidFill>
                <a:schemeClr val="dk1"/>
              </a:solidFill>
              <a:latin typeface="Times"/>
              <a:ea typeface="Times"/>
              <a:cs typeface="Times"/>
              <a:sym typeface="Times"/>
            </a:endParaRPr>
          </a:p>
          <a:p>
            <a:pPr indent="-381000" lvl="0" marL="457200" rtl="0" algn="just">
              <a:lnSpc>
                <a:spcPct val="110000"/>
              </a:lnSpc>
              <a:spcBef>
                <a:spcPts val="1000"/>
              </a:spcBef>
              <a:spcAft>
                <a:spcPts val="0"/>
              </a:spcAft>
              <a:buClr>
                <a:schemeClr val="dk1"/>
              </a:buClr>
              <a:buSzPts val="2400"/>
              <a:buFont typeface="Times"/>
              <a:buChar char="❖"/>
            </a:pPr>
            <a:r>
              <a:rPr b="1" lang="en-US" sz="2400">
                <a:solidFill>
                  <a:schemeClr val="dk1"/>
                </a:solidFill>
                <a:latin typeface="Times"/>
                <a:ea typeface="Times"/>
                <a:cs typeface="Times"/>
                <a:sym typeface="Times"/>
              </a:rPr>
              <a:t>Key features:</a:t>
            </a:r>
            <a:r>
              <a:rPr lang="en-US" sz="2400">
                <a:solidFill>
                  <a:schemeClr val="dk1"/>
                </a:solidFill>
                <a:latin typeface="Times"/>
                <a:ea typeface="Times"/>
                <a:cs typeface="Times"/>
                <a:sym typeface="Times"/>
              </a:rPr>
              <a:t> lesion color, texture, and shape are vital for accurate classification and feature extraction.</a:t>
            </a:r>
            <a:endParaRPr sz="2400">
              <a:solidFill>
                <a:schemeClr val="dk1"/>
              </a:solidFill>
              <a:latin typeface="Times"/>
              <a:ea typeface="Times"/>
              <a:cs typeface="Times"/>
              <a:sym typeface="Times"/>
            </a:endParaRPr>
          </a:p>
        </p:txBody>
      </p:sp>
      <p:sp>
        <p:nvSpPr>
          <p:cNvPr id="119" name="Google Shape;119;p15"/>
          <p:cNvSpPr txBox="1"/>
          <p:nvPr/>
        </p:nvSpPr>
        <p:spPr>
          <a:xfrm>
            <a:off x="6006900" y="2367725"/>
            <a:ext cx="6872400" cy="7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Times"/>
                <a:ea typeface="Times"/>
                <a:cs typeface="Times"/>
                <a:sym typeface="Times"/>
              </a:rPr>
              <a:t>               INTRODUCTION</a:t>
            </a:r>
            <a:endParaRPr b="1" sz="3200">
              <a:solidFill>
                <a:schemeClr val="dk1"/>
              </a:solidFill>
              <a:latin typeface="Times"/>
              <a:ea typeface="Times"/>
              <a:cs typeface="Times"/>
              <a:sym typeface="Time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6"/>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29" name="Google Shape;129;p16"/>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30" name="Google Shape;130;p16"/>
          <p:cNvSpPr txBox="1"/>
          <p:nvPr/>
        </p:nvSpPr>
        <p:spPr>
          <a:xfrm>
            <a:off x="6849575" y="2367725"/>
            <a:ext cx="5589300" cy="696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4400"/>
              <a:buFont typeface="Times New Roman"/>
              <a:buNone/>
            </a:pPr>
            <a:r>
              <a:rPr b="1" lang="en-US" sz="3200">
                <a:solidFill>
                  <a:schemeClr val="dk1"/>
                </a:solidFill>
                <a:latin typeface="Times New Roman"/>
                <a:ea typeface="Times New Roman"/>
                <a:cs typeface="Times New Roman"/>
                <a:sym typeface="Times New Roman"/>
              </a:rPr>
              <a:t> PROBLEM STATEMENT</a:t>
            </a:r>
            <a:endParaRPr b="1"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31" name="Google Shape;131;p16"/>
          <p:cNvSpPr txBox="1"/>
          <p:nvPr/>
        </p:nvSpPr>
        <p:spPr>
          <a:xfrm>
            <a:off x="678550" y="3063725"/>
            <a:ext cx="16876800" cy="5589300"/>
          </a:xfrm>
          <a:prstGeom prst="rect">
            <a:avLst/>
          </a:prstGeom>
          <a:noFill/>
          <a:ln>
            <a:noFill/>
          </a:ln>
        </p:spPr>
        <p:txBody>
          <a:bodyPr anchorCtr="0" anchor="t" bIns="91425" lIns="91425" spcFirstLastPara="1" rIns="91425" wrap="square" tIns="91425">
            <a:noAutofit/>
          </a:bodyPr>
          <a:lstStyle/>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Existing models are trained on small, non-clinical Monkeypox datasets, limiting their ability to generalize across different skin tones and lesion types.</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Most studies are retrospective, without validation on independent or real-world clinical images.</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GAN-generated or augmented images are heavily used to compensate for limited data, which may not accurately represent true lesion characteristics.</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The lack of large, clinically verified datasets restricts robustness and scalability for deployment in healthcare environments.</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Current deep learning models often struggle under variable lighting, noise, and real clinical image quality.</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There is a need for an interpretable and efficient CNN-based system capable of accurately detecting Monkeypox from diverse skin images in real time.</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41" name="Google Shape;141;p17"/>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42" name="Google Shape;142;p17"/>
          <p:cNvSpPr txBox="1"/>
          <p:nvPr/>
        </p:nvSpPr>
        <p:spPr>
          <a:xfrm>
            <a:off x="6746350" y="2367725"/>
            <a:ext cx="5110800" cy="5871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4400"/>
              <a:buFont typeface="Times New Roman"/>
              <a:buNone/>
            </a:pPr>
            <a:r>
              <a:rPr b="1" lang="en-US" sz="3200">
                <a:solidFill>
                  <a:schemeClr val="dk1"/>
                </a:solidFill>
                <a:latin typeface="Times New Roman"/>
                <a:ea typeface="Times New Roman"/>
                <a:cs typeface="Times New Roman"/>
                <a:sym typeface="Times New Roman"/>
              </a:rPr>
              <a:t>OBJECTIVES</a:t>
            </a:r>
            <a:endParaRPr sz="3200">
              <a:solidFill>
                <a:schemeClr val="dk1"/>
              </a:solidFill>
              <a:latin typeface="Calibri"/>
              <a:ea typeface="Calibri"/>
              <a:cs typeface="Calibri"/>
              <a:sym typeface="Calibri"/>
            </a:endParaRPr>
          </a:p>
        </p:txBody>
      </p:sp>
      <p:sp>
        <p:nvSpPr>
          <p:cNvPr id="143" name="Google Shape;143;p17"/>
          <p:cNvSpPr txBox="1"/>
          <p:nvPr/>
        </p:nvSpPr>
        <p:spPr>
          <a:xfrm>
            <a:off x="591550" y="3009975"/>
            <a:ext cx="17050800" cy="58530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200"/>
              <a:buFont typeface="Noto Sans Symbols"/>
              <a:buNone/>
            </a:pPr>
            <a:r>
              <a:rPr b="1" lang="en-US" sz="2600">
                <a:solidFill>
                  <a:schemeClr val="dk1"/>
                </a:solidFill>
                <a:latin typeface="Times"/>
                <a:ea typeface="Times"/>
                <a:cs typeface="Times"/>
                <a:sym typeface="Times"/>
              </a:rPr>
              <a:t>Our Research work aims to :</a:t>
            </a:r>
            <a:endParaRPr b="1" sz="2600">
              <a:solidFill>
                <a:schemeClr val="dk1"/>
              </a:solidFill>
              <a:latin typeface="Times"/>
              <a:ea typeface="Times"/>
              <a:cs typeface="Times"/>
              <a:sym typeface="Times"/>
            </a:endParaRPr>
          </a:p>
          <a:p>
            <a:pPr indent="-88900" lvl="0" marL="228600" rtl="0" algn="l">
              <a:lnSpc>
                <a:spcPct val="90000"/>
              </a:lnSpc>
              <a:spcBef>
                <a:spcPts val="1000"/>
              </a:spcBef>
              <a:spcAft>
                <a:spcPts val="0"/>
              </a:spcAft>
              <a:buClr>
                <a:schemeClr val="dk1"/>
              </a:buClr>
              <a:buSzPts val="2200"/>
              <a:buFont typeface="Noto Sans Symbols"/>
              <a:buNone/>
            </a:pPr>
            <a:r>
              <a:t/>
            </a:r>
            <a:endParaRPr sz="2400">
              <a:solidFill>
                <a:schemeClr val="dk1"/>
              </a:solidFill>
              <a:latin typeface="Times"/>
              <a:ea typeface="Times"/>
              <a:cs typeface="Times"/>
              <a:sym typeface="Times"/>
            </a:endParaRPr>
          </a:p>
          <a:p>
            <a:pPr indent="-262255"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Develop CNN-based deep learning models (EfficientNetV2-S, DenseNet121, InceptionV3) for accurate Monkeypox detection from skin lesion images.</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2255"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Enhance model generalization using advanced data augmentation and transfer learning techniques.</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2255"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Incorporate LIME-based explainability to highlight lesion regions influencing model predictions, ensuring interpretability and clinical trust.</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2255"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Compare model performance using metrics such as Accuracy, Precision, Recall, and F1-Score.</a:t>
            </a:r>
            <a:br>
              <a:rPr lang="en-US" sz="2400">
                <a:solidFill>
                  <a:schemeClr val="dk1"/>
                </a:solidFill>
                <a:latin typeface="Times"/>
                <a:ea typeface="Times"/>
                <a:cs typeface="Times"/>
                <a:sym typeface="Times"/>
              </a:rPr>
            </a:br>
            <a:endParaRPr sz="2400">
              <a:solidFill>
                <a:schemeClr val="dk1"/>
              </a:solidFill>
              <a:latin typeface="Times"/>
              <a:ea typeface="Times"/>
              <a:cs typeface="Times"/>
              <a:sym typeface="Times"/>
            </a:endParaRPr>
          </a:p>
          <a:p>
            <a:pPr indent="-262255"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Design a lightweight and deployable solution suitable for mobile or remote healthcare environments.</a:t>
            </a:r>
            <a:endParaRPr sz="2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8"/>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53" name="Google Shape;153;p18"/>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54" name="Google Shape;154;p18"/>
          <p:cNvSpPr txBox="1"/>
          <p:nvPr/>
        </p:nvSpPr>
        <p:spPr>
          <a:xfrm>
            <a:off x="6789850" y="2367725"/>
            <a:ext cx="5089200" cy="652500"/>
          </a:xfrm>
          <a:prstGeom prst="rect">
            <a:avLst/>
          </a:prstGeom>
          <a:noFill/>
          <a:ln>
            <a:noFill/>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4400"/>
              <a:buFont typeface="Times New Roman"/>
              <a:buNone/>
            </a:pPr>
            <a:r>
              <a:rPr b="1" lang="en-US" sz="3200">
                <a:solidFill>
                  <a:schemeClr val="dk1"/>
                </a:solidFill>
                <a:latin typeface="Times New Roman"/>
                <a:ea typeface="Times New Roman"/>
                <a:cs typeface="Times New Roman"/>
                <a:sym typeface="Times New Roman"/>
              </a:rPr>
              <a:t>METHODOLOGY</a:t>
            </a:r>
            <a:endParaRPr sz="3200">
              <a:solidFill>
                <a:schemeClr val="dk1"/>
              </a:solidFill>
              <a:latin typeface="Calibri"/>
              <a:ea typeface="Calibri"/>
              <a:cs typeface="Calibri"/>
              <a:sym typeface="Calibri"/>
            </a:endParaRPr>
          </a:p>
        </p:txBody>
      </p:sp>
      <p:sp>
        <p:nvSpPr>
          <p:cNvPr id="155" name="Google Shape;155;p18"/>
          <p:cNvSpPr txBox="1"/>
          <p:nvPr/>
        </p:nvSpPr>
        <p:spPr>
          <a:xfrm>
            <a:off x="662100" y="3020225"/>
            <a:ext cx="16963800" cy="58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chemeClr val="dk1"/>
                </a:solidFill>
                <a:latin typeface="Times"/>
                <a:ea typeface="Times"/>
                <a:cs typeface="Times"/>
                <a:sym typeface="Times"/>
              </a:rPr>
              <a:t>1</a:t>
            </a:r>
            <a:r>
              <a:rPr lang="en-US" sz="2600">
                <a:solidFill>
                  <a:schemeClr val="dk1"/>
                </a:solidFill>
                <a:latin typeface="Times"/>
                <a:ea typeface="Times"/>
                <a:cs typeface="Times"/>
                <a:sym typeface="Times"/>
              </a:rPr>
              <a:t>. </a:t>
            </a:r>
            <a:r>
              <a:rPr b="1" lang="en-US" sz="2600">
                <a:solidFill>
                  <a:schemeClr val="dk1"/>
                </a:solidFill>
                <a:latin typeface="Times"/>
                <a:ea typeface="Times"/>
                <a:cs typeface="Times"/>
                <a:sym typeface="Times"/>
              </a:rPr>
              <a:t>Dataset :</a:t>
            </a:r>
            <a:endParaRPr b="1" sz="2600">
              <a:solidFill>
                <a:schemeClr val="dk1"/>
              </a:solidFill>
              <a:latin typeface="Times"/>
              <a:ea typeface="Times"/>
              <a:cs typeface="Times"/>
              <a:sym typeface="Times"/>
            </a:endParaRPr>
          </a:p>
          <a:p>
            <a:pPr indent="0" lvl="0" marL="0" rtl="0" algn="l">
              <a:spcBef>
                <a:spcPts val="0"/>
              </a:spcBef>
              <a:spcAft>
                <a:spcPts val="0"/>
              </a:spcAft>
              <a:buClr>
                <a:schemeClr val="dk1"/>
              </a:buClr>
              <a:buSzPts val="2400"/>
              <a:buFont typeface="Arial"/>
              <a:buNone/>
            </a:pPr>
            <a:r>
              <a:t/>
            </a:r>
            <a:endParaRPr b="1" sz="2600">
              <a:solidFill>
                <a:schemeClr val="dk1"/>
              </a:solidFill>
              <a:latin typeface="Times"/>
              <a:ea typeface="Times"/>
              <a:cs typeface="Times"/>
              <a:sym typeface="Times"/>
            </a:endParaRPr>
          </a:p>
          <a:p>
            <a:pPr indent="-381000" lvl="0" marL="457200" rtl="0" algn="l">
              <a:spcBef>
                <a:spcPts val="0"/>
              </a:spcBef>
              <a:spcAft>
                <a:spcPts val="0"/>
              </a:spcAft>
              <a:buClr>
                <a:schemeClr val="dk1"/>
              </a:buClr>
              <a:buSzPts val="2400"/>
              <a:buFont typeface="Times New Roman"/>
              <a:buAutoNum type="arabicParenR"/>
            </a:pPr>
            <a:r>
              <a:rPr lang="en-US" sz="2400">
                <a:solidFill>
                  <a:schemeClr val="dk1"/>
                </a:solidFill>
                <a:latin typeface="Times New Roman"/>
                <a:ea typeface="Times New Roman"/>
                <a:cs typeface="Times New Roman"/>
                <a:sym typeface="Times New Roman"/>
              </a:rPr>
              <a:t>We used a publicly accessible dataset of images of monkeypox that was divided into two categories: normal and monkeypox. The dataset was divided in an 80/20 ratio between train and validation sets. Prior to training, all images were normalized to scale pixel values to 0 and 1 and resized to the input size each model requires (e.g., 224×224 pixels). </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AutoNum type="arabicParenR"/>
            </a:pPr>
            <a:r>
              <a:rPr lang="en-US" sz="2400">
                <a:solidFill>
                  <a:schemeClr val="dk1"/>
                </a:solidFill>
                <a:latin typeface="Times New Roman"/>
                <a:ea typeface="Times New Roman"/>
                <a:cs typeface="Times New Roman"/>
                <a:sym typeface="Times New Roman"/>
              </a:rPr>
              <a:t>The dataset can be used for valuable benchmark for monkeypox detection, it’s in small size (716 images) may limit the generalizability of the models to larger clinical scenarios. Future work will be focused on expanding the dataset through collaboration with medical institutions or public health repositories, and incorporating external validation to strengthen the robustness of the findings.</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p:txBody>
      </p:sp>
      <p:pic>
        <p:nvPicPr>
          <p:cNvPr id="156" name="Google Shape;156;p18" title="Screenshot 2025-11-08 193712.png"/>
          <p:cNvPicPr preferRelativeResize="0"/>
          <p:nvPr/>
        </p:nvPicPr>
        <p:blipFill rotWithShape="1">
          <a:blip r:embed="rId5">
            <a:alphaModFix/>
          </a:blip>
          <a:srcRect b="0" l="0" r="0" t="0"/>
          <a:stretch/>
        </p:blipFill>
        <p:spPr>
          <a:xfrm>
            <a:off x="4767250" y="6231450"/>
            <a:ext cx="8527600" cy="2631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66" name="Google Shape;166;p19"/>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67" name="Google Shape;167;p19"/>
          <p:cNvSpPr txBox="1"/>
          <p:nvPr/>
        </p:nvSpPr>
        <p:spPr>
          <a:xfrm>
            <a:off x="656800" y="2400925"/>
            <a:ext cx="47193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chemeClr val="dk1"/>
                </a:solidFill>
                <a:latin typeface="Times"/>
                <a:ea typeface="Times"/>
                <a:cs typeface="Times"/>
                <a:sym typeface="Times"/>
              </a:rPr>
              <a:t>2. Data Preprocessing : </a:t>
            </a:r>
            <a:endParaRPr b="1" sz="2600">
              <a:solidFill>
                <a:schemeClr val="dk1"/>
              </a:solidFill>
              <a:latin typeface="Times"/>
              <a:ea typeface="Times"/>
              <a:cs typeface="Times"/>
              <a:sym typeface="Times"/>
            </a:endParaRPr>
          </a:p>
        </p:txBody>
      </p:sp>
      <p:sp>
        <p:nvSpPr>
          <p:cNvPr id="168" name="Google Shape;168;p19"/>
          <p:cNvSpPr txBox="1"/>
          <p:nvPr/>
        </p:nvSpPr>
        <p:spPr>
          <a:xfrm>
            <a:off x="656800" y="3053475"/>
            <a:ext cx="16898400" cy="58095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US" sz="2400">
                <a:solidFill>
                  <a:schemeClr val="dk1"/>
                </a:solidFill>
                <a:latin typeface="Times"/>
                <a:ea typeface="Times"/>
                <a:cs typeface="Times"/>
                <a:sym typeface="Times"/>
              </a:rPr>
              <a:t>Before training, all images were preprocessed to ensure uniformity and compatibility across models.</a:t>
            </a:r>
            <a:br>
              <a:rPr lang="en-US" sz="2400">
                <a:solidFill>
                  <a:schemeClr val="dk1"/>
                </a:solidFill>
                <a:latin typeface="Times"/>
                <a:ea typeface="Times"/>
                <a:cs typeface="Times"/>
                <a:sym typeface="Times"/>
              </a:rPr>
            </a:br>
            <a:r>
              <a:rPr lang="en-US" sz="2400">
                <a:solidFill>
                  <a:schemeClr val="dk1"/>
                </a:solidFill>
                <a:latin typeface="Times"/>
                <a:ea typeface="Times"/>
                <a:cs typeface="Times"/>
                <a:sym typeface="Times"/>
              </a:rPr>
              <a:t>This step prepares raw input data for efficient learning and stable model convergence.</a:t>
            </a:r>
            <a:endParaRPr sz="2400">
              <a:solidFill>
                <a:schemeClr val="dk1"/>
              </a:solidFill>
              <a:latin typeface="Times"/>
              <a:ea typeface="Times"/>
              <a:cs typeface="Times"/>
              <a:sym typeface="Times"/>
            </a:endParaRPr>
          </a:p>
          <a:p>
            <a:pPr indent="0" lvl="0" marL="0" rtl="0" algn="l">
              <a:spcBef>
                <a:spcPts val="1200"/>
              </a:spcBef>
              <a:spcAft>
                <a:spcPts val="0"/>
              </a:spcAft>
              <a:buClr>
                <a:schemeClr val="dk1"/>
              </a:buClr>
              <a:buSzPts val="1100"/>
              <a:buFont typeface="Arial"/>
              <a:buNone/>
            </a:pPr>
            <a:r>
              <a:rPr b="1" lang="en-US" sz="2400">
                <a:solidFill>
                  <a:schemeClr val="dk1"/>
                </a:solidFill>
                <a:latin typeface="Times"/>
                <a:ea typeface="Times"/>
                <a:cs typeface="Times"/>
                <a:sym typeface="Times"/>
              </a:rPr>
              <a:t>Preprocessing Steps Applied:</a:t>
            </a:r>
            <a:endParaRPr b="1" sz="2400">
              <a:solidFill>
                <a:schemeClr val="dk1"/>
              </a:solidFill>
              <a:latin typeface="Times"/>
              <a:ea typeface="Times"/>
              <a:cs typeface="Times"/>
              <a:sym typeface="Times"/>
            </a:endParaRPr>
          </a:p>
          <a:p>
            <a:pPr indent="-381000" lvl="0" marL="457200" rtl="0" algn="l">
              <a:spcBef>
                <a:spcPts val="1200"/>
              </a:spcBef>
              <a:spcAft>
                <a:spcPts val="0"/>
              </a:spcAft>
              <a:buClr>
                <a:schemeClr val="dk1"/>
              </a:buClr>
              <a:buSzPts val="2400"/>
              <a:buFont typeface="Times"/>
              <a:buAutoNum type="arabicParenR"/>
            </a:pPr>
            <a:r>
              <a:rPr b="1" lang="en-US" sz="2400">
                <a:solidFill>
                  <a:schemeClr val="dk1"/>
                </a:solidFill>
                <a:latin typeface="Times"/>
                <a:ea typeface="Times"/>
                <a:cs typeface="Times"/>
                <a:sym typeface="Times"/>
              </a:rPr>
              <a:t>Image Resizing:</a:t>
            </a:r>
            <a:endParaRPr b="1" sz="2400">
              <a:solidFill>
                <a:schemeClr val="dk1"/>
              </a:solidFill>
              <a:latin typeface="Times"/>
              <a:ea typeface="Times"/>
              <a:cs typeface="Times"/>
              <a:sym typeface="Times"/>
            </a:endParaRPr>
          </a:p>
          <a:p>
            <a:pPr indent="-381000" lvl="0" marL="457200" rtl="0" algn="l">
              <a:spcBef>
                <a:spcPts val="1200"/>
              </a:spcBef>
              <a:spcAft>
                <a:spcPts val="0"/>
              </a:spcAft>
              <a:buClr>
                <a:schemeClr val="dk1"/>
              </a:buClr>
              <a:buSzPts val="2400"/>
              <a:buChar char="●"/>
            </a:pPr>
            <a:r>
              <a:rPr lang="en-US" sz="2400">
                <a:solidFill>
                  <a:schemeClr val="dk1"/>
                </a:solidFill>
                <a:latin typeface="Times"/>
                <a:ea typeface="Times"/>
                <a:cs typeface="Times"/>
                <a:sym typeface="Times"/>
              </a:rPr>
              <a:t>All images resized to 224 × 224 pixels to match the input dimensions required by EfficientNetV2-S, DenseNet121, and InceptionV3.</a:t>
            </a:r>
            <a:endParaRPr sz="2400">
              <a:solidFill>
                <a:schemeClr val="dk1"/>
              </a:solidFill>
              <a:latin typeface="Times"/>
              <a:ea typeface="Times"/>
              <a:cs typeface="Times"/>
              <a:sym typeface="Times"/>
            </a:endParaRPr>
          </a:p>
          <a:p>
            <a:pPr indent="0" lvl="0" marL="0" rtl="0" algn="l">
              <a:spcBef>
                <a:spcPts val="1200"/>
              </a:spcBef>
              <a:spcAft>
                <a:spcPts val="0"/>
              </a:spcAft>
              <a:buNone/>
            </a:pPr>
            <a:r>
              <a:rPr b="1" lang="en-US" sz="2400">
                <a:solidFill>
                  <a:schemeClr val="dk1"/>
                </a:solidFill>
                <a:latin typeface="Times"/>
                <a:ea typeface="Times"/>
                <a:cs typeface="Times"/>
                <a:sym typeface="Times"/>
              </a:rPr>
              <a:t>2)   Normalization:</a:t>
            </a:r>
            <a:endParaRPr b="1" sz="2400">
              <a:solidFill>
                <a:schemeClr val="dk1"/>
              </a:solidFill>
              <a:latin typeface="Times"/>
              <a:ea typeface="Times"/>
              <a:cs typeface="Times"/>
              <a:sym typeface="Times"/>
            </a:endParaRPr>
          </a:p>
          <a:p>
            <a:pPr indent="-381000" lvl="0" marL="457200" rtl="0" algn="l">
              <a:spcBef>
                <a:spcPts val="1200"/>
              </a:spcBef>
              <a:spcAft>
                <a:spcPts val="0"/>
              </a:spcAft>
              <a:buClr>
                <a:schemeClr val="dk1"/>
              </a:buClr>
              <a:buSzPts val="2400"/>
              <a:buChar char="●"/>
            </a:pPr>
            <a:r>
              <a:rPr lang="en-US" sz="2400">
                <a:solidFill>
                  <a:schemeClr val="dk1"/>
                </a:solidFill>
                <a:latin typeface="Times"/>
                <a:ea typeface="Times"/>
                <a:cs typeface="Times"/>
                <a:sym typeface="Times"/>
              </a:rPr>
              <a:t>Pixel values scaled between 0 and 1 to standardize input intensity and speed up training.</a:t>
            </a:r>
            <a:endParaRPr sz="2400">
              <a:solidFill>
                <a:schemeClr val="dk1"/>
              </a:solidFill>
              <a:latin typeface="Times"/>
              <a:ea typeface="Times"/>
              <a:cs typeface="Times"/>
              <a:sym typeface="Times"/>
            </a:endParaRPr>
          </a:p>
          <a:p>
            <a:pPr indent="0" lvl="0" marL="0" rtl="0" algn="l">
              <a:spcBef>
                <a:spcPts val="1200"/>
              </a:spcBef>
              <a:spcAft>
                <a:spcPts val="0"/>
              </a:spcAft>
              <a:buNone/>
            </a:pPr>
            <a:r>
              <a:rPr b="1" lang="en-US" sz="2400">
                <a:solidFill>
                  <a:schemeClr val="dk1"/>
                </a:solidFill>
                <a:latin typeface="Times"/>
                <a:ea typeface="Times"/>
                <a:cs typeface="Times"/>
                <a:sym typeface="Times"/>
              </a:rPr>
              <a:t>3)   Dataset Splitting:</a:t>
            </a:r>
            <a:endParaRPr b="1" sz="2400">
              <a:solidFill>
                <a:schemeClr val="dk1"/>
              </a:solidFill>
              <a:latin typeface="Times"/>
              <a:ea typeface="Times"/>
              <a:cs typeface="Times"/>
              <a:sym typeface="Times"/>
            </a:endParaRPr>
          </a:p>
          <a:p>
            <a:pPr indent="-381000" lvl="0" marL="457200" rtl="0" algn="l">
              <a:spcBef>
                <a:spcPts val="1200"/>
              </a:spcBef>
              <a:spcAft>
                <a:spcPts val="0"/>
              </a:spcAft>
              <a:buClr>
                <a:schemeClr val="dk1"/>
              </a:buClr>
              <a:buSzPts val="2400"/>
              <a:buChar char="●"/>
            </a:pPr>
            <a:r>
              <a:rPr lang="en-US" sz="2400">
                <a:solidFill>
                  <a:schemeClr val="dk1"/>
                </a:solidFill>
                <a:latin typeface="Times"/>
                <a:ea typeface="Times"/>
                <a:cs typeface="Times"/>
                <a:sym typeface="Times"/>
              </a:rPr>
              <a:t>Images divided into 80% training and 20% validation sets for balanced evaluation.</a:t>
            </a:r>
            <a:endParaRPr sz="2400">
              <a:solidFill>
                <a:schemeClr val="dk1"/>
              </a:solidFill>
              <a:latin typeface="Times"/>
              <a:ea typeface="Times"/>
              <a:cs typeface="Times"/>
              <a:sym typeface="Times"/>
            </a:endParaRPr>
          </a:p>
          <a:p>
            <a:pPr indent="0" lvl="0" marL="0" rtl="0" algn="l">
              <a:spcBef>
                <a:spcPts val="1200"/>
              </a:spcBef>
              <a:spcAft>
                <a:spcPts val="0"/>
              </a:spcAft>
              <a:buNone/>
            </a:pPr>
            <a:r>
              <a:rPr b="1" lang="en-US" sz="2400">
                <a:solidFill>
                  <a:schemeClr val="dk1"/>
                </a:solidFill>
                <a:latin typeface="Times"/>
                <a:ea typeface="Times"/>
                <a:cs typeface="Times"/>
                <a:sym typeface="Times"/>
              </a:rPr>
              <a:t>4)   Label Encoding:</a:t>
            </a:r>
            <a:endParaRPr b="1" sz="2400">
              <a:solidFill>
                <a:schemeClr val="dk1"/>
              </a:solidFill>
              <a:latin typeface="Times"/>
              <a:ea typeface="Times"/>
              <a:cs typeface="Times"/>
              <a:sym typeface="Times"/>
            </a:endParaRPr>
          </a:p>
          <a:p>
            <a:pPr indent="-381000" lvl="0" marL="457200" rtl="0" algn="l">
              <a:spcBef>
                <a:spcPts val="1200"/>
              </a:spcBef>
              <a:spcAft>
                <a:spcPts val="1200"/>
              </a:spcAft>
              <a:buClr>
                <a:schemeClr val="dk1"/>
              </a:buClr>
              <a:buSzPts val="2400"/>
              <a:buChar char="●"/>
            </a:pPr>
            <a:r>
              <a:rPr lang="en-US" sz="2400">
                <a:solidFill>
                  <a:schemeClr val="dk1"/>
                </a:solidFill>
                <a:latin typeface="Times"/>
                <a:ea typeface="Times"/>
                <a:cs typeface="Times"/>
                <a:sym typeface="Times"/>
              </a:rPr>
              <a:t>Classes converted into binary labels → </a:t>
            </a:r>
            <a:r>
              <a:rPr i="1" lang="en-US" sz="2400">
                <a:solidFill>
                  <a:schemeClr val="dk1"/>
                </a:solidFill>
                <a:latin typeface="Times"/>
                <a:ea typeface="Times"/>
                <a:cs typeface="Times"/>
                <a:sym typeface="Times"/>
              </a:rPr>
              <a:t>Monkeypox (1)</a:t>
            </a:r>
            <a:r>
              <a:rPr lang="en-US" sz="2400">
                <a:solidFill>
                  <a:schemeClr val="dk1"/>
                </a:solidFill>
                <a:latin typeface="Times"/>
                <a:ea typeface="Times"/>
                <a:cs typeface="Times"/>
                <a:sym typeface="Times"/>
              </a:rPr>
              <a:t> and </a:t>
            </a:r>
            <a:r>
              <a:rPr i="1" lang="en-US" sz="2400">
                <a:solidFill>
                  <a:schemeClr val="dk1"/>
                </a:solidFill>
                <a:latin typeface="Times"/>
                <a:ea typeface="Times"/>
                <a:cs typeface="Times"/>
                <a:sym typeface="Times"/>
              </a:rPr>
              <a:t>Normal (0)</a:t>
            </a:r>
            <a:r>
              <a:rPr lang="en-US" sz="2400">
                <a:solidFill>
                  <a:schemeClr val="dk1"/>
                </a:solidFill>
                <a:latin typeface="Times"/>
                <a:ea typeface="Times"/>
                <a:cs typeface="Times"/>
                <a:sym typeface="Times"/>
              </a:rPr>
              <a:t>.</a:t>
            </a:r>
            <a:endParaRPr sz="2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78" name="Google Shape;178;p20"/>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79" name="Google Shape;179;p20"/>
          <p:cNvSpPr txBox="1"/>
          <p:nvPr/>
        </p:nvSpPr>
        <p:spPr>
          <a:xfrm>
            <a:off x="678550" y="2367725"/>
            <a:ext cx="4784700" cy="6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2400"/>
              <a:buFont typeface="Arial"/>
              <a:buNone/>
            </a:pPr>
            <a:r>
              <a:rPr b="1" lang="en-US" sz="2600">
                <a:solidFill>
                  <a:schemeClr val="dk1"/>
                </a:solidFill>
                <a:latin typeface="Times"/>
                <a:ea typeface="Times"/>
                <a:cs typeface="Times"/>
                <a:sym typeface="Times"/>
              </a:rPr>
              <a:t>3. Data Augmentation : </a:t>
            </a:r>
            <a:endParaRPr b="1" sz="26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Times"/>
              <a:ea typeface="Times"/>
              <a:cs typeface="Times"/>
              <a:sym typeface="Times"/>
            </a:endParaRPr>
          </a:p>
        </p:txBody>
      </p:sp>
      <p:sp>
        <p:nvSpPr>
          <p:cNvPr id="180" name="Google Shape;180;p20"/>
          <p:cNvSpPr txBox="1"/>
          <p:nvPr/>
        </p:nvSpPr>
        <p:spPr>
          <a:xfrm>
            <a:off x="678550" y="3031725"/>
            <a:ext cx="16789800" cy="58314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700"/>
              <a:buFont typeface="Arial"/>
              <a:buNone/>
            </a:pPr>
            <a:r>
              <a:rPr lang="en-US" sz="2400">
                <a:solidFill>
                  <a:schemeClr val="dk1"/>
                </a:solidFill>
                <a:latin typeface="Times"/>
                <a:ea typeface="Times"/>
                <a:cs typeface="Times"/>
                <a:sym typeface="Times"/>
              </a:rPr>
              <a:t> For this project, we didn’t reinvent the wheel. Instead, we fired up Keras Image Data Generator—think of it as Photoshop on autopilot, dicing up your images with new looks on the fly. So as the model trains, it’s getting hit with a parade of fresh, slightly tweaked pictures. Keeps things interesting, keeps the model on its toes. Here’s the menu of augmentations we served up: </a:t>
            </a:r>
            <a:endParaRPr sz="2400">
              <a:solidFill>
                <a:schemeClr val="dk1"/>
              </a:solidFill>
              <a:latin typeface="Times"/>
              <a:ea typeface="Times"/>
              <a:cs typeface="Times"/>
              <a:sym typeface="Times"/>
            </a:endParaRPr>
          </a:p>
          <a:p>
            <a:pPr indent="0" lvl="0" marL="0" rtl="0" algn="just">
              <a:lnSpc>
                <a:spcPct val="115000"/>
              </a:lnSpc>
              <a:spcBef>
                <a:spcPts val="0"/>
              </a:spcBef>
              <a:spcAft>
                <a:spcPts val="0"/>
              </a:spcAft>
              <a:buClr>
                <a:schemeClr val="dk1"/>
              </a:buClr>
              <a:buSzPts val="1700"/>
              <a:buFont typeface="Arial"/>
              <a:buNone/>
            </a:pPr>
            <a:r>
              <a:rPr b="1" lang="en-US" sz="2400">
                <a:solidFill>
                  <a:schemeClr val="dk1"/>
                </a:solidFill>
                <a:latin typeface="Times"/>
                <a:ea typeface="Times"/>
                <a:cs typeface="Times"/>
                <a:sym typeface="Times"/>
              </a:rPr>
              <a:t>1) RESCALING:</a:t>
            </a:r>
            <a:r>
              <a:rPr lang="en-US" sz="2400">
                <a:solidFill>
                  <a:schemeClr val="dk1"/>
                </a:solidFill>
                <a:latin typeface="Times"/>
                <a:ea typeface="Times"/>
                <a:cs typeface="Times"/>
                <a:sym typeface="Times"/>
              </a:rPr>
              <a:t> Input img pixel values were all rescaled to [0, 1] by dividing each value by 255. </a:t>
            </a:r>
            <a:endParaRPr sz="2400">
              <a:solidFill>
                <a:schemeClr val="dk1"/>
              </a:solidFill>
              <a:latin typeface="Times"/>
              <a:ea typeface="Times"/>
              <a:cs typeface="Times"/>
              <a:sym typeface="Times"/>
            </a:endParaRPr>
          </a:p>
          <a:p>
            <a:pPr indent="0" lvl="0" marL="0" rtl="0" algn="just">
              <a:lnSpc>
                <a:spcPct val="115000"/>
              </a:lnSpc>
              <a:spcBef>
                <a:spcPts val="0"/>
              </a:spcBef>
              <a:spcAft>
                <a:spcPts val="0"/>
              </a:spcAft>
              <a:buClr>
                <a:schemeClr val="dk1"/>
              </a:buClr>
              <a:buSzPts val="1700"/>
              <a:buFont typeface="Arial"/>
              <a:buNone/>
            </a:pPr>
            <a:r>
              <a:rPr b="1" lang="en-US" sz="2400">
                <a:solidFill>
                  <a:schemeClr val="dk1"/>
                </a:solidFill>
                <a:latin typeface="Times"/>
                <a:ea typeface="Times"/>
                <a:cs typeface="Times"/>
                <a:sym typeface="Times"/>
              </a:rPr>
              <a:t>2) RANDOM ROTATIONS</a:t>
            </a:r>
            <a:r>
              <a:rPr lang="en-US" sz="2400">
                <a:solidFill>
                  <a:schemeClr val="dk1"/>
                </a:solidFill>
                <a:latin typeface="Times"/>
                <a:ea typeface="Times"/>
                <a:cs typeface="Times"/>
                <a:sym typeface="Times"/>
              </a:rPr>
              <a:t>: The Images are rotated in a random manner so that it is clear to identify the image. </a:t>
            </a:r>
            <a:endParaRPr sz="2400">
              <a:solidFill>
                <a:schemeClr val="dk1"/>
              </a:solidFill>
              <a:latin typeface="Times"/>
              <a:ea typeface="Times"/>
              <a:cs typeface="Times"/>
              <a:sym typeface="Times"/>
            </a:endParaRPr>
          </a:p>
          <a:p>
            <a:pPr indent="0" lvl="0" marL="0" rtl="0" algn="just">
              <a:lnSpc>
                <a:spcPct val="115000"/>
              </a:lnSpc>
              <a:spcBef>
                <a:spcPts val="0"/>
              </a:spcBef>
              <a:spcAft>
                <a:spcPts val="0"/>
              </a:spcAft>
              <a:buClr>
                <a:schemeClr val="dk1"/>
              </a:buClr>
              <a:buSzPts val="1700"/>
              <a:buFont typeface="Arial"/>
              <a:buNone/>
            </a:pPr>
            <a:r>
              <a:rPr b="1" lang="en-US" sz="2400">
                <a:solidFill>
                  <a:schemeClr val="dk1"/>
                </a:solidFill>
                <a:latin typeface="Times"/>
                <a:ea typeface="Times"/>
                <a:cs typeface="Times"/>
                <a:sym typeface="Times"/>
              </a:rPr>
              <a:t>3) ZOOMING</a:t>
            </a:r>
            <a:r>
              <a:rPr lang="en-US" sz="2400">
                <a:solidFill>
                  <a:schemeClr val="dk1"/>
                </a:solidFill>
                <a:latin typeface="Times"/>
                <a:ea typeface="Times"/>
                <a:cs typeface="Times"/>
                <a:sym typeface="Times"/>
              </a:rPr>
              <a:t>: A 20 percent zoom was imposed to mimic differences in the distance or closeness the lesion is viewed in each photo so that patterns at various scales can be identified by the model. </a:t>
            </a:r>
            <a:endParaRPr sz="2400">
              <a:solidFill>
                <a:schemeClr val="dk1"/>
              </a:solidFill>
              <a:latin typeface="Times"/>
              <a:ea typeface="Times"/>
              <a:cs typeface="Times"/>
              <a:sym typeface="Times"/>
            </a:endParaRPr>
          </a:p>
          <a:p>
            <a:pPr indent="0" lvl="0" marL="0" rtl="0" algn="just">
              <a:lnSpc>
                <a:spcPct val="115000"/>
              </a:lnSpc>
              <a:spcBef>
                <a:spcPts val="0"/>
              </a:spcBef>
              <a:spcAft>
                <a:spcPts val="0"/>
              </a:spcAft>
              <a:buClr>
                <a:schemeClr val="dk1"/>
              </a:buClr>
              <a:buSzPts val="1700"/>
              <a:buFont typeface="Arial"/>
              <a:buNone/>
            </a:pPr>
            <a:r>
              <a:rPr b="1" lang="en-US" sz="2400">
                <a:solidFill>
                  <a:schemeClr val="dk1"/>
                </a:solidFill>
                <a:latin typeface="Times"/>
                <a:ea typeface="Times"/>
                <a:cs typeface="Times"/>
                <a:sym typeface="Times"/>
              </a:rPr>
              <a:t>4) HORIZONTAL FLIPPING</a:t>
            </a:r>
            <a:r>
              <a:rPr lang="en-US" sz="2400">
                <a:solidFill>
                  <a:schemeClr val="dk1"/>
                </a:solidFill>
                <a:latin typeface="Times"/>
                <a:ea typeface="Times"/>
                <a:cs typeface="Times"/>
                <a:sym typeface="Times"/>
              </a:rPr>
              <a:t>: Horizontal random flips were applied in order to incorporate more variability and make the model understand that the side of a lesion (left or right) should not influence the prediction. These above steps were only implemented in the training data only keeping the validation set not changes . The utilization of augmentation greatly improved the generalization capability of the model, especially on a small or slightly unbalanced dataset. By enlarging the variety of inputs, the models were more capable of dealing with unknown skin lesion images during test and deployment.</a:t>
            </a:r>
            <a:endParaRPr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1"/>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190" name="Google Shape;190;p21"/>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191" name="Google Shape;191;p21"/>
          <p:cNvSpPr txBox="1"/>
          <p:nvPr/>
        </p:nvSpPr>
        <p:spPr>
          <a:xfrm>
            <a:off x="678575" y="2367725"/>
            <a:ext cx="4588800" cy="7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chemeClr val="dk1"/>
                </a:solidFill>
                <a:latin typeface="Times"/>
                <a:ea typeface="Times"/>
                <a:cs typeface="Times"/>
                <a:sym typeface="Times"/>
              </a:rPr>
              <a:t>4. Model Architecture :</a:t>
            </a:r>
            <a:endParaRPr b="1" sz="2600">
              <a:solidFill>
                <a:schemeClr val="dk1"/>
              </a:solidFill>
              <a:latin typeface="Times"/>
              <a:ea typeface="Times"/>
              <a:cs typeface="Times"/>
              <a:sym typeface="Times"/>
            </a:endParaRPr>
          </a:p>
        </p:txBody>
      </p:sp>
      <p:sp>
        <p:nvSpPr>
          <p:cNvPr id="192" name="Google Shape;192;p21"/>
          <p:cNvSpPr txBox="1"/>
          <p:nvPr/>
        </p:nvSpPr>
        <p:spPr>
          <a:xfrm>
            <a:off x="678575" y="3009975"/>
            <a:ext cx="16898400" cy="58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400">
                <a:solidFill>
                  <a:schemeClr val="dk1"/>
                </a:solidFill>
                <a:latin typeface="Times"/>
                <a:ea typeface="Times"/>
                <a:cs typeface="Times"/>
                <a:sym typeface="Times"/>
              </a:rPr>
              <a:t>This diagram shows the complete pipeline — from input images, through custom layers and pre-trained CNN models, to the final </a:t>
            </a:r>
            <a:endParaRPr sz="2400">
              <a:solidFill>
                <a:schemeClr val="dk1"/>
              </a:solidFill>
              <a:latin typeface="Times"/>
              <a:ea typeface="Times"/>
              <a:cs typeface="Times"/>
              <a:sym typeface="Times"/>
            </a:endParaRPr>
          </a:p>
          <a:p>
            <a:pPr indent="0" lvl="0" marL="0" rtl="0" algn="l">
              <a:spcBef>
                <a:spcPts val="0"/>
              </a:spcBef>
              <a:spcAft>
                <a:spcPts val="0"/>
              </a:spcAft>
              <a:buNone/>
            </a:pPr>
            <a:r>
              <a:rPr lang="en-US" sz="2400">
                <a:solidFill>
                  <a:schemeClr val="dk1"/>
                </a:solidFill>
                <a:latin typeface="Times"/>
                <a:ea typeface="Times"/>
                <a:cs typeface="Times"/>
                <a:sym typeface="Times"/>
              </a:rPr>
              <a:t>Monkeypox prediction.</a:t>
            </a:r>
            <a:endParaRPr sz="2400">
              <a:solidFill>
                <a:schemeClr val="dk1"/>
              </a:solidFill>
              <a:latin typeface="Times"/>
              <a:ea typeface="Times"/>
              <a:cs typeface="Times"/>
              <a:sym typeface="Times"/>
            </a:endParaRPr>
          </a:p>
        </p:txBody>
      </p:sp>
      <p:pic>
        <p:nvPicPr>
          <p:cNvPr id="193" name="Google Shape;193;p21" title="Diagram.drawio.png"/>
          <p:cNvPicPr preferRelativeResize="0"/>
          <p:nvPr/>
        </p:nvPicPr>
        <p:blipFill>
          <a:blip r:embed="rId5">
            <a:alphaModFix/>
          </a:blip>
          <a:stretch>
            <a:fillRect/>
          </a:stretch>
        </p:blipFill>
        <p:spPr>
          <a:xfrm>
            <a:off x="2875150" y="3945150"/>
            <a:ext cx="13223025" cy="4828125"/>
          </a:xfrm>
          <a:prstGeom prst="rect">
            <a:avLst/>
          </a:prstGeom>
          <a:noFill/>
          <a:ln>
            <a:noFill/>
          </a:ln>
        </p:spPr>
      </p:pic>
      <p:sp>
        <p:nvSpPr>
          <p:cNvPr id="194" name="Google Shape;194;p21"/>
          <p:cNvSpPr txBox="1"/>
          <p:nvPr/>
        </p:nvSpPr>
        <p:spPr>
          <a:xfrm>
            <a:off x="13118650" y="5663325"/>
            <a:ext cx="1283100" cy="32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Times"/>
                <a:ea typeface="Times"/>
                <a:cs typeface="Times"/>
                <a:sym typeface="Times"/>
              </a:rPr>
              <a:t>LIME</a:t>
            </a:r>
            <a:endParaRPr sz="2000">
              <a:solidFill>
                <a:schemeClr val="dk1"/>
              </a:solidFill>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2"/>
          <p:cNvSpPr/>
          <p:nvPr/>
        </p:nvSpPr>
        <p:spPr>
          <a:xfrm>
            <a:off x="0" y="9012550"/>
            <a:ext cx="18288000" cy="1371171"/>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04" name="Google Shape;204;p22"/>
          <p:cNvSpPr/>
          <p:nvPr/>
        </p:nvSpPr>
        <p:spPr>
          <a:xfrm>
            <a:off x="0" y="0"/>
            <a:ext cx="18288000" cy="1838933"/>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205" name="Google Shape;205;p22"/>
          <p:cNvSpPr txBox="1"/>
          <p:nvPr/>
        </p:nvSpPr>
        <p:spPr>
          <a:xfrm>
            <a:off x="5963425" y="1838925"/>
            <a:ext cx="5458800" cy="9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Times"/>
                <a:ea typeface="Times"/>
                <a:cs typeface="Times"/>
                <a:sym typeface="Times"/>
              </a:rPr>
              <a:t>RESULTS AND ANALYSIS</a:t>
            </a:r>
            <a:endParaRPr b="1" sz="3200">
              <a:solidFill>
                <a:schemeClr val="dk1"/>
              </a:solidFill>
              <a:latin typeface="Times"/>
              <a:ea typeface="Times"/>
              <a:cs typeface="Times"/>
              <a:sym typeface="Times"/>
            </a:endParaRPr>
          </a:p>
        </p:txBody>
      </p:sp>
      <p:sp>
        <p:nvSpPr>
          <p:cNvPr id="206" name="Google Shape;206;p22"/>
          <p:cNvSpPr txBox="1"/>
          <p:nvPr/>
        </p:nvSpPr>
        <p:spPr>
          <a:xfrm>
            <a:off x="678550" y="2509775"/>
            <a:ext cx="16376700" cy="676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600">
                <a:solidFill>
                  <a:schemeClr val="dk1"/>
                </a:solidFill>
                <a:latin typeface="Times"/>
                <a:ea typeface="Times"/>
                <a:cs typeface="Times"/>
                <a:sym typeface="Times"/>
              </a:rPr>
              <a:t>MODELS AND PERFORMANCE : </a:t>
            </a:r>
            <a:endParaRPr b="1" sz="2600">
              <a:solidFill>
                <a:schemeClr val="dk1"/>
              </a:solidFill>
              <a:latin typeface="Times"/>
              <a:ea typeface="Times"/>
              <a:cs typeface="Times"/>
              <a:sym typeface="Times"/>
            </a:endParaRPr>
          </a:p>
          <a:p>
            <a:pPr indent="0" lvl="0" marL="0" rtl="0" algn="l">
              <a:lnSpc>
                <a:spcPct val="100000"/>
              </a:lnSpc>
              <a:spcBef>
                <a:spcPts val="0"/>
              </a:spcBef>
              <a:spcAft>
                <a:spcPts val="0"/>
              </a:spcAft>
              <a:buClr>
                <a:schemeClr val="dk1"/>
              </a:buClr>
              <a:buSzPts val="2000"/>
              <a:buFont typeface="Arial"/>
              <a:buNone/>
            </a:pPr>
            <a:r>
              <a:rPr b="1" lang="en-US" sz="2400">
                <a:solidFill>
                  <a:schemeClr val="dk1"/>
                </a:solidFill>
                <a:latin typeface="Times"/>
                <a:ea typeface="Times"/>
                <a:cs typeface="Times"/>
                <a:sym typeface="Times"/>
              </a:rPr>
              <a:t>1. </a:t>
            </a:r>
            <a:r>
              <a:rPr b="1" lang="en-US" sz="2400">
                <a:solidFill>
                  <a:schemeClr val="dk1"/>
                </a:solidFill>
                <a:latin typeface="Times"/>
                <a:ea typeface="Times"/>
                <a:cs typeface="Times"/>
                <a:sym typeface="Times"/>
              </a:rPr>
              <a:t>EfficientNetV2</a:t>
            </a:r>
            <a:r>
              <a:rPr b="1" lang="en-US" sz="2400">
                <a:solidFill>
                  <a:schemeClr val="dk1"/>
                </a:solidFill>
                <a:latin typeface="Times"/>
                <a:ea typeface="Times"/>
                <a:cs typeface="Times"/>
                <a:sym typeface="Times"/>
              </a:rPr>
              <a:t>-S</a:t>
            </a:r>
            <a:endParaRPr b="1" sz="2400">
              <a:solidFill>
                <a:schemeClr val="dk1"/>
              </a:solidFill>
              <a:latin typeface="Times"/>
              <a:ea typeface="Times"/>
              <a:cs typeface="Times"/>
              <a:sym typeface="Times"/>
            </a:endParaRPr>
          </a:p>
          <a:p>
            <a:pPr indent="0" lvl="0" marL="457200" rtl="0" algn="l">
              <a:lnSpc>
                <a:spcPct val="100000"/>
              </a:lnSpc>
              <a:spcBef>
                <a:spcPts val="1000"/>
              </a:spcBef>
              <a:spcAft>
                <a:spcPts val="0"/>
              </a:spcAft>
              <a:buNone/>
            </a:pPr>
            <a:r>
              <a:rPr b="1" lang="en-US" sz="2400">
                <a:solidFill>
                  <a:schemeClr val="dk1"/>
                </a:solidFill>
                <a:latin typeface="Times"/>
                <a:ea typeface="Times"/>
                <a:cs typeface="Times"/>
                <a:sym typeface="Times"/>
              </a:rPr>
              <a:t>Purpose</a:t>
            </a:r>
            <a:r>
              <a:rPr lang="en-US" sz="2400">
                <a:solidFill>
                  <a:schemeClr val="dk1"/>
                </a:solidFill>
                <a:latin typeface="Times"/>
                <a:ea typeface="Times"/>
                <a:cs typeface="Times"/>
                <a:sym typeface="Times"/>
              </a:rPr>
              <a:t>: A compact and efficient CNN architecture used for image classification and transfer learning.</a:t>
            </a:r>
            <a:endParaRPr sz="2400">
              <a:solidFill>
                <a:schemeClr val="dk1"/>
              </a:solidFill>
              <a:latin typeface="Times"/>
              <a:ea typeface="Times"/>
              <a:cs typeface="Times"/>
              <a:sym typeface="Times"/>
            </a:endParaRPr>
          </a:p>
          <a:p>
            <a:pPr indent="0" lvl="0" marL="0" rtl="0" algn="l">
              <a:lnSpc>
                <a:spcPct val="100000"/>
              </a:lnSpc>
              <a:spcBef>
                <a:spcPts val="1000"/>
              </a:spcBef>
              <a:spcAft>
                <a:spcPts val="0"/>
              </a:spcAft>
              <a:buNone/>
            </a:pPr>
            <a:r>
              <a:rPr b="1" lang="en-US" sz="2400">
                <a:solidFill>
                  <a:schemeClr val="dk1"/>
                </a:solidFill>
                <a:latin typeface="Times"/>
                <a:ea typeface="Times"/>
                <a:cs typeface="Times"/>
                <a:sym typeface="Times"/>
              </a:rPr>
              <a:t>2. DenseNet121</a:t>
            </a:r>
            <a:endParaRPr b="1" sz="2400">
              <a:solidFill>
                <a:schemeClr val="dk1"/>
              </a:solidFill>
              <a:latin typeface="Times"/>
              <a:ea typeface="Times"/>
              <a:cs typeface="Times"/>
              <a:sym typeface="Times"/>
            </a:endParaRPr>
          </a:p>
          <a:p>
            <a:pPr indent="0" lvl="0" marL="457200" rtl="0" algn="l">
              <a:lnSpc>
                <a:spcPct val="100000"/>
              </a:lnSpc>
              <a:spcBef>
                <a:spcPts val="1000"/>
              </a:spcBef>
              <a:spcAft>
                <a:spcPts val="0"/>
              </a:spcAft>
              <a:buNone/>
            </a:pPr>
            <a:r>
              <a:rPr b="1" lang="en-US" sz="2400">
                <a:solidFill>
                  <a:schemeClr val="dk1"/>
                </a:solidFill>
                <a:latin typeface="Times"/>
                <a:ea typeface="Times"/>
                <a:cs typeface="Times"/>
                <a:sym typeface="Times"/>
              </a:rPr>
              <a:t>Purpose</a:t>
            </a:r>
            <a:r>
              <a:rPr lang="en-US" sz="2400">
                <a:solidFill>
                  <a:schemeClr val="dk1"/>
                </a:solidFill>
                <a:latin typeface="Times"/>
                <a:ea typeface="Times"/>
                <a:cs typeface="Times"/>
                <a:sym typeface="Times"/>
              </a:rPr>
              <a:t>: A </a:t>
            </a:r>
            <a:r>
              <a:rPr b="1" lang="en-US" sz="2400">
                <a:solidFill>
                  <a:schemeClr val="dk1"/>
                </a:solidFill>
                <a:latin typeface="Times"/>
                <a:ea typeface="Times"/>
                <a:cs typeface="Times"/>
                <a:sym typeface="Times"/>
              </a:rPr>
              <a:t>densely connected CNN</a:t>
            </a:r>
            <a:r>
              <a:rPr lang="en-US" sz="2400">
                <a:solidFill>
                  <a:schemeClr val="dk1"/>
                </a:solidFill>
                <a:latin typeface="Times"/>
                <a:ea typeface="Times"/>
                <a:cs typeface="Times"/>
                <a:sym typeface="Times"/>
              </a:rPr>
              <a:t> where each layer receives inputs from all previous layers, promoting feature reuse.</a:t>
            </a:r>
            <a:endParaRPr sz="2400">
              <a:solidFill>
                <a:schemeClr val="dk1"/>
              </a:solidFill>
              <a:latin typeface="Times"/>
              <a:ea typeface="Times"/>
              <a:cs typeface="Times"/>
              <a:sym typeface="Times"/>
            </a:endParaRPr>
          </a:p>
          <a:p>
            <a:pPr indent="0" lvl="0" marL="0" rtl="0" algn="l">
              <a:lnSpc>
                <a:spcPct val="100000"/>
              </a:lnSpc>
              <a:spcBef>
                <a:spcPts val="1000"/>
              </a:spcBef>
              <a:spcAft>
                <a:spcPts val="0"/>
              </a:spcAft>
              <a:buNone/>
            </a:pPr>
            <a:r>
              <a:rPr b="1" lang="en-US" sz="2400">
                <a:solidFill>
                  <a:schemeClr val="dk1"/>
                </a:solidFill>
                <a:latin typeface="Times"/>
                <a:ea typeface="Times"/>
                <a:cs typeface="Times"/>
                <a:sym typeface="Times"/>
              </a:rPr>
              <a:t>3.InceptionV3</a:t>
            </a:r>
            <a:endParaRPr b="1" sz="2400">
              <a:solidFill>
                <a:schemeClr val="dk1"/>
              </a:solidFill>
              <a:latin typeface="Times"/>
              <a:ea typeface="Times"/>
              <a:cs typeface="Times"/>
              <a:sym typeface="Times"/>
            </a:endParaRPr>
          </a:p>
          <a:p>
            <a:pPr indent="0" lvl="0" marL="457200" rtl="0" algn="l">
              <a:lnSpc>
                <a:spcPct val="100000"/>
              </a:lnSpc>
              <a:spcBef>
                <a:spcPts val="1000"/>
              </a:spcBef>
              <a:spcAft>
                <a:spcPts val="0"/>
              </a:spcAft>
              <a:buNone/>
            </a:pPr>
            <a:r>
              <a:rPr b="1" lang="en-US" sz="2400">
                <a:solidFill>
                  <a:schemeClr val="dk1"/>
                </a:solidFill>
                <a:latin typeface="Times"/>
                <a:ea typeface="Times"/>
                <a:cs typeface="Times"/>
                <a:sym typeface="Times"/>
              </a:rPr>
              <a:t>Purpose</a:t>
            </a:r>
            <a:r>
              <a:rPr lang="en-US" sz="2400">
                <a:solidFill>
                  <a:schemeClr val="dk1"/>
                </a:solidFill>
                <a:latin typeface="Times"/>
                <a:ea typeface="Times"/>
                <a:cs typeface="Times"/>
                <a:sym typeface="Times"/>
              </a:rPr>
              <a:t>: A deep CNN model optimized for </a:t>
            </a:r>
            <a:r>
              <a:rPr b="1" lang="en-US" sz="2400">
                <a:solidFill>
                  <a:schemeClr val="dk1"/>
                </a:solidFill>
                <a:latin typeface="Times"/>
                <a:ea typeface="Times"/>
                <a:cs typeface="Times"/>
                <a:sym typeface="Times"/>
              </a:rPr>
              <a:t>multi-scale feature extraction</a:t>
            </a:r>
            <a:r>
              <a:rPr lang="en-US" sz="2400">
                <a:solidFill>
                  <a:schemeClr val="dk1"/>
                </a:solidFill>
                <a:latin typeface="Times"/>
                <a:ea typeface="Times"/>
                <a:cs typeface="Times"/>
                <a:sym typeface="Times"/>
              </a:rPr>
              <a:t> using parallel convolution filters.</a:t>
            </a:r>
            <a:endParaRPr sz="2400">
              <a:solidFill>
                <a:schemeClr val="dk1"/>
              </a:solidFill>
              <a:latin typeface="Times"/>
              <a:ea typeface="Times"/>
              <a:cs typeface="Times"/>
              <a:sym typeface="Times"/>
            </a:endParaRPr>
          </a:p>
        </p:txBody>
      </p:sp>
      <p:pic>
        <p:nvPicPr>
          <p:cNvPr id="207" name="Google Shape;207;p22" title="Screenshot 2025-11-08 235443.png"/>
          <p:cNvPicPr preferRelativeResize="0"/>
          <p:nvPr/>
        </p:nvPicPr>
        <p:blipFill rotWithShape="1">
          <a:blip r:embed="rId5">
            <a:alphaModFix/>
          </a:blip>
          <a:srcRect b="0" l="0" r="0" t="0"/>
          <a:stretch/>
        </p:blipFill>
        <p:spPr>
          <a:xfrm>
            <a:off x="3745075" y="5989525"/>
            <a:ext cx="9373575" cy="30230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17" name="Google Shape;217;p23"/>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218" name="Google Shape;218;p23"/>
          <p:cNvSpPr txBox="1"/>
          <p:nvPr/>
        </p:nvSpPr>
        <p:spPr>
          <a:xfrm>
            <a:off x="646825" y="2204050"/>
            <a:ext cx="17343600" cy="6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just">
              <a:lnSpc>
                <a:spcPct val="150000"/>
              </a:lnSpc>
              <a:spcBef>
                <a:spcPts val="1000"/>
              </a:spcBef>
              <a:spcAft>
                <a:spcPts val="0"/>
              </a:spcAft>
              <a:buNone/>
            </a:pPr>
            <a:r>
              <a:t/>
            </a:r>
            <a:endParaRPr b="1" sz="2400">
              <a:solidFill>
                <a:schemeClr val="dk1"/>
              </a:solidFill>
              <a:latin typeface="Times"/>
              <a:ea typeface="Times"/>
              <a:cs typeface="Times"/>
              <a:sym typeface="Times"/>
            </a:endParaRPr>
          </a:p>
          <a:p>
            <a:pPr indent="0" lvl="0" marL="0" rtl="0" algn="just">
              <a:lnSpc>
                <a:spcPct val="150000"/>
              </a:lnSpc>
              <a:spcBef>
                <a:spcPts val="1000"/>
              </a:spcBef>
              <a:spcAft>
                <a:spcPts val="0"/>
              </a:spcAft>
              <a:buNone/>
            </a:pPr>
            <a:r>
              <a:rPr b="1" lang="en-US" sz="2400">
                <a:solidFill>
                  <a:schemeClr val="dk1"/>
                </a:solidFill>
                <a:latin typeface="Times"/>
                <a:ea typeface="Times"/>
                <a:cs typeface="Times"/>
                <a:sym typeface="Times"/>
              </a:rPr>
              <a:t>1.  InceptionV3 : </a:t>
            </a:r>
            <a:r>
              <a:rPr lang="en-US" sz="2400">
                <a:solidFill>
                  <a:schemeClr val="dk1"/>
                </a:solidFill>
                <a:latin typeface="Times"/>
                <a:ea typeface="Times"/>
                <a:cs typeface="Times"/>
                <a:sym typeface="Times"/>
              </a:rPr>
              <a:t>Achieved </a:t>
            </a:r>
            <a:r>
              <a:rPr b="1" lang="en-US" sz="2400">
                <a:solidFill>
                  <a:schemeClr val="dk1"/>
                </a:solidFill>
                <a:latin typeface="Times"/>
                <a:ea typeface="Times"/>
                <a:cs typeface="Times"/>
                <a:sym typeface="Times"/>
              </a:rPr>
              <a:t>95.0 % accuracy</a:t>
            </a:r>
            <a:r>
              <a:rPr lang="en-US" sz="2400">
                <a:solidFill>
                  <a:schemeClr val="dk1"/>
                </a:solidFill>
                <a:latin typeface="Times"/>
                <a:ea typeface="Times"/>
                <a:cs typeface="Times"/>
                <a:sym typeface="Times"/>
              </a:rPr>
              <a:t>, </a:t>
            </a:r>
            <a:r>
              <a:rPr b="1" lang="en-US" sz="2400">
                <a:solidFill>
                  <a:schemeClr val="dk1"/>
                </a:solidFill>
                <a:latin typeface="Times"/>
                <a:ea typeface="Times"/>
                <a:cs typeface="Times"/>
                <a:sym typeface="Times"/>
              </a:rPr>
              <a:t>0.95 F1-score</a:t>
            </a:r>
            <a:r>
              <a:rPr lang="en-US" sz="2400">
                <a:solidFill>
                  <a:schemeClr val="dk1"/>
                </a:solidFill>
                <a:latin typeface="Times"/>
                <a:ea typeface="Times"/>
                <a:cs typeface="Times"/>
                <a:sym typeface="Times"/>
              </a:rPr>
              <a:t> — top performer among all evaluated architectures.</a:t>
            </a:r>
            <a:endParaRPr sz="2400">
              <a:solidFill>
                <a:schemeClr val="dk1"/>
              </a:solidFill>
              <a:latin typeface="Times"/>
              <a:ea typeface="Times"/>
              <a:cs typeface="Times"/>
              <a:sym typeface="Times"/>
            </a:endParaRPr>
          </a:p>
          <a:p>
            <a:pPr indent="0" lvl="0" marL="0" rtl="0" algn="just">
              <a:lnSpc>
                <a:spcPct val="150000"/>
              </a:lnSpc>
              <a:spcBef>
                <a:spcPts val="1000"/>
              </a:spcBef>
              <a:spcAft>
                <a:spcPts val="0"/>
              </a:spcAft>
              <a:buNone/>
            </a:pPr>
            <a:r>
              <a:rPr b="1" lang="en-US" sz="2400">
                <a:solidFill>
                  <a:schemeClr val="dk1"/>
                </a:solidFill>
                <a:latin typeface="Times"/>
                <a:ea typeface="Times"/>
                <a:cs typeface="Times"/>
                <a:sym typeface="Times"/>
              </a:rPr>
              <a:t>2. DenseNet121 : </a:t>
            </a:r>
            <a:r>
              <a:rPr lang="en-US" sz="2400">
                <a:solidFill>
                  <a:schemeClr val="dk1"/>
                </a:solidFill>
                <a:latin typeface="Times"/>
                <a:ea typeface="Times"/>
                <a:cs typeface="Times"/>
                <a:sym typeface="Times"/>
              </a:rPr>
              <a:t>Achieved </a:t>
            </a:r>
            <a:r>
              <a:rPr b="1" lang="en-US" sz="2400">
                <a:solidFill>
                  <a:schemeClr val="dk1"/>
                </a:solidFill>
                <a:latin typeface="Times"/>
                <a:ea typeface="Times"/>
                <a:cs typeface="Times"/>
                <a:sym typeface="Times"/>
              </a:rPr>
              <a:t>93.0 % accuracy</a:t>
            </a:r>
            <a:r>
              <a:rPr lang="en-US" sz="2400">
                <a:solidFill>
                  <a:schemeClr val="dk1"/>
                </a:solidFill>
                <a:latin typeface="Times"/>
                <a:ea typeface="Times"/>
                <a:cs typeface="Times"/>
                <a:sym typeface="Times"/>
              </a:rPr>
              <a:t>, </a:t>
            </a:r>
            <a:r>
              <a:rPr b="1" lang="en-US" sz="2400">
                <a:solidFill>
                  <a:schemeClr val="dk1"/>
                </a:solidFill>
                <a:latin typeface="Times"/>
                <a:ea typeface="Times"/>
                <a:cs typeface="Times"/>
                <a:sym typeface="Times"/>
              </a:rPr>
              <a:t>0.93 F1-score</a:t>
            </a:r>
            <a:r>
              <a:rPr lang="en-US" sz="2400">
                <a:solidFill>
                  <a:schemeClr val="dk1"/>
                </a:solidFill>
                <a:latin typeface="Times"/>
                <a:ea typeface="Times"/>
                <a:cs typeface="Times"/>
                <a:sym typeface="Times"/>
              </a:rPr>
              <a:t> — highly reliable model for clinical-grade detection.</a:t>
            </a:r>
            <a:endParaRPr sz="2400">
              <a:solidFill>
                <a:schemeClr val="dk1"/>
              </a:solidFill>
              <a:latin typeface="Times"/>
              <a:ea typeface="Times"/>
              <a:cs typeface="Times"/>
              <a:sym typeface="Times"/>
            </a:endParaRPr>
          </a:p>
          <a:p>
            <a:pPr indent="0" lvl="0" marL="0" rtl="0" algn="just">
              <a:lnSpc>
                <a:spcPct val="150000"/>
              </a:lnSpc>
              <a:spcBef>
                <a:spcPts val="0"/>
              </a:spcBef>
              <a:spcAft>
                <a:spcPts val="0"/>
              </a:spcAft>
              <a:buNone/>
            </a:pPr>
            <a:r>
              <a:rPr b="1" lang="en-US" sz="2400">
                <a:solidFill>
                  <a:schemeClr val="dk1"/>
                </a:solidFill>
                <a:latin typeface="Times"/>
                <a:ea typeface="Times"/>
                <a:cs typeface="Times"/>
                <a:sym typeface="Times"/>
              </a:rPr>
              <a:t>3. EfficientNetV2-S :</a:t>
            </a:r>
            <a:r>
              <a:rPr lang="en-US" sz="2400">
                <a:solidFill>
                  <a:schemeClr val="dk1"/>
                </a:solidFill>
                <a:latin typeface="Times"/>
                <a:ea typeface="Times"/>
                <a:cs typeface="Times"/>
                <a:sym typeface="Times"/>
              </a:rPr>
              <a:t> Achieved </a:t>
            </a:r>
            <a:r>
              <a:rPr b="1" lang="en-US" sz="2400">
                <a:solidFill>
                  <a:schemeClr val="dk1"/>
                </a:solidFill>
                <a:latin typeface="Times"/>
                <a:ea typeface="Times"/>
                <a:cs typeface="Times"/>
                <a:sym typeface="Times"/>
              </a:rPr>
              <a:t>80.0 % accuracy</a:t>
            </a:r>
            <a:r>
              <a:rPr lang="en-US" sz="2400">
                <a:solidFill>
                  <a:schemeClr val="dk1"/>
                </a:solidFill>
                <a:latin typeface="Times"/>
                <a:ea typeface="Times"/>
                <a:cs typeface="Times"/>
                <a:sym typeface="Times"/>
              </a:rPr>
              <a:t>, </a:t>
            </a:r>
            <a:r>
              <a:rPr b="1" lang="en-US" sz="2400">
                <a:solidFill>
                  <a:schemeClr val="dk1"/>
                </a:solidFill>
                <a:latin typeface="Times"/>
                <a:ea typeface="Times"/>
                <a:cs typeface="Times"/>
                <a:sym typeface="Times"/>
              </a:rPr>
              <a:t>0.81 F1-score</a:t>
            </a:r>
            <a:r>
              <a:rPr lang="en-US" sz="2400">
                <a:solidFill>
                  <a:schemeClr val="dk1"/>
                </a:solidFill>
                <a:latin typeface="Times"/>
                <a:ea typeface="Times"/>
                <a:cs typeface="Times"/>
                <a:sym typeface="Times"/>
              </a:rPr>
              <a:t> — lightweight and ideal for mobile deployment.</a:t>
            </a:r>
            <a:endParaRPr sz="2400">
              <a:solidFill>
                <a:schemeClr val="dk1"/>
              </a:solidFill>
              <a:latin typeface="Times"/>
              <a:ea typeface="Times"/>
              <a:cs typeface="Times"/>
              <a:sym typeface="Times"/>
            </a:endParaRPr>
          </a:p>
          <a:p>
            <a:pPr indent="0" lvl="0" marL="0" rtl="0" algn="l">
              <a:lnSpc>
                <a:spcPct val="90000"/>
              </a:lnSpc>
              <a:spcBef>
                <a:spcPts val="1000"/>
              </a:spcBef>
              <a:spcAft>
                <a:spcPts val="0"/>
              </a:spcAft>
              <a:buNone/>
            </a:pPr>
            <a:r>
              <a:t/>
            </a:r>
            <a:endParaRPr sz="2400">
              <a:solidFill>
                <a:schemeClr val="dk1"/>
              </a:solidFill>
              <a:latin typeface="Times"/>
              <a:ea typeface="Times"/>
              <a:cs typeface="Times"/>
              <a:sym typeface="Times"/>
            </a:endParaRPr>
          </a:p>
          <a:p>
            <a:pPr indent="0" lvl="0" marL="0" rtl="0" algn="l">
              <a:lnSpc>
                <a:spcPct val="90000"/>
              </a:lnSpc>
              <a:spcBef>
                <a:spcPts val="0"/>
              </a:spcBef>
              <a:spcAft>
                <a:spcPts val="0"/>
              </a:spcAft>
              <a:buNone/>
            </a:pPr>
            <a:r>
              <a:t/>
            </a:r>
            <a:endParaRPr sz="2400">
              <a:solidFill>
                <a:schemeClr val="dk1"/>
              </a:solidFill>
              <a:latin typeface="Times"/>
              <a:ea typeface="Times"/>
              <a:cs typeface="Times"/>
              <a:sym typeface="Times"/>
            </a:endParaRPr>
          </a:p>
          <a:p>
            <a:pPr indent="0" lvl="0" marL="0" rtl="0" algn="l">
              <a:lnSpc>
                <a:spcPct val="90000"/>
              </a:lnSpc>
              <a:spcBef>
                <a:spcPts val="1000"/>
              </a:spcBef>
              <a:spcAft>
                <a:spcPts val="0"/>
              </a:spcAft>
              <a:buNone/>
            </a:pPr>
            <a:r>
              <a:t/>
            </a:r>
            <a:endParaRPr b="1" sz="2400">
              <a:solidFill>
                <a:schemeClr val="dk1"/>
              </a:solidFill>
              <a:latin typeface="Times"/>
              <a:ea typeface="Times"/>
              <a:cs typeface="Times"/>
              <a:sym typeface="Times"/>
            </a:endParaRPr>
          </a:p>
          <a:p>
            <a:pPr indent="0" lvl="0" marL="0" rtl="0" algn="l">
              <a:lnSpc>
                <a:spcPct val="90000"/>
              </a:lnSpc>
              <a:spcBef>
                <a:spcPts val="1000"/>
              </a:spcBef>
              <a:spcAft>
                <a:spcPts val="0"/>
              </a:spcAft>
              <a:buNone/>
            </a:pPr>
            <a:r>
              <a:t/>
            </a:r>
            <a:endParaRPr sz="1700">
              <a:solidFill>
                <a:schemeClr val="dk1"/>
              </a:solidFill>
              <a:latin typeface="Times"/>
              <a:ea typeface="Times"/>
              <a:cs typeface="Times"/>
              <a:sym typeface="Times"/>
            </a:endParaRPr>
          </a:p>
        </p:txBody>
      </p:sp>
      <p:pic>
        <p:nvPicPr>
          <p:cNvPr id="219" name="Google Shape;219;p23" title="Screenshot 2025-07-29 111230.png"/>
          <p:cNvPicPr preferRelativeResize="0"/>
          <p:nvPr/>
        </p:nvPicPr>
        <p:blipFill rotWithShape="1">
          <a:blip r:embed="rId5">
            <a:alphaModFix/>
          </a:blip>
          <a:srcRect b="0" l="0" r="0" t="0"/>
          <a:stretch/>
        </p:blipFill>
        <p:spPr>
          <a:xfrm>
            <a:off x="6545875" y="2367725"/>
            <a:ext cx="5764899" cy="3480176"/>
          </a:xfrm>
          <a:prstGeom prst="rect">
            <a:avLst/>
          </a:prstGeom>
          <a:noFill/>
          <a:ln>
            <a:noFill/>
          </a:ln>
        </p:spPr>
      </p:pic>
      <p:pic>
        <p:nvPicPr>
          <p:cNvPr id="220" name="Google Shape;220;p23" title="Screenshot 2025-07-29 111220.png"/>
          <p:cNvPicPr preferRelativeResize="0"/>
          <p:nvPr/>
        </p:nvPicPr>
        <p:blipFill rotWithShape="1">
          <a:blip r:embed="rId6">
            <a:alphaModFix/>
          </a:blip>
          <a:srcRect b="0" l="0" r="0" t="0"/>
          <a:stretch/>
        </p:blipFill>
        <p:spPr>
          <a:xfrm>
            <a:off x="12424650" y="2310350"/>
            <a:ext cx="5565776" cy="3537550"/>
          </a:xfrm>
          <a:prstGeom prst="rect">
            <a:avLst/>
          </a:prstGeom>
          <a:noFill/>
          <a:ln>
            <a:noFill/>
          </a:ln>
        </p:spPr>
      </p:pic>
      <p:pic>
        <p:nvPicPr>
          <p:cNvPr id="221" name="Google Shape;221;p23" title="Screenshot 2025-07-29 111243.png"/>
          <p:cNvPicPr preferRelativeResize="0"/>
          <p:nvPr/>
        </p:nvPicPr>
        <p:blipFill rotWithShape="1">
          <a:blip r:embed="rId7">
            <a:alphaModFix/>
          </a:blip>
          <a:srcRect b="0" l="0" r="0" t="0"/>
          <a:stretch/>
        </p:blipFill>
        <p:spPr>
          <a:xfrm>
            <a:off x="605025" y="2367725"/>
            <a:ext cx="5826974" cy="34801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31" name="Google Shape;231;p24"/>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232" name="Google Shape;232;p24"/>
          <p:cNvSpPr txBox="1"/>
          <p:nvPr/>
        </p:nvSpPr>
        <p:spPr>
          <a:xfrm>
            <a:off x="713275" y="2503075"/>
            <a:ext cx="16436100" cy="63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2400">
              <a:solidFill>
                <a:schemeClr val="dk1"/>
              </a:solidFill>
              <a:latin typeface="Times"/>
              <a:ea typeface="Times"/>
              <a:cs typeface="Times"/>
              <a:sym typeface="Times"/>
            </a:endParaRPr>
          </a:p>
          <a:p>
            <a:pPr indent="-381000" lvl="0" marL="457200" rtl="0" algn="l">
              <a:spcBef>
                <a:spcPts val="0"/>
              </a:spcBef>
              <a:spcAft>
                <a:spcPts val="0"/>
              </a:spcAft>
              <a:buClr>
                <a:schemeClr val="dk1"/>
              </a:buClr>
              <a:buSzPts val="2400"/>
              <a:buFont typeface="Times"/>
              <a:buChar char="★"/>
            </a:pPr>
            <a:r>
              <a:rPr lang="en-US" sz="2400">
                <a:solidFill>
                  <a:schemeClr val="dk1"/>
                </a:solidFill>
                <a:latin typeface="Times"/>
                <a:ea typeface="Times"/>
                <a:cs typeface="Times"/>
                <a:sym typeface="Times"/>
              </a:rPr>
              <a:t>Out of 115 test images, our model correctly predicted 109. It identifies Monkeypox and Normal cases with very high accuracy, making only six minor errors.</a:t>
            </a:r>
            <a:endParaRPr sz="2400">
              <a:solidFill>
                <a:schemeClr val="dk1"/>
              </a:solidFill>
              <a:latin typeface="Times"/>
              <a:ea typeface="Times"/>
              <a:cs typeface="Times"/>
              <a:sym typeface="Times"/>
            </a:endParaRPr>
          </a:p>
          <a:p>
            <a:pPr indent="-381000" lvl="0" marL="457200" rtl="0" algn="l">
              <a:spcBef>
                <a:spcPts val="0"/>
              </a:spcBef>
              <a:spcAft>
                <a:spcPts val="0"/>
              </a:spcAft>
              <a:buClr>
                <a:schemeClr val="dk1"/>
              </a:buClr>
              <a:buSzPts val="2400"/>
              <a:buFont typeface="Times"/>
              <a:buChar char="★"/>
            </a:pPr>
            <a:r>
              <a:rPr lang="en-US" sz="2400">
                <a:solidFill>
                  <a:schemeClr val="dk1"/>
                </a:solidFill>
                <a:latin typeface="Times"/>
                <a:ea typeface="Times"/>
                <a:cs typeface="Times"/>
                <a:sym typeface="Times"/>
              </a:rPr>
              <a:t>Confusion Matrix of Majority Voting Predicted well.</a:t>
            </a:r>
            <a:endParaRPr sz="2400">
              <a:solidFill>
                <a:schemeClr val="dk1"/>
              </a:solidFill>
              <a:latin typeface="Times"/>
              <a:ea typeface="Times"/>
              <a:cs typeface="Times"/>
              <a:sym typeface="Times"/>
            </a:endParaRPr>
          </a:p>
        </p:txBody>
      </p:sp>
      <p:pic>
        <p:nvPicPr>
          <p:cNvPr id="233" name="Google Shape;233;p24" title="Screenshot 2025-11-09 010106.png"/>
          <p:cNvPicPr preferRelativeResize="0"/>
          <p:nvPr/>
        </p:nvPicPr>
        <p:blipFill rotWithShape="1">
          <a:blip r:embed="rId5">
            <a:alphaModFix/>
          </a:blip>
          <a:srcRect b="0" l="0" r="0" t="0"/>
          <a:stretch/>
        </p:blipFill>
        <p:spPr>
          <a:xfrm>
            <a:off x="2607650" y="2503075"/>
            <a:ext cx="5368205" cy="4302125"/>
          </a:xfrm>
          <a:prstGeom prst="rect">
            <a:avLst/>
          </a:prstGeom>
          <a:noFill/>
          <a:ln>
            <a:noFill/>
          </a:ln>
        </p:spPr>
      </p:pic>
      <p:pic>
        <p:nvPicPr>
          <p:cNvPr id="234" name="Google Shape;234;p24" title="Screenshot 2025-11-09 010231.png"/>
          <p:cNvPicPr preferRelativeResize="0"/>
          <p:nvPr/>
        </p:nvPicPr>
        <p:blipFill>
          <a:blip r:embed="rId6">
            <a:alphaModFix/>
          </a:blip>
          <a:stretch>
            <a:fillRect/>
          </a:stretch>
        </p:blipFill>
        <p:spPr>
          <a:xfrm>
            <a:off x="8982875" y="2715800"/>
            <a:ext cx="5524500" cy="38766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44" name="Google Shape;244;p25"/>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245" name="Google Shape;245;p25"/>
          <p:cNvSpPr txBox="1"/>
          <p:nvPr/>
        </p:nvSpPr>
        <p:spPr>
          <a:xfrm>
            <a:off x="668975" y="2481025"/>
            <a:ext cx="3632700" cy="6423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000"/>
              <a:buFont typeface="Arial"/>
              <a:buNone/>
            </a:pPr>
            <a:r>
              <a:rPr b="1" lang="en-US" sz="2600">
                <a:solidFill>
                  <a:schemeClr val="dk1"/>
                </a:solidFill>
                <a:latin typeface="Times"/>
                <a:ea typeface="Times"/>
                <a:cs typeface="Times"/>
                <a:sym typeface="Times"/>
              </a:rPr>
              <a:t>  LIME : </a:t>
            </a:r>
            <a:endParaRPr sz="2600">
              <a:solidFill>
                <a:schemeClr val="dk1"/>
              </a:solidFill>
              <a:latin typeface="Calibri"/>
              <a:ea typeface="Calibri"/>
              <a:cs typeface="Calibri"/>
              <a:sym typeface="Calibri"/>
            </a:endParaRPr>
          </a:p>
        </p:txBody>
      </p:sp>
      <p:sp>
        <p:nvSpPr>
          <p:cNvPr id="246" name="Google Shape;246;p25"/>
          <p:cNvSpPr txBox="1"/>
          <p:nvPr/>
        </p:nvSpPr>
        <p:spPr>
          <a:xfrm>
            <a:off x="668975" y="3123325"/>
            <a:ext cx="17078400" cy="5739600"/>
          </a:xfrm>
          <a:prstGeom prst="rect">
            <a:avLst/>
          </a:prstGeom>
          <a:noFill/>
          <a:ln>
            <a:noFill/>
          </a:ln>
        </p:spPr>
        <p:txBody>
          <a:bodyPr anchorCtr="0" anchor="t" bIns="91425" lIns="91425" spcFirstLastPara="1" rIns="91425" wrap="square" tIns="91425">
            <a:noAutofit/>
          </a:bodyPr>
          <a:lstStyle/>
          <a:p>
            <a:pPr indent="-254000" lvl="0" marL="228600" rtl="0" algn="l">
              <a:lnSpc>
                <a:spcPct val="90000"/>
              </a:lnSpc>
              <a:spcBef>
                <a:spcPts val="1000"/>
              </a:spcBef>
              <a:spcAft>
                <a:spcPts val="0"/>
              </a:spcAft>
              <a:buClr>
                <a:schemeClr val="dk1"/>
              </a:buClr>
              <a:buSzPts val="2400"/>
              <a:buChar char="➔"/>
            </a:pPr>
            <a:r>
              <a:rPr b="1" lang="en-US" sz="2400">
                <a:solidFill>
                  <a:schemeClr val="dk1"/>
                </a:solidFill>
                <a:latin typeface="Times"/>
                <a:ea typeface="Times"/>
                <a:cs typeface="Times"/>
                <a:sym typeface="Times"/>
              </a:rPr>
              <a:t>LIME (Local Interpretable Model-agnostic Explanations)</a:t>
            </a:r>
            <a:r>
              <a:rPr lang="en-US" sz="2400">
                <a:solidFill>
                  <a:schemeClr val="dk1"/>
                </a:solidFill>
                <a:latin typeface="Times"/>
                <a:ea typeface="Times"/>
                <a:cs typeface="Times"/>
                <a:sym typeface="Times"/>
              </a:rPr>
              <a:t> explains why a model made a specific decision for an individual case.</a:t>
            </a:r>
            <a:endParaRPr sz="2400">
              <a:solidFill>
                <a:schemeClr val="dk1"/>
              </a:solidFill>
              <a:latin typeface="Times"/>
              <a:ea typeface="Times"/>
              <a:cs typeface="Times"/>
              <a:sym typeface="Times"/>
            </a:endParaRPr>
          </a:p>
          <a:p>
            <a:pPr indent="-254000" lvl="0" marL="228600" rtl="0" algn="l">
              <a:lnSpc>
                <a:spcPct val="90000"/>
              </a:lnSpc>
              <a:spcBef>
                <a:spcPts val="1000"/>
              </a:spcBef>
              <a:spcAft>
                <a:spcPts val="0"/>
              </a:spcAft>
              <a:buClr>
                <a:schemeClr val="dk1"/>
              </a:buClr>
              <a:buSzPts val="2400"/>
              <a:buChar char="➔"/>
            </a:pPr>
            <a:r>
              <a:rPr b="1" lang="en-US" sz="2400">
                <a:solidFill>
                  <a:schemeClr val="dk1"/>
                </a:solidFill>
                <a:latin typeface="Times"/>
                <a:ea typeface="Times"/>
                <a:cs typeface="Times"/>
                <a:sym typeface="Times"/>
              </a:rPr>
              <a:t>Why it matters</a:t>
            </a:r>
            <a:r>
              <a:rPr lang="en-US" sz="2400">
                <a:solidFill>
                  <a:schemeClr val="dk1"/>
                </a:solidFill>
                <a:latin typeface="Times"/>
                <a:ea typeface="Times"/>
                <a:cs typeface="Times"/>
                <a:sym typeface="Times"/>
              </a:rPr>
              <a:t>: </a:t>
            </a:r>
            <a:endParaRPr sz="2400">
              <a:solidFill>
                <a:schemeClr val="dk1"/>
              </a:solidFill>
              <a:latin typeface="Times"/>
              <a:ea typeface="Times"/>
              <a:cs typeface="Times"/>
              <a:sym typeface="Times"/>
            </a:endParaRPr>
          </a:p>
          <a:p>
            <a:pPr indent="-254000" lvl="0" marL="228600" rtl="0" algn="l">
              <a:lnSpc>
                <a:spcPct val="90000"/>
              </a:lnSpc>
              <a:spcBef>
                <a:spcPts val="1000"/>
              </a:spcBef>
              <a:spcAft>
                <a:spcPts val="0"/>
              </a:spcAft>
              <a:buClr>
                <a:schemeClr val="dk1"/>
              </a:buClr>
              <a:buSzPts val="2400"/>
              <a:buChar char="➔"/>
            </a:pPr>
            <a:r>
              <a:rPr lang="en-US" sz="2400">
                <a:solidFill>
                  <a:schemeClr val="dk1"/>
                </a:solidFill>
                <a:latin typeface="Times"/>
                <a:ea typeface="Times"/>
                <a:cs typeface="Times"/>
                <a:sym typeface="Times"/>
              </a:rPr>
              <a:t>Gives us a simple, understandable explanation for each prediction.</a:t>
            </a:r>
            <a:endParaRPr sz="2400">
              <a:solidFill>
                <a:schemeClr val="dk1"/>
              </a:solidFill>
              <a:latin typeface="Times"/>
              <a:ea typeface="Times"/>
              <a:cs typeface="Times"/>
              <a:sym typeface="Times"/>
            </a:endParaRPr>
          </a:p>
          <a:p>
            <a:pPr indent="-254000" lvl="0" marL="228600" rtl="0" algn="l">
              <a:lnSpc>
                <a:spcPct val="90000"/>
              </a:lnSpc>
              <a:spcBef>
                <a:spcPts val="1000"/>
              </a:spcBef>
              <a:spcAft>
                <a:spcPts val="0"/>
              </a:spcAft>
              <a:buClr>
                <a:schemeClr val="dk1"/>
              </a:buClr>
              <a:buSzPts val="2400"/>
              <a:buChar char="➔"/>
            </a:pPr>
            <a:r>
              <a:rPr lang="en-US" sz="2400">
                <a:solidFill>
                  <a:schemeClr val="dk1"/>
                </a:solidFill>
                <a:latin typeface="Times"/>
                <a:ea typeface="Times"/>
                <a:cs typeface="Times"/>
                <a:sym typeface="Times"/>
              </a:rPr>
              <a:t>Explains </a:t>
            </a:r>
            <a:r>
              <a:rPr b="1" lang="en-US" sz="2400">
                <a:solidFill>
                  <a:schemeClr val="dk1"/>
                </a:solidFill>
                <a:latin typeface="Times"/>
                <a:ea typeface="Times"/>
                <a:cs typeface="Times"/>
                <a:sym typeface="Times"/>
              </a:rPr>
              <a:t>individual predictions</a:t>
            </a:r>
            <a:r>
              <a:rPr lang="en-US" sz="2400">
                <a:solidFill>
                  <a:schemeClr val="dk1"/>
                </a:solidFill>
                <a:latin typeface="Times"/>
                <a:ea typeface="Times"/>
                <a:cs typeface="Times"/>
                <a:sym typeface="Times"/>
              </a:rPr>
              <a:t> (one image at a time) rather than the model as a whole.</a:t>
            </a: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Char char="➔"/>
            </a:pPr>
            <a:r>
              <a:rPr lang="en-US" sz="2400">
                <a:solidFill>
                  <a:schemeClr val="dk1"/>
                </a:solidFill>
                <a:latin typeface="Times"/>
                <a:ea typeface="Times"/>
                <a:cs typeface="Times"/>
                <a:sym typeface="Times"/>
              </a:rPr>
              <a:t>Divides an image into small regions (called </a:t>
            </a:r>
            <a:r>
              <a:rPr b="1" lang="en-US" sz="2400">
                <a:solidFill>
                  <a:schemeClr val="dk1"/>
                </a:solidFill>
                <a:latin typeface="Times"/>
                <a:ea typeface="Times"/>
                <a:cs typeface="Times"/>
                <a:sym typeface="Times"/>
              </a:rPr>
              <a:t>superpixels</a:t>
            </a:r>
            <a:r>
              <a:rPr lang="en-US" sz="2400">
                <a:solidFill>
                  <a:schemeClr val="dk1"/>
                </a:solidFill>
                <a:latin typeface="Times"/>
                <a:ea typeface="Times"/>
                <a:cs typeface="Times"/>
                <a:sym typeface="Times"/>
              </a:rPr>
              <a:t>) and studies how each region affects the prediction.</a:t>
            </a:r>
            <a:endParaRPr sz="2400">
              <a:solidFill>
                <a:schemeClr val="dk1"/>
              </a:solidFill>
              <a:latin typeface="Times"/>
              <a:ea typeface="Times"/>
              <a:cs typeface="Times"/>
              <a:sym typeface="Times"/>
            </a:endParaRPr>
          </a:p>
          <a:p>
            <a:pPr indent="0" lvl="0" marL="457200" rtl="0" algn="l">
              <a:lnSpc>
                <a:spcPct val="90000"/>
              </a:lnSpc>
              <a:spcBef>
                <a:spcPts val="1000"/>
              </a:spcBef>
              <a:spcAft>
                <a:spcPts val="0"/>
              </a:spcAft>
              <a:buNone/>
            </a:pPr>
            <a:r>
              <a:t/>
            </a:r>
            <a:endParaRPr sz="2400">
              <a:solidFill>
                <a:schemeClr val="dk1"/>
              </a:solidFill>
              <a:latin typeface="Times"/>
              <a:ea typeface="Times"/>
              <a:cs typeface="Times"/>
              <a:sym typeface="Times"/>
            </a:endParaRPr>
          </a:p>
          <a:p>
            <a:pPr indent="0" lvl="0" marL="457200" rtl="0" algn="l">
              <a:lnSpc>
                <a:spcPct val="90000"/>
              </a:lnSpc>
              <a:spcBef>
                <a:spcPts val="1000"/>
              </a:spcBef>
              <a:spcAft>
                <a:spcPts val="0"/>
              </a:spcAft>
              <a:buNone/>
            </a:pPr>
            <a:r>
              <a:t/>
            </a:r>
            <a:endParaRPr sz="2400">
              <a:solidFill>
                <a:schemeClr val="dk1"/>
              </a:solidFill>
              <a:latin typeface="Times"/>
              <a:ea typeface="Times"/>
              <a:cs typeface="Times"/>
              <a:sym typeface="Times"/>
            </a:endParaRPr>
          </a:p>
        </p:txBody>
      </p:sp>
      <p:pic>
        <p:nvPicPr>
          <p:cNvPr id="247" name="Google Shape;247;p25" title="Screenshot 2025-07-29 120505.png"/>
          <p:cNvPicPr preferRelativeResize="0"/>
          <p:nvPr/>
        </p:nvPicPr>
        <p:blipFill rotWithShape="1">
          <a:blip r:embed="rId5">
            <a:alphaModFix/>
          </a:blip>
          <a:srcRect b="0" l="0" r="0" t="0"/>
          <a:stretch/>
        </p:blipFill>
        <p:spPr>
          <a:xfrm>
            <a:off x="1732225" y="5537800"/>
            <a:ext cx="13157776" cy="33251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57" name="Google Shape;257;p26"/>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258" name="Google Shape;258;p26"/>
          <p:cNvSpPr txBox="1"/>
          <p:nvPr/>
        </p:nvSpPr>
        <p:spPr>
          <a:xfrm>
            <a:off x="536050" y="2367725"/>
            <a:ext cx="4518900" cy="59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Times"/>
                <a:ea typeface="Times"/>
                <a:cs typeface="Times"/>
                <a:sym typeface="Times"/>
              </a:rPr>
              <a:t>OUTPUT SCREENS : </a:t>
            </a:r>
            <a:endParaRPr b="1" sz="3200">
              <a:solidFill>
                <a:schemeClr val="dk1"/>
              </a:solidFill>
              <a:latin typeface="Times"/>
              <a:ea typeface="Times"/>
              <a:cs typeface="Times"/>
              <a:sym typeface="Times"/>
            </a:endParaRPr>
          </a:p>
        </p:txBody>
      </p:sp>
      <p:sp>
        <p:nvSpPr>
          <p:cNvPr id="259" name="Google Shape;259;p26"/>
          <p:cNvSpPr txBox="1"/>
          <p:nvPr/>
        </p:nvSpPr>
        <p:spPr>
          <a:xfrm>
            <a:off x="624650" y="2480925"/>
            <a:ext cx="16945800" cy="63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260" name="Google Shape;260;p26" title="Screenshot 2025-11-09 002447.png"/>
          <p:cNvPicPr preferRelativeResize="0"/>
          <p:nvPr/>
        </p:nvPicPr>
        <p:blipFill rotWithShape="1">
          <a:blip r:embed="rId5">
            <a:alphaModFix/>
          </a:blip>
          <a:srcRect b="0" l="0" r="0" t="0"/>
          <a:stretch/>
        </p:blipFill>
        <p:spPr>
          <a:xfrm>
            <a:off x="536050" y="2965925"/>
            <a:ext cx="6054726" cy="2996425"/>
          </a:xfrm>
          <a:prstGeom prst="rect">
            <a:avLst/>
          </a:prstGeom>
          <a:noFill/>
          <a:ln>
            <a:noFill/>
          </a:ln>
        </p:spPr>
      </p:pic>
      <p:pic>
        <p:nvPicPr>
          <p:cNvPr id="261" name="Google Shape;261;p26" title="Screenshot 2025-11-09 002526.png"/>
          <p:cNvPicPr preferRelativeResize="0"/>
          <p:nvPr/>
        </p:nvPicPr>
        <p:blipFill rotWithShape="1">
          <a:blip r:embed="rId6">
            <a:alphaModFix/>
          </a:blip>
          <a:srcRect b="0" l="0" r="0" t="0"/>
          <a:stretch/>
        </p:blipFill>
        <p:spPr>
          <a:xfrm>
            <a:off x="6716000" y="2965925"/>
            <a:ext cx="5311774" cy="2996425"/>
          </a:xfrm>
          <a:prstGeom prst="rect">
            <a:avLst/>
          </a:prstGeom>
          <a:noFill/>
          <a:ln>
            <a:noFill/>
          </a:ln>
        </p:spPr>
      </p:pic>
      <p:pic>
        <p:nvPicPr>
          <p:cNvPr id="262" name="Google Shape;262;p26" title="Screenshot 2025-11-09 002615.png"/>
          <p:cNvPicPr preferRelativeResize="0"/>
          <p:nvPr/>
        </p:nvPicPr>
        <p:blipFill rotWithShape="1">
          <a:blip r:embed="rId7">
            <a:alphaModFix/>
          </a:blip>
          <a:srcRect b="0" l="0" r="0" t="0"/>
          <a:stretch/>
        </p:blipFill>
        <p:spPr>
          <a:xfrm>
            <a:off x="12153000" y="2965925"/>
            <a:ext cx="5959475" cy="2762250"/>
          </a:xfrm>
          <a:prstGeom prst="rect">
            <a:avLst/>
          </a:prstGeom>
          <a:noFill/>
          <a:ln>
            <a:noFill/>
          </a:ln>
        </p:spPr>
      </p:pic>
      <p:pic>
        <p:nvPicPr>
          <p:cNvPr id="263" name="Google Shape;263;p26" title="Screenshot 2025-11-10 231720.png"/>
          <p:cNvPicPr preferRelativeResize="0"/>
          <p:nvPr/>
        </p:nvPicPr>
        <p:blipFill rotWithShape="1">
          <a:blip r:embed="rId8">
            <a:alphaModFix/>
          </a:blip>
          <a:srcRect b="0" l="1050" r="-1050" t="0"/>
          <a:stretch/>
        </p:blipFill>
        <p:spPr>
          <a:xfrm>
            <a:off x="9657600" y="6100875"/>
            <a:ext cx="5753074" cy="2762250"/>
          </a:xfrm>
          <a:prstGeom prst="rect">
            <a:avLst/>
          </a:prstGeom>
          <a:noFill/>
          <a:ln>
            <a:noFill/>
          </a:ln>
        </p:spPr>
      </p:pic>
      <p:pic>
        <p:nvPicPr>
          <p:cNvPr id="264" name="Google Shape;264;p26" title="Screenshot 2025-11-10 231706.png"/>
          <p:cNvPicPr preferRelativeResize="0"/>
          <p:nvPr/>
        </p:nvPicPr>
        <p:blipFill rotWithShape="1">
          <a:blip r:embed="rId9">
            <a:alphaModFix/>
          </a:blip>
          <a:srcRect b="0" l="0" r="0" t="0"/>
          <a:stretch/>
        </p:blipFill>
        <p:spPr>
          <a:xfrm>
            <a:off x="3856425" y="6100875"/>
            <a:ext cx="5311775" cy="2762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7"/>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74" name="Google Shape;274;p27"/>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275" name="Google Shape;275;p27"/>
          <p:cNvSpPr txBox="1"/>
          <p:nvPr/>
        </p:nvSpPr>
        <p:spPr>
          <a:xfrm>
            <a:off x="-2873375" y="-547700"/>
            <a:ext cx="11430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76" name="Google Shape;276;p27"/>
          <p:cNvSpPr txBox="1"/>
          <p:nvPr/>
        </p:nvSpPr>
        <p:spPr>
          <a:xfrm>
            <a:off x="5738800" y="2367725"/>
            <a:ext cx="8016900" cy="7341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4400"/>
              <a:buFont typeface="Times New Roman"/>
              <a:buNone/>
            </a:pPr>
            <a:r>
              <a:rPr b="1" lang="en-US" sz="3200">
                <a:solidFill>
                  <a:schemeClr val="dk1"/>
                </a:solidFill>
                <a:latin typeface="Times"/>
                <a:ea typeface="Times"/>
                <a:cs typeface="Times"/>
                <a:sym typeface="Times"/>
              </a:rPr>
              <a:t>  CONCLUSION AND FUTURE SCOPE</a:t>
            </a:r>
            <a:endParaRPr b="1" sz="32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77" name="Google Shape;277;p27"/>
          <p:cNvSpPr txBox="1"/>
          <p:nvPr/>
        </p:nvSpPr>
        <p:spPr>
          <a:xfrm>
            <a:off x="817550" y="3071825"/>
            <a:ext cx="16708500" cy="57912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2000"/>
              <a:buFont typeface="Arial"/>
              <a:buNone/>
            </a:pPr>
            <a:r>
              <a:rPr b="1" lang="en-US" sz="2600">
                <a:solidFill>
                  <a:schemeClr val="dk1"/>
                </a:solidFill>
                <a:latin typeface="Times"/>
                <a:ea typeface="Times"/>
                <a:cs typeface="Times"/>
                <a:sym typeface="Times"/>
              </a:rPr>
              <a:t>Conclusion:</a:t>
            </a:r>
            <a:endParaRPr b="1" sz="26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The study successfully implemented three CNN architectures — EfficientNetV2-S, DenseNet121, and InceptionV3 — for Monkeypox detection using skin lesion images.</a:t>
            </a: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Among the models, InceptionV3 achieved the highest accuracy (95%), followed closely by DenseNet121 (93%), proving their strong diagnostic capability.</a:t>
            </a: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LIME explainability provided clear visualization of lesion regions influencing predictions, enhancing clinical trust and transparency.</a:t>
            </a: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The proposed approach demonstrates that AI-driven models can serve as reliable decision-support tools for early Monkeypox screening, especially in low-resource or remote areas.</a:t>
            </a:r>
            <a:endParaRPr sz="2400">
              <a:solidFill>
                <a:schemeClr val="dk1"/>
              </a:solidFill>
              <a:latin typeface="Times"/>
              <a:ea typeface="Times"/>
              <a:cs typeface="Times"/>
              <a:sym typeface="Times"/>
            </a:endParaRPr>
          </a:p>
          <a:p>
            <a:pPr indent="0" lvl="0" marL="0" rtl="0" algn="l">
              <a:lnSpc>
                <a:spcPct val="90000"/>
              </a:lnSpc>
              <a:spcBef>
                <a:spcPts val="1000"/>
              </a:spcBef>
              <a:spcAft>
                <a:spcPts val="0"/>
              </a:spcAft>
              <a:buClr>
                <a:schemeClr val="dk1"/>
              </a:buClr>
              <a:buSzPts val="2000"/>
              <a:buFont typeface="Arial"/>
              <a:buNone/>
            </a:pPr>
            <a:r>
              <a:rPr b="1" lang="en-US" sz="2600">
                <a:solidFill>
                  <a:schemeClr val="dk1"/>
                </a:solidFill>
                <a:latin typeface="Times"/>
                <a:ea typeface="Times"/>
                <a:cs typeface="Times"/>
                <a:sym typeface="Times"/>
              </a:rPr>
              <a:t>Future Work:</a:t>
            </a:r>
            <a:endParaRPr b="1" sz="26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Expand dataset size with diverse, clinically verified Monkeypox and Normal images to improve generalization.</a:t>
            </a: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Integrate real clinical testing through collaboration with hospitals and medical professionals.</a:t>
            </a:r>
            <a:endParaRPr sz="2400">
              <a:solidFill>
                <a:schemeClr val="dk1"/>
              </a:solidFill>
              <a:latin typeface="Times"/>
              <a:ea typeface="Times"/>
              <a:cs typeface="Times"/>
              <a:sym typeface="Times"/>
            </a:endParaRPr>
          </a:p>
          <a:p>
            <a:pPr indent="-266700" lvl="0" marL="228600" rtl="0" algn="l">
              <a:lnSpc>
                <a:spcPct val="90000"/>
              </a:lnSpc>
              <a:spcBef>
                <a:spcPts val="1000"/>
              </a:spcBef>
              <a:spcAft>
                <a:spcPts val="0"/>
              </a:spcAft>
              <a:buClr>
                <a:schemeClr val="dk1"/>
              </a:buClr>
              <a:buSzPts val="2400"/>
              <a:buFont typeface="Noto Sans Symbols"/>
              <a:buChar char="⮚"/>
            </a:pPr>
            <a:r>
              <a:rPr lang="en-US" sz="2400">
                <a:solidFill>
                  <a:schemeClr val="dk1"/>
                </a:solidFill>
                <a:latin typeface="Times"/>
                <a:ea typeface="Times"/>
                <a:cs typeface="Times"/>
                <a:sym typeface="Times"/>
              </a:rPr>
              <a:t>Develop a mobile or web-based diagnostic app for real-time skin lesion analysis.</a:t>
            </a:r>
            <a:endParaRPr sz="2400">
              <a:solidFill>
                <a:schemeClr val="dk1"/>
              </a:solidFill>
              <a:latin typeface="Times"/>
              <a:ea typeface="Times"/>
              <a:cs typeface="Times"/>
              <a:sym typeface="Times"/>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87" name="Google Shape;287;p28"/>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288" name="Google Shape;288;p28"/>
          <p:cNvSpPr txBox="1"/>
          <p:nvPr/>
        </p:nvSpPr>
        <p:spPr>
          <a:xfrm>
            <a:off x="656800" y="2367725"/>
            <a:ext cx="16572300" cy="64953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t/>
            </a:r>
            <a:endParaRPr sz="3200">
              <a:solidFill>
                <a:schemeClr val="dk1"/>
              </a:solidFill>
              <a:latin typeface="Calibri"/>
              <a:ea typeface="Calibri"/>
              <a:cs typeface="Calibri"/>
              <a:sym typeface="Calibri"/>
            </a:endParaRPr>
          </a:p>
          <a:p>
            <a:pPr indent="0" lvl="0" marL="0" rtl="0" algn="just">
              <a:lnSpc>
                <a:spcPct val="115000"/>
              </a:lnSpc>
              <a:spcBef>
                <a:spcPts val="1000"/>
              </a:spcBef>
              <a:spcAft>
                <a:spcPts val="0"/>
              </a:spcAft>
              <a:buNone/>
            </a:pPr>
            <a:r>
              <a:rPr lang="en-US" sz="2400">
                <a:solidFill>
                  <a:schemeClr val="dk1"/>
                </a:solidFill>
                <a:latin typeface="Times"/>
                <a:ea typeface="Times"/>
                <a:cs typeface="Times"/>
                <a:sym typeface="Times"/>
              </a:rPr>
              <a:t>    We express our heartfelt gratitude to our project guide, </a:t>
            </a:r>
            <a:r>
              <a:rPr b="1" lang="en-US" sz="2400">
                <a:solidFill>
                  <a:schemeClr val="dk1"/>
                </a:solidFill>
                <a:latin typeface="Times"/>
                <a:ea typeface="Times"/>
                <a:cs typeface="Times"/>
                <a:sym typeface="Times"/>
              </a:rPr>
              <a:t>Mr. Mothe Sathyam Reddy</a:t>
            </a:r>
            <a:r>
              <a:rPr lang="en-US" sz="2400">
                <a:solidFill>
                  <a:schemeClr val="dk1"/>
                </a:solidFill>
                <a:latin typeface="Times"/>
                <a:ea typeface="Times"/>
                <a:cs typeface="Times"/>
                <a:sym typeface="Times"/>
              </a:rPr>
              <a:t>, for his continuous guidance, motivation, and </a:t>
            </a:r>
            <a:r>
              <a:rPr lang="en-US" sz="2400">
                <a:solidFill>
                  <a:schemeClr val="dk1"/>
                </a:solidFill>
                <a:latin typeface="Times"/>
                <a:ea typeface="Times"/>
                <a:cs typeface="Times"/>
                <a:sym typeface="Times"/>
              </a:rPr>
              <a:t>  </a:t>
            </a:r>
            <a:endParaRPr sz="2400">
              <a:solidFill>
                <a:schemeClr val="dk1"/>
              </a:solidFill>
              <a:latin typeface="Times"/>
              <a:ea typeface="Times"/>
              <a:cs typeface="Times"/>
              <a:sym typeface="Times"/>
            </a:endParaRPr>
          </a:p>
          <a:p>
            <a:pPr indent="0" lvl="0" marL="0" rtl="0" algn="just">
              <a:lnSpc>
                <a:spcPct val="115000"/>
              </a:lnSpc>
              <a:spcBef>
                <a:spcPts val="1000"/>
              </a:spcBef>
              <a:spcAft>
                <a:spcPts val="0"/>
              </a:spcAft>
              <a:buNone/>
            </a:pPr>
            <a:r>
              <a:rPr lang="en-US" sz="2400">
                <a:solidFill>
                  <a:schemeClr val="dk1"/>
                </a:solidFill>
                <a:latin typeface="Times"/>
                <a:ea typeface="Times"/>
                <a:cs typeface="Times"/>
                <a:sym typeface="Times"/>
              </a:rPr>
              <a:t>   </a:t>
            </a:r>
            <a:r>
              <a:rPr lang="en-US" sz="2400">
                <a:solidFill>
                  <a:schemeClr val="dk1"/>
                </a:solidFill>
                <a:latin typeface="Times"/>
                <a:ea typeface="Times"/>
                <a:cs typeface="Times"/>
                <a:sym typeface="Times"/>
              </a:rPr>
              <a:t> valuable insights throughout the course of this research work.</a:t>
            </a:r>
            <a:br>
              <a:rPr lang="en-US" sz="2400">
                <a:solidFill>
                  <a:schemeClr val="dk1"/>
                </a:solidFill>
                <a:latin typeface="Times"/>
                <a:ea typeface="Times"/>
                <a:cs typeface="Times"/>
                <a:sym typeface="Times"/>
              </a:rPr>
            </a:br>
            <a:r>
              <a:rPr lang="en-US" sz="2400">
                <a:solidFill>
                  <a:schemeClr val="dk1"/>
                </a:solidFill>
                <a:latin typeface="Times"/>
                <a:ea typeface="Times"/>
                <a:cs typeface="Times"/>
                <a:sym typeface="Times"/>
              </a:rPr>
              <a:t>    We also extend our sincere thanks to our project co-ordinators, </a:t>
            </a:r>
            <a:r>
              <a:rPr b="1" lang="en-US" sz="2400">
                <a:solidFill>
                  <a:schemeClr val="dk1"/>
                </a:solidFill>
                <a:latin typeface="Times"/>
                <a:ea typeface="Times"/>
                <a:cs typeface="Times"/>
                <a:sym typeface="Times"/>
              </a:rPr>
              <a:t>Dr. Syed Rizwana</a:t>
            </a:r>
            <a:r>
              <a:rPr lang="en-US" sz="2400">
                <a:solidFill>
                  <a:schemeClr val="dk1"/>
                </a:solidFill>
                <a:latin typeface="Times"/>
                <a:ea typeface="Times"/>
                <a:cs typeface="Times"/>
                <a:sym typeface="Times"/>
              </a:rPr>
              <a:t> and </a:t>
            </a:r>
            <a:r>
              <a:rPr b="1" lang="en-US" sz="2400">
                <a:solidFill>
                  <a:schemeClr val="dk1"/>
                </a:solidFill>
                <a:latin typeface="Times"/>
                <a:ea typeface="Times"/>
                <a:cs typeface="Times"/>
                <a:sym typeface="Times"/>
              </a:rPr>
              <a:t>Dr. Moturi Sireesha</a:t>
            </a:r>
            <a:r>
              <a:rPr lang="en-US" sz="2400">
                <a:solidFill>
                  <a:schemeClr val="dk1"/>
                </a:solidFill>
                <a:latin typeface="Times"/>
                <a:ea typeface="Times"/>
                <a:cs typeface="Times"/>
                <a:sym typeface="Times"/>
              </a:rPr>
              <a:t>, for their constant   </a:t>
            </a:r>
            <a:endParaRPr sz="2400">
              <a:solidFill>
                <a:schemeClr val="dk1"/>
              </a:solidFill>
              <a:latin typeface="Times"/>
              <a:ea typeface="Times"/>
              <a:cs typeface="Times"/>
              <a:sym typeface="Times"/>
            </a:endParaRPr>
          </a:p>
          <a:p>
            <a:pPr indent="0" lvl="0" marL="0" rtl="0" algn="just">
              <a:lnSpc>
                <a:spcPct val="115000"/>
              </a:lnSpc>
              <a:spcBef>
                <a:spcPts val="1000"/>
              </a:spcBef>
              <a:spcAft>
                <a:spcPts val="0"/>
              </a:spcAft>
              <a:buNone/>
            </a:pPr>
            <a:r>
              <a:rPr lang="en-US" sz="2400">
                <a:solidFill>
                  <a:schemeClr val="dk1"/>
                </a:solidFill>
                <a:latin typeface="Times"/>
                <a:ea typeface="Times"/>
                <a:cs typeface="Times"/>
                <a:sym typeface="Times"/>
              </a:rPr>
              <a:t>    support and encouragement.</a:t>
            </a:r>
            <a:endParaRPr sz="2400">
              <a:solidFill>
                <a:schemeClr val="dk1"/>
              </a:solidFill>
              <a:latin typeface="Times"/>
              <a:ea typeface="Times"/>
              <a:cs typeface="Times"/>
              <a:sym typeface="Times"/>
            </a:endParaRPr>
          </a:p>
          <a:p>
            <a:pPr indent="0" lvl="0" marL="0" rtl="0" algn="just">
              <a:lnSpc>
                <a:spcPct val="115000"/>
              </a:lnSpc>
              <a:spcBef>
                <a:spcPts val="1000"/>
              </a:spcBef>
              <a:spcAft>
                <a:spcPts val="0"/>
              </a:spcAft>
              <a:buNone/>
            </a:pPr>
            <a:r>
              <a:rPr lang="en-US" sz="2400">
                <a:solidFill>
                  <a:schemeClr val="dk1"/>
                </a:solidFill>
                <a:latin typeface="Times"/>
                <a:ea typeface="Times"/>
                <a:cs typeface="Times"/>
                <a:sym typeface="Times"/>
              </a:rPr>
              <a:t>    We are grateful to the </a:t>
            </a:r>
            <a:r>
              <a:rPr b="1" lang="en-US" sz="2400">
                <a:solidFill>
                  <a:schemeClr val="dk1"/>
                </a:solidFill>
                <a:latin typeface="Times"/>
                <a:ea typeface="Times"/>
                <a:cs typeface="Times"/>
                <a:sym typeface="Times"/>
              </a:rPr>
              <a:t>Department of Computer Science and Engineering, Narasaraopeta Engineering College  </a:t>
            </a:r>
            <a:endParaRPr b="1" sz="2400">
              <a:solidFill>
                <a:schemeClr val="dk1"/>
              </a:solidFill>
              <a:latin typeface="Times"/>
              <a:ea typeface="Times"/>
              <a:cs typeface="Times"/>
              <a:sym typeface="Times"/>
            </a:endParaRPr>
          </a:p>
          <a:p>
            <a:pPr indent="0" lvl="0" marL="0" rtl="0" algn="just">
              <a:lnSpc>
                <a:spcPct val="115000"/>
              </a:lnSpc>
              <a:spcBef>
                <a:spcPts val="1000"/>
              </a:spcBef>
              <a:spcAft>
                <a:spcPts val="0"/>
              </a:spcAft>
              <a:buClr>
                <a:schemeClr val="dk1"/>
              </a:buClr>
              <a:buSzPts val="1100"/>
              <a:buFont typeface="Arial"/>
              <a:buNone/>
            </a:pPr>
            <a:r>
              <a:rPr b="1" lang="en-US" sz="2400">
                <a:solidFill>
                  <a:schemeClr val="dk1"/>
                </a:solidFill>
                <a:latin typeface="Times"/>
                <a:ea typeface="Times"/>
                <a:cs typeface="Times"/>
                <a:sym typeface="Times"/>
              </a:rPr>
              <a:t>    (Autonomous)</a:t>
            </a:r>
            <a:r>
              <a:rPr lang="en-US" sz="2400">
                <a:solidFill>
                  <a:schemeClr val="dk1"/>
                </a:solidFill>
                <a:latin typeface="Times"/>
                <a:ea typeface="Times"/>
                <a:cs typeface="Times"/>
                <a:sym typeface="Times"/>
              </a:rPr>
              <a:t>, for providing the necessary facilities and resources to successfully complete this study.</a:t>
            </a:r>
            <a:endParaRPr sz="2400">
              <a:solidFill>
                <a:schemeClr val="dk1"/>
              </a:solidFill>
              <a:latin typeface="Times"/>
              <a:ea typeface="Times"/>
              <a:cs typeface="Times"/>
              <a:sym typeface="Times"/>
            </a:endParaRPr>
          </a:p>
          <a:p>
            <a:pPr indent="0" lvl="0" marL="0" rtl="0" algn="just">
              <a:lnSpc>
                <a:spcPct val="115000"/>
              </a:lnSpc>
              <a:spcBef>
                <a:spcPts val="1000"/>
              </a:spcBef>
              <a:spcAft>
                <a:spcPts val="0"/>
              </a:spcAft>
              <a:buNone/>
            </a:pPr>
            <a:r>
              <a:rPr lang="en-US" sz="2400">
                <a:solidFill>
                  <a:schemeClr val="dk1"/>
                </a:solidFill>
                <a:latin typeface="Times"/>
                <a:ea typeface="Times"/>
                <a:cs typeface="Times"/>
                <a:sym typeface="Times"/>
              </a:rPr>
              <a:t>    We would also like to acknowledge our team members — </a:t>
            </a:r>
            <a:r>
              <a:rPr b="1" lang="en-US" sz="2400">
                <a:solidFill>
                  <a:schemeClr val="dk1"/>
                </a:solidFill>
                <a:latin typeface="Times"/>
                <a:ea typeface="Times"/>
                <a:cs typeface="Times"/>
                <a:sym typeface="Times"/>
              </a:rPr>
              <a:t>Kotte Naresh Babu</a:t>
            </a:r>
            <a:r>
              <a:rPr lang="en-US" sz="2400">
                <a:solidFill>
                  <a:schemeClr val="dk1"/>
                </a:solidFill>
                <a:latin typeface="Times"/>
                <a:ea typeface="Times"/>
                <a:cs typeface="Times"/>
                <a:sym typeface="Times"/>
              </a:rPr>
              <a:t>, </a:t>
            </a:r>
            <a:r>
              <a:rPr b="1" lang="en-US" sz="2400">
                <a:solidFill>
                  <a:schemeClr val="dk1"/>
                </a:solidFill>
                <a:latin typeface="Times"/>
                <a:ea typeface="Times"/>
                <a:cs typeface="Times"/>
                <a:sym typeface="Times"/>
              </a:rPr>
              <a:t>V. Manasa</a:t>
            </a:r>
            <a:r>
              <a:rPr lang="en-US" sz="2400">
                <a:solidFill>
                  <a:schemeClr val="dk1"/>
                </a:solidFill>
                <a:latin typeface="Times"/>
                <a:ea typeface="Times"/>
                <a:cs typeface="Times"/>
                <a:sym typeface="Times"/>
              </a:rPr>
              <a:t>, and </a:t>
            </a:r>
            <a:r>
              <a:rPr b="1" lang="en-US" sz="2400">
                <a:solidFill>
                  <a:schemeClr val="dk1"/>
                </a:solidFill>
                <a:latin typeface="Times"/>
                <a:ea typeface="Times"/>
                <a:cs typeface="Times"/>
                <a:sym typeface="Times"/>
              </a:rPr>
              <a:t>Ambidi Naveena</a:t>
            </a:r>
            <a:r>
              <a:rPr lang="en-US" sz="2400">
                <a:solidFill>
                  <a:schemeClr val="dk1"/>
                </a:solidFill>
                <a:latin typeface="Times"/>
                <a:ea typeface="Times"/>
                <a:cs typeface="Times"/>
                <a:sym typeface="Times"/>
              </a:rPr>
              <a:t> — for their   </a:t>
            </a:r>
            <a:endParaRPr sz="2400">
              <a:solidFill>
                <a:schemeClr val="dk1"/>
              </a:solidFill>
              <a:latin typeface="Times"/>
              <a:ea typeface="Times"/>
              <a:cs typeface="Times"/>
              <a:sym typeface="Times"/>
            </a:endParaRPr>
          </a:p>
          <a:p>
            <a:pPr indent="0" lvl="0" marL="0" rtl="0" algn="just">
              <a:lnSpc>
                <a:spcPct val="115000"/>
              </a:lnSpc>
              <a:spcBef>
                <a:spcPts val="1200"/>
              </a:spcBef>
              <a:spcAft>
                <a:spcPts val="0"/>
              </a:spcAft>
              <a:buClr>
                <a:schemeClr val="dk1"/>
              </a:buClr>
              <a:buSzPts val="1100"/>
              <a:buFont typeface="Arial"/>
              <a:buNone/>
            </a:pPr>
            <a:r>
              <a:rPr lang="en-US" sz="2400">
                <a:solidFill>
                  <a:schemeClr val="dk1"/>
                </a:solidFill>
                <a:latin typeface="Times"/>
                <a:ea typeface="Times"/>
                <a:cs typeface="Times"/>
                <a:sym typeface="Times"/>
              </a:rPr>
              <a:t>    contributions and collaborative effort.</a:t>
            </a:r>
            <a:endParaRPr sz="2400">
              <a:solidFill>
                <a:schemeClr val="dk1"/>
              </a:solidFill>
              <a:latin typeface="Times"/>
              <a:ea typeface="Times"/>
              <a:cs typeface="Times"/>
              <a:sym typeface="Times"/>
            </a:endParaRPr>
          </a:p>
          <a:p>
            <a:pPr indent="0" lvl="0" marL="0" rtl="0" algn="just">
              <a:lnSpc>
                <a:spcPct val="115000"/>
              </a:lnSpc>
              <a:spcBef>
                <a:spcPts val="0"/>
              </a:spcBef>
              <a:spcAft>
                <a:spcPts val="0"/>
              </a:spcAft>
              <a:buNone/>
            </a:pPr>
            <a:r>
              <a:rPr lang="en-US" sz="2400">
                <a:solidFill>
                  <a:schemeClr val="dk1"/>
                </a:solidFill>
                <a:latin typeface="Times"/>
                <a:ea typeface="Times"/>
                <a:cs typeface="Times"/>
                <a:sym typeface="Times"/>
              </a:rPr>
              <a:t>    Finally, we thank the organizers of </a:t>
            </a:r>
            <a:r>
              <a:rPr b="1" lang="en-US" sz="2400">
                <a:solidFill>
                  <a:schemeClr val="dk1"/>
                </a:solidFill>
                <a:latin typeface="Times"/>
                <a:ea typeface="Times"/>
                <a:cs typeface="Times"/>
                <a:sym typeface="Times"/>
              </a:rPr>
              <a:t>INCOWOCO </a:t>
            </a:r>
            <a:r>
              <a:rPr lang="en-US" sz="2400">
                <a:solidFill>
                  <a:schemeClr val="dk1"/>
                </a:solidFill>
                <a:latin typeface="Times"/>
                <a:ea typeface="Times"/>
                <a:cs typeface="Times"/>
                <a:sym typeface="Times"/>
              </a:rPr>
              <a:t>for providing us the opportunity to present our work at this prestigious  </a:t>
            </a:r>
            <a:endParaRPr sz="2400">
              <a:solidFill>
                <a:schemeClr val="dk1"/>
              </a:solidFill>
              <a:latin typeface="Times"/>
              <a:ea typeface="Times"/>
              <a:cs typeface="Times"/>
              <a:sym typeface="Times"/>
            </a:endParaRPr>
          </a:p>
          <a:p>
            <a:pPr indent="0" lvl="0" marL="0" rtl="0" algn="just">
              <a:lnSpc>
                <a:spcPct val="115000"/>
              </a:lnSpc>
              <a:spcBef>
                <a:spcPts val="1200"/>
              </a:spcBef>
              <a:spcAft>
                <a:spcPts val="0"/>
              </a:spcAft>
              <a:buClr>
                <a:schemeClr val="dk1"/>
              </a:buClr>
              <a:buSzPts val="1100"/>
              <a:buFont typeface="Arial"/>
              <a:buNone/>
            </a:pPr>
            <a:r>
              <a:rPr lang="en-US" sz="2400">
                <a:solidFill>
                  <a:schemeClr val="dk1"/>
                </a:solidFill>
                <a:latin typeface="Times"/>
                <a:ea typeface="Times"/>
                <a:cs typeface="Times"/>
                <a:sym typeface="Times"/>
              </a:rPr>
              <a:t>    conference.</a:t>
            </a:r>
            <a:endParaRPr sz="2400">
              <a:solidFill>
                <a:schemeClr val="dk1"/>
              </a:solidFill>
              <a:latin typeface="Times"/>
              <a:ea typeface="Times"/>
              <a:cs typeface="Times"/>
              <a:sym typeface="Times"/>
            </a:endParaRPr>
          </a:p>
          <a:p>
            <a:pPr indent="0" lvl="0" marL="0" rtl="0" algn="l">
              <a:spcBef>
                <a:spcPts val="1000"/>
              </a:spcBef>
              <a:spcAft>
                <a:spcPts val="0"/>
              </a:spcAft>
              <a:buNone/>
            </a:pPr>
            <a:r>
              <a:t/>
            </a:r>
            <a:endParaRPr sz="3200">
              <a:solidFill>
                <a:schemeClr val="dk1"/>
              </a:solidFill>
              <a:latin typeface="Calibri"/>
              <a:ea typeface="Calibri"/>
              <a:cs typeface="Calibri"/>
              <a:sym typeface="Calibri"/>
            </a:endParaRPr>
          </a:p>
        </p:txBody>
      </p:sp>
      <p:sp>
        <p:nvSpPr>
          <p:cNvPr id="289" name="Google Shape;289;p28"/>
          <p:cNvSpPr txBox="1"/>
          <p:nvPr/>
        </p:nvSpPr>
        <p:spPr>
          <a:xfrm>
            <a:off x="4702000" y="2367725"/>
            <a:ext cx="12527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chemeClr val="dk1"/>
                </a:solidFill>
                <a:latin typeface="Times"/>
                <a:ea typeface="Times"/>
                <a:cs typeface="Times"/>
                <a:sym typeface="Times"/>
              </a:rPr>
              <a:t>                  ACKNOWLEDGMENT</a:t>
            </a:r>
            <a:endParaRPr b="1" sz="3200">
              <a:solidFill>
                <a:schemeClr val="dk1"/>
              </a:solidFill>
              <a:latin typeface="Times"/>
              <a:ea typeface="Times"/>
              <a:cs typeface="Times"/>
              <a:sym typeface="Time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9"/>
          <p:cNvSpPr/>
          <p:nvPr/>
        </p:nvSpPr>
        <p:spPr>
          <a:xfrm>
            <a:off x="1" y="8863030"/>
            <a:ext cx="18288000" cy="1523524"/>
          </a:xfrm>
          <a:custGeom>
            <a:rect b="b" l="l" r="r" t="t"/>
            <a:pathLst>
              <a:path extrusionOk="0" h="2031365" w="24384000">
                <a:moveTo>
                  <a:pt x="0" y="0"/>
                </a:moveTo>
                <a:lnTo>
                  <a:pt x="24384000" y="0"/>
                </a:lnTo>
                <a:lnTo>
                  <a:pt x="24384000" y="2031365"/>
                </a:lnTo>
                <a:lnTo>
                  <a:pt x="0" y="2031365"/>
                </a:lnTo>
                <a:lnTo>
                  <a:pt x="0" y="0"/>
                </a:lnTo>
                <a:close/>
              </a:path>
            </a:pathLst>
          </a:custGeom>
          <a:blipFill rotWithShape="1">
            <a:blip r:embed="rId3">
              <a:alphaModFix/>
            </a:blip>
            <a:stretch>
              <a:fillRect b="-14459" l="0" r="0" t="-14459"/>
            </a:stretch>
          </a:blipFill>
          <a:ln>
            <a:noFill/>
          </a:ln>
        </p:spPr>
      </p:sp>
      <p:sp>
        <p:nvSpPr>
          <p:cNvPr id="299" name="Google Shape;299;p29"/>
          <p:cNvSpPr/>
          <p:nvPr/>
        </p:nvSpPr>
        <p:spPr>
          <a:xfrm>
            <a:off x="1" y="1"/>
            <a:ext cx="18288000" cy="2367725"/>
          </a:xfrm>
          <a:custGeom>
            <a:rect b="b" l="l" r="r" t="t"/>
            <a:pathLst>
              <a:path extrusionOk="0" h="3156966" w="24384000">
                <a:moveTo>
                  <a:pt x="0" y="0"/>
                </a:moveTo>
                <a:lnTo>
                  <a:pt x="24384000" y="0"/>
                </a:lnTo>
                <a:lnTo>
                  <a:pt x="24384000" y="3156966"/>
                </a:lnTo>
                <a:lnTo>
                  <a:pt x="0" y="3156966"/>
                </a:lnTo>
                <a:lnTo>
                  <a:pt x="0" y="0"/>
                </a:lnTo>
                <a:close/>
              </a:path>
            </a:pathLst>
          </a:custGeom>
          <a:blipFill rotWithShape="1">
            <a:blip r:embed="rId4">
              <a:alphaModFix/>
            </a:blip>
            <a:stretch>
              <a:fillRect b="-5229" l="0" r="0" t="-5229"/>
            </a:stretch>
          </a:blipFill>
          <a:ln>
            <a:noFill/>
          </a:ln>
        </p:spPr>
      </p:sp>
      <p:sp>
        <p:nvSpPr>
          <p:cNvPr id="300" name="Google Shape;300;p29"/>
          <p:cNvSpPr txBox="1"/>
          <p:nvPr/>
        </p:nvSpPr>
        <p:spPr>
          <a:xfrm>
            <a:off x="656800" y="2509775"/>
            <a:ext cx="4567200" cy="78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Times"/>
                <a:ea typeface="Times"/>
                <a:cs typeface="Times"/>
                <a:sym typeface="Times"/>
              </a:rPr>
              <a:t>REFERENCES : </a:t>
            </a:r>
            <a:endParaRPr b="1" sz="3200">
              <a:solidFill>
                <a:schemeClr val="dk1"/>
              </a:solidFill>
              <a:latin typeface="Times"/>
              <a:ea typeface="Times"/>
              <a:cs typeface="Times"/>
              <a:sym typeface="Times"/>
            </a:endParaRPr>
          </a:p>
        </p:txBody>
      </p:sp>
      <p:sp>
        <p:nvSpPr>
          <p:cNvPr id="301" name="Google Shape;301;p29"/>
          <p:cNvSpPr txBox="1"/>
          <p:nvPr/>
        </p:nvSpPr>
        <p:spPr>
          <a:xfrm>
            <a:off x="-3845125" y="-774250"/>
            <a:ext cx="12527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302" name="Google Shape;302;p29"/>
          <p:cNvSpPr txBox="1"/>
          <p:nvPr/>
        </p:nvSpPr>
        <p:spPr>
          <a:xfrm>
            <a:off x="700300" y="3292775"/>
            <a:ext cx="16767900" cy="5352300"/>
          </a:xfrm>
          <a:prstGeom prst="rect">
            <a:avLst/>
          </a:prstGeom>
          <a:noFill/>
          <a:ln>
            <a:noFill/>
          </a:ln>
        </p:spPr>
        <p:txBody>
          <a:bodyPr anchorCtr="0" anchor="t" bIns="91425" lIns="91425" spcFirstLastPara="1" rIns="91425" wrap="square" tIns="91425">
            <a:spAutoFit/>
          </a:bodyPr>
          <a:lstStyle/>
          <a:p>
            <a:pPr indent="-273050" lvl="0" marL="228600" rtl="0" algn="l">
              <a:lnSpc>
                <a:spcPct val="90000"/>
              </a:lnSpc>
              <a:spcBef>
                <a:spcPts val="1000"/>
              </a:spcBef>
              <a:spcAft>
                <a:spcPts val="0"/>
              </a:spcAft>
              <a:buClr>
                <a:schemeClr val="dk1"/>
              </a:buClr>
              <a:buSzPts val="2400"/>
              <a:buFont typeface="Times"/>
              <a:buChar char="•"/>
            </a:pPr>
            <a:r>
              <a:rPr lang="en-US" sz="2400">
                <a:solidFill>
                  <a:schemeClr val="dk1"/>
                </a:solidFill>
                <a:latin typeface="Times"/>
                <a:ea typeface="Times"/>
                <a:cs typeface="Times"/>
                <a:sym typeface="Times"/>
              </a:rPr>
              <a:t>[1] D. Kundu et al., ”Federated DL for Monkeypox Disease Detection on GAN-Augmented Dataset,” IEEE Access, vol. 12, pp. 32819–32829, 2024, doi: 10.1109/ACCESS.2024.3370838. </a:t>
            </a:r>
            <a:endParaRPr sz="2400">
              <a:solidFill>
                <a:schemeClr val="dk1"/>
              </a:solidFill>
              <a:latin typeface="Times"/>
              <a:ea typeface="Times"/>
              <a:cs typeface="Times"/>
              <a:sym typeface="Times"/>
            </a:endParaRPr>
          </a:p>
          <a:p>
            <a:pPr indent="-273050" lvl="0" marL="228600" rtl="0" algn="l">
              <a:lnSpc>
                <a:spcPct val="90000"/>
              </a:lnSpc>
              <a:spcBef>
                <a:spcPts val="1000"/>
              </a:spcBef>
              <a:spcAft>
                <a:spcPts val="0"/>
              </a:spcAft>
              <a:buClr>
                <a:schemeClr val="dk1"/>
              </a:buClr>
              <a:buSzPts val="2400"/>
              <a:buFont typeface="Times"/>
              <a:buChar char="•"/>
            </a:pPr>
            <a:r>
              <a:rPr lang="en-US" sz="2400">
                <a:solidFill>
                  <a:schemeClr val="dk1"/>
                </a:solidFill>
                <a:latin typeface="Times"/>
                <a:ea typeface="Times"/>
                <a:cs typeface="Times"/>
                <a:sym typeface="Times"/>
              </a:rPr>
              <a:t>[2] Deepa, P. R. Shetty, P. S. Shetty, S. Namita and Sahana, ”Au tomated Classification of Monkeypox Disease based on DL,” in Proc. 8th Int. Conf. on Electronics, Communication and Aerospace Technology (ICECA), Coimbatore, India, 2024, pp. 1186–1190, doi: 10.1109/ICECA63461.2024.10801171. </a:t>
            </a:r>
            <a:endParaRPr sz="2400">
              <a:solidFill>
                <a:schemeClr val="dk1"/>
              </a:solidFill>
              <a:latin typeface="Times"/>
              <a:ea typeface="Times"/>
              <a:cs typeface="Times"/>
              <a:sym typeface="Times"/>
            </a:endParaRPr>
          </a:p>
          <a:p>
            <a:pPr indent="-273050" lvl="0" marL="228600" rtl="0" algn="l">
              <a:lnSpc>
                <a:spcPct val="90000"/>
              </a:lnSpc>
              <a:spcBef>
                <a:spcPts val="1000"/>
              </a:spcBef>
              <a:spcAft>
                <a:spcPts val="0"/>
              </a:spcAft>
              <a:buClr>
                <a:schemeClr val="dk1"/>
              </a:buClr>
              <a:buSzPts val="2400"/>
              <a:buFont typeface="Times"/>
              <a:buChar char="•"/>
            </a:pPr>
            <a:r>
              <a:rPr lang="en-US" sz="2400">
                <a:solidFill>
                  <a:schemeClr val="dk1"/>
                </a:solidFill>
                <a:latin typeface="Times"/>
                <a:ea typeface="Times"/>
                <a:cs typeface="Times"/>
                <a:sym typeface="Times"/>
              </a:rPr>
              <a:t>[3] M. E. Haque, M. R. Ahmed, R. S. Nila and S. Islam, ”Human Monkeypox Disease Detection Using DL and Attention Mechanisms,” in Proc. 25th Int. Conf. on Computer and Information Technology (IC CIT), Cox’s Bazar, Bangladesh, 2022, pp. 1069–1073, doi: 10.1109/IC CIT57492.2022.10055870. </a:t>
            </a:r>
            <a:endParaRPr sz="2400">
              <a:solidFill>
                <a:schemeClr val="dk1"/>
              </a:solidFill>
              <a:latin typeface="Times"/>
              <a:ea typeface="Times"/>
              <a:cs typeface="Times"/>
              <a:sym typeface="Times"/>
            </a:endParaRPr>
          </a:p>
          <a:p>
            <a:pPr indent="-273050" lvl="0" marL="228600" rtl="0" algn="l">
              <a:lnSpc>
                <a:spcPct val="90000"/>
              </a:lnSpc>
              <a:spcBef>
                <a:spcPts val="1000"/>
              </a:spcBef>
              <a:spcAft>
                <a:spcPts val="0"/>
              </a:spcAft>
              <a:buClr>
                <a:schemeClr val="dk1"/>
              </a:buClr>
              <a:buSzPts val="2400"/>
              <a:buFont typeface="Times"/>
              <a:buChar char="•"/>
            </a:pPr>
            <a:r>
              <a:rPr lang="en-US" sz="2400">
                <a:solidFill>
                  <a:schemeClr val="dk1"/>
                </a:solidFill>
                <a:latin typeface="Times"/>
                <a:ea typeface="Times"/>
                <a:cs typeface="Times"/>
                <a:sym typeface="Times"/>
              </a:rPr>
              <a:t>[4] R. Dhiman et al., ”Deep Learning Based Monkeypox Virus De tection Model Using Skin Lesion Images,” in Proc. 4th Int. Conf. on Technological Advancements in Computational Sciences (IC TACS), Tashkent, Uzbekistan, 2024, pp. 1362–1366, doi: 10.1109/IC TACS62700.2024.10840698. </a:t>
            </a:r>
            <a:endParaRPr sz="2400">
              <a:solidFill>
                <a:schemeClr val="dk1"/>
              </a:solidFill>
              <a:latin typeface="Times"/>
              <a:ea typeface="Times"/>
              <a:cs typeface="Times"/>
              <a:sym typeface="Times"/>
            </a:endParaRPr>
          </a:p>
          <a:p>
            <a:pPr indent="-273050" lvl="0" marL="228600" rtl="0" algn="l">
              <a:lnSpc>
                <a:spcPct val="90000"/>
              </a:lnSpc>
              <a:spcBef>
                <a:spcPts val="1000"/>
              </a:spcBef>
              <a:spcAft>
                <a:spcPts val="0"/>
              </a:spcAft>
              <a:buClr>
                <a:schemeClr val="dk1"/>
              </a:buClr>
              <a:buSzPts val="2400"/>
              <a:buFont typeface="Times"/>
              <a:buChar char="•"/>
            </a:pPr>
            <a:r>
              <a:rPr lang="en-US" sz="2400">
                <a:solidFill>
                  <a:schemeClr val="dk1"/>
                </a:solidFill>
                <a:latin typeface="Times"/>
                <a:ea typeface="Times"/>
                <a:cs typeface="Times"/>
                <a:sym typeface="Times"/>
              </a:rPr>
              <a:t>[5] A. V. Kottath and M. Malarvel, ”Comparison Of Deep Learn ing Models for Monkeypox Disease Detection,” in Proc. 1st Int. Conf. on Advances in Electrical, Electronics and Computational Intelligence (ICAEECI), Tiruchengode, India, 2023, pp. 1–8, doi: 10.1109/ICAEECI58247.2023.10370981. </a:t>
            </a:r>
            <a:endParaRPr sz="2400">
              <a:solidFill>
                <a:schemeClr val="dk1"/>
              </a:solidFill>
              <a:latin typeface="Times"/>
              <a:ea typeface="Times"/>
              <a:cs typeface="Times"/>
              <a:sym typeface="Time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